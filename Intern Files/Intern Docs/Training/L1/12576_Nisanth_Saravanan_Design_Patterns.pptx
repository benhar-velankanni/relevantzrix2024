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_rels/slideMaster1.xml.rels" ContentType="application/vnd.openxmlformats-package.relationships+xml"/>
  <Override PartName="/ppt/slideMasters/_rels/slideMaster2.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slideMasters/_rels/slideMaster5.xml.rels" ContentType="application/vnd.openxmlformats-package.relationships+xml"/>
  <Override PartName="/ppt/slideMasters/_rels/slideMaster6.xml.rels" ContentType="application/vnd.openxmlformats-package.relationships+xml"/>
  <Override PartName="/ppt/slideMasters/_rels/slideMaster7.xml.rels" ContentType="application/vnd.openxmlformats-package.relationships+xml"/>
  <Override PartName="/ppt/slideMasters/_rels/slideMaster8.xml.rels" ContentType="application/vnd.openxmlformats-package.relationships+xml"/>
  <Override PartName="/ppt/slideMasters/_rels/slideMaster9.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slideLayouts/_rels/slideLayout7.xml.rels" ContentType="application/vnd.openxmlformats-package.relationships+xml"/>
  <Override PartName="/ppt/slideLayouts/_rels/slideLayout8.xml.rels" ContentType="application/vnd.openxmlformats-package.relationships+xml"/>
  <Override PartName="/ppt/slideLayouts/_rels/slideLayout9.xml.rels" ContentType="application/vnd.openxmlformats-package.relationships+xml"/>
  <Override PartName="/ppt/_rels/presentation.xml.rels" ContentType="application/vnd.openxmlformats-package.relationshi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Lst>
  <p:sldIdLst>
    <p:sldId id="256" r:id="rId11"/>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Lst>
  <p:sldSz cx="9144000" cy="5145088"/>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endParaRPr b="0" lang="en-GB" sz="4400" spc="-1" strike="noStrike">
              <a:solidFill>
                <a:srgbClr val="000000"/>
              </a:solidFill>
              <a:latin typeface="Arial"/>
            </a:endParaRPr>
          </a:p>
        </p:txBody>
      </p:sp>
      <p:sp>
        <p:nvSpPr>
          <p:cNvPr id="6" name="PlaceHolder 2"/>
          <p:cNvSpPr>
            <a:spLocks noGrp="1"/>
          </p:cNvSpPr>
          <p:nvPr>
            <p:ph type="subTitle"/>
          </p:nvPr>
        </p:nvSpPr>
        <p:spPr>
          <a:xfrm>
            <a:off x="457200" y="1203840"/>
            <a:ext cx="8229240" cy="2983680"/>
          </a:xfrm>
          <a:prstGeom prst="rect">
            <a:avLst/>
          </a:prstGeom>
          <a:noFill/>
          <a:ln w="0">
            <a:noFill/>
          </a:ln>
        </p:spPr>
        <p:txBody>
          <a:bodyPr lIns="0" rIns="0" tIns="0" bIns="0" anchor="ctr">
            <a:noAutofit/>
          </a:bodyPr>
          <a:p>
            <a:pPr indent="0" algn="ctr">
              <a:buNone/>
            </a:pPr>
            <a:endParaRPr b="0" lang="en-GB" sz="3200" spc="-1" strike="noStrike">
              <a:solidFill>
                <a:srgbClr val="000000"/>
              </a:solidFill>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3EB7816F-4671-43F8-9339-451F64C83D3B}"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7548CD3C-C556-447A-A2AD-CC8524AA2C7A}"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ext and image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CB925C8C-95E8-4445-99C5-E88411295BC1}"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ography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46BA6207-37F7-4F69-94A2-F85A72732530}"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break">
    <p:spTree>
      <p:nvGrpSpPr>
        <p:cNvPr id="1" name=""/>
        <p:cNvGrpSpPr/>
        <p:nvPr/>
      </p:nvGrpSpPr>
      <p:grpSpPr>
        <a:xfrm>
          <a:off x="0" y="0"/>
          <a:ext cx="0" cy="0"/>
          <a:chOff x="0" y="0"/>
          <a:chExt cx="0" cy="0"/>
        </a:xfrm>
      </p:grpSpPr>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hank you">
    <p:spTree>
      <p:nvGrpSpPr>
        <p:cNvPr id="1" name=""/>
        <p:cNvGrpSpPr/>
        <p:nvPr/>
      </p:nvGrpSpPr>
      <p:grpSpPr>
        <a:xfrm>
          <a:off x="0" y="0"/>
          <a:ext cx="0" cy="0"/>
          <a:chOff x="0" y="0"/>
          <a:chExt cx="0" cy="0"/>
        </a:xfrm>
      </p:grpSpPr>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wo column text slide_">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FB3CA9A0-9872-4FBA-A3DA-55D7C0CD4CC8}"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ingle column text slide_">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AB061C7D-73F2-4085-8725-F6A9D5A8F8D5}"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image" Target="../media/image5.png"/><Relationship Id="rId3" Type="http://schemas.openxmlformats.org/officeDocument/2006/relationships/hyperlink" Target="https://www.relevantz.com/" TargetMode="External"/><Relationship Id="rId4" Type="http://schemas.openxmlformats.org/officeDocument/2006/relationships/hyperlink" Target="https://www.linkedin.com/company/relevantz" TargetMode="External"/><Relationship Id="rId5" Type="http://schemas.openxmlformats.org/officeDocument/2006/relationships/image" Target="../media/image1.png"/><Relationship Id="rId6"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9.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pic>
        <p:nvPicPr>
          <p:cNvPr id="0" name="Google Shape;8;p2" descr=""/>
          <p:cNvPicPr/>
          <p:nvPr/>
        </p:nvPicPr>
        <p:blipFill>
          <a:blip r:embed="rId2"/>
          <a:stretch/>
        </p:blipFill>
        <p:spPr>
          <a:xfrm>
            <a:off x="456840" y="494640"/>
            <a:ext cx="1773720" cy="412920"/>
          </a:xfrm>
          <a:prstGeom prst="rect">
            <a:avLst/>
          </a:prstGeom>
          <a:ln w="0">
            <a:noFill/>
          </a:ln>
        </p:spPr>
      </p:pic>
      <p:sp>
        <p:nvSpPr>
          <p:cNvPr id="1" name="Google Shape;10;p2"/>
          <p:cNvSpPr/>
          <p:nvPr/>
        </p:nvSpPr>
        <p:spPr>
          <a:xfrm>
            <a:off x="4288320" y="4549680"/>
            <a:ext cx="4427280" cy="307080"/>
          </a:xfrm>
          <a:prstGeom prst="rect">
            <a:avLst/>
          </a:prstGeom>
          <a:noFill/>
          <a:ln w="0">
            <a:noFill/>
          </a:ln>
        </p:spPr>
        <p:style>
          <a:lnRef idx="0"/>
          <a:fillRef idx="0"/>
          <a:effectRef idx="0"/>
          <a:fontRef idx="minor"/>
        </p:style>
        <p:txBody>
          <a:bodyPr lIns="0" rIns="0" tIns="0" bIns="0" anchor="t">
            <a:noAutofit/>
          </a:bodyPr>
          <a:p>
            <a:pPr algn="r">
              <a:lnSpc>
                <a:spcPct val="115000"/>
              </a:lnSpc>
              <a:tabLst>
                <a:tab algn="l" pos="0"/>
              </a:tabLst>
            </a:pPr>
            <a:r>
              <a:rPr b="0" lang="en" sz="800" spc="-1" strike="noStrike">
                <a:solidFill>
                  <a:schemeClr val="accent1"/>
                </a:solidFill>
                <a:latin typeface="Calibri"/>
                <a:ea typeface="Proxima Nova"/>
              </a:rPr>
              <a:t>© 2025 Relevantz Technology Services, Inc. All rights reserved.</a:t>
            </a:r>
            <a:endParaRPr b="0" lang="en-GB" sz="800" spc="-1" strike="noStrike">
              <a:solidFill>
                <a:srgbClr val="000000"/>
              </a:solidFill>
              <a:latin typeface="Arial"/>
            </a:endParaRPr>
          </a:p>
        </p:txBody>
      </p:sp>
      <p:pic>
        <p:nvPicPr>
          <p:cNvPr id="2" name="Google Shape;11;p2" descr=""/>
          <p:cNvPicPr/>
          <p:nvPr/>
        </p:nvPicPr>
        <p:blipFill>
          <a:blip r:embed="rId3"/>
          <a:stretch/>
        </p:blipFill>
        <p:spPr>
          <a:xfrm>
            <a:off x="0" y="1440360"/>
            <a:ext cx="3183120" cy="3701880"/>
          </a:xfrm>
          <a:prstGeom prst="rect">
            <a:avLst/>
          </a:prstGeom>
          <a:ln w="0">
            <a:noFill/>
          </a:ln>
        </p:spPr>
      </p:pic>
      <p:sp>
        <p:nvSpPr>
          <p:cNvPr id="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4"/>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7" name="Google Shape;16;p3" descr=""/>
          <p:cNvPicPr/>
          <p:nvPr/>
        </p:nvPicPr>
        <p:blipFill>
          <a:blip r:embed="rId2"/>
          <a:stretch/>
        </p:blipFill>
        <p:spPr>
          <a:xfrm>
            <a:off x="664560" y="4769640"/>
            <a:ext cx="857880" cy="163440"/>
          </a:xfrm>
          <a:prstGeom prst="rect">
            <a:avLst/>
          </a:prstGeom>
          <a:ln w="0">
            <a:noFill/>
          </a:ln>
        </p:spPr>
      </p:pic>
      <p:pic>
        <p:nvPicPr>
          <p:cNvPr id="8" name="Google Shape;19;p3" descr=""/>
          <p:cNvPicPr/>
          <p:nvPr/>
        </p:nvPicPr>
        <p:blipFill>
          <a:blip r:embed="rId3"/>
          <a:stretch/>
        </p:blipFill>
        <p:spPr>
          <a:xfrm>
            <a:off x="0" y="4689000"/>
            <a:ext cx="613440" cy="456120"/>
          </a:xfrm>
          <a:prstGeom prst="rect">
            <a:avLst/>
          </a:prstGeom>
          <a:ln w="0">
            <a:noFill/>
          </a:ln>
        </p:spPr>
      </p:pic>
      <p:sp>
        <p:nvSpPr>
          <p:cNvPr id="9"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0" name="PlaceHolder 1"/>
          <p:cNvSpPr>
            <a:spLocks noGrp="1"/>
          </p:cNvSpPr>
          <p:nvPr>
            <p:ph type="sldNum" idx="1"/>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76071F2E-C056-499B-98AA-473D4557164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1" r:id="rId4"/>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13" name="Google Shape;25;p4" descr=""/>
          <p:cNvPicPr/>
          <p:nvPr/>
        </p:nvPicPr>
        <p:blipFill>
          <a:blip r:embed="rId2"/>
          <a:stretch/>
        </p:blipFill>
        <p:spPr>
          <a:xfrm>
            <a:off x="664560" y="4769640"/>
            <a:ext cx="857880" cy="163440"/>
          </a:xfrm>
          <a:prstGeom prst="rect">
            <a:avLst/>
          </a:prstGeom>
          <a:ln w="0">
            <a:noFill/>
          </a:ln>
        </p:spPr>
      </p:pic>
      <p:pic>
        <p:nvPicPr>
          <p:cNvPr id="14" name="Google Shape;28;p4" descr=""/>
          <p:cNvPicPr/>
          <p:nvPr/>
        </p:nvPicPr>
        <p:blipFill>
          <a:blip r:embed="rId3"/>
          <a:stretch/>
        </p:blipFill>
        <p:spPr>
          <a:xfrm>
            <a:off x="0" y="4689000"/>
            <a:ext cx="613440" cy="456120"/>
          </a:xfrm>
          <a:prstGeom prst="rect">
            <a:avLst/>
          </a:prstGeom>
          <a:ln w="0">
            <a:noFill/>
          </a:ln>
        </p:spPr>
      </p:pic>
      <p:sp>
        <p:nvSpPr>
          <p:cNvPr id="15"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16" name="Google Shape;29;p5"/>
          <p:cNvSpPr/>
          <p:nvPr/>
        </p:nvSpPr>
        <p:spPr>
          <a:xfrm>
            <a:off x="4670640" y="959040"/>
            <a:ext cx="4022280" cy="27756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17" name="PlaceHolder 1"/>
          <p:cNvSpPr>
            <a:spLocks noGrp="1"/>
          </p:cNvSpPr>
          <p:nvPr>
            <p:ph type="sldNum" idx="2"/>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D055C94-9F28-4488-8A79-319C5218C52C}"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8"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19"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3" r:id="rId4"/>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0" name="Google Shape;35;p5" descr=""/>
          <p:cNvPicPr/>
          <p:nvPr/>
        </p:nvPicPr>
        <p:blipFill>
          <a:blip r:embed="rId2"/>
          <a:stretch/>
        </p:blipFill>
        <p:spPr>
          <a:xfrm>
            <a:off x="664560" y="4769640"/>
            <a:ext cx="857880" cy="163440"/>
          </a:xfrm>
          <a:prstGeom prst="rect">
            <a:avLst/>
          </a:prstGeom>
          <a:ln w="0">
            <a:noFill/>
          </a:ln>
        </p:spPr>
      </p:pic>
      <p:pic>
        <p:nvPicPr>
          <p:cNvPr id="21" name="Google Shape;37;p5" descr=""/>
          <p:cNvPicPr/>
          <p:nvPr/>
        </p:nvPicPr>
        <p:blipFill>
          <a:blip r:embed="rId3"/>
          <a:stretch/>
        </p:blipFill>
        <p:spPr>
          <a:xfrm>
            <a:off x="0" y="4689000"/>
            <a:ext cx="613440" cy="456120"/>
          </a:xfrm>
          <a:prstGeom prst="rect">
            <a:avLst/>
          </a:prstGeom>
          <a:ln w="0">
            <a:noFill/>
          </a:ln>
        </p:spPr>
      </p:pic>
      <p:sp>
        <p:nvSpPr>
          <p:cNvPr id="22" name="Google Shape;33;p5"/>
          <p:cNvSpPr/>
          <p:nvPr/>
        </p:nvSpPr>
        <p:spPr>
          <a:xfrm>
            <a:off x="333756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23" name="PlaceHolder 1"/>
          <p:cNvSpPr>
            <a:spLocks noGrp="1"/>
          </p:cNvSpPr>
          <p:nvPr>
            <p:ph type="sldNum" idx="3"/>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323BD90-18BB-4485-93AF-4DFCFB611EC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24"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25"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5" r:id="rId4"/>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 name="Google Shape;41;p6"/>
          <p:cNvSpPr/>
          <p:nvPr/>
        </p:nvSpPr>
        <p:spPr>
          <a:xfrm>
            <a:off x="89568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7" name="Google Shape;44;p6"/>
          <p:cNvSpPr/>
          <p:nvPr/>
        </p:nvSpPr>
        <p:spPr>
          <a:xfrm>
            <a:off x="385884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28" name="Google Shape;47;p6"/>
          <p:cNvSpPr/>
          <p:nvPr/>
        </p:nvSpPr>
        <p:spPr>
          <a:xfrm>
            <a:off x="6793560" y="1427400"/>
            <a:ext cx="1436760" cy="1437120"/>
          </a:xfrm>
          <a:prstGeom prst="donut">
            <a:avLst>
              <a:gd name="adj" fmla="val 5329"/>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pic>
        <p:nvPicPr>
          <p:cNvPr id="29" name="Google Shape;50;p6" descr=""/>
          <p:cNvPicPr/>
          <p:nvPr/>
        </p:nvPicPr>
        <p:blipFill>
          <a:blip r:embed="rId2"/>
          <a:stretch/>
        </p:blipFill>
        <p:spPr>
          <a:xfrm>
            <a:off x="664560" y="4769640"/>
            <a:ext cx="857880" cy="163440"/>
          </a:xfrm>
          <a:prstGeom prst="rect">
            <a:avLst/>
          </a:prstGeom>
          <a:ln w="0">
            <a:noFill/>
          </a:ln>
        </p:spPr>
      </p:pic>
      <p:pic>
        <p:nvPicPr>
          <p:cNvPr id="30" name="Google Shape;53;p6" descr=""/>
          <p:cNvPicPr/>
          <p:nvPr/>
        </p:nvPicPr>
        <p:blipFill>
          <a:blip r:embed="rId3"/>
          <a:stretch/>
        </p:blipFill>
        <p:spPr>
          <a:xfrm>
            <a:off x="0" y="4689000"/>
            <a:ext cx="613440" cy="456120"/>
          </a:xfrm>
          <a:prstGeom prst="rect">
            <a:avLst/>
          </a:prstGeom>
          <a:ln w="0">
            <a:noFill/>
          </a:ln>
        </p:spPr>
      </p:pic>
      <p:sp>
        <p:nvSpPr>
          <p:cNvPr id="31"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32" name="PlaceHolder 1"/>
          <p:cNvSpPr>
            <a:spLocks noGrp="1"/>
          </p:cNvSpPr>
          <p:nvPr>
            <p:ph type="sldNum" idx="4"/>
          </p:nvPr>
        </p:nvSpPr>
        <p:spPr>
          <a:xfrm>
            <a:off x="851580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D458599-2F45-4712-B808-C31B2B20ED9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33"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34"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7" r:id="rId4"/>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Google Shape;57;p7"/>
          <p:cNvSpPr/>
          <p:nvPr/>
        </p:nvSpPr>
        <p:spPr>
          <a:xfrm flipH="1" rot="10800000">
            <a:off x="456120" y="915120"/>
            <a:ext cx="4768200" cy="2628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320" bIns="13320" anchor="ctr">
            <a:noAutofit/>
          </a:bodyPr>
          <a:p>
            <a:endParaRPr b="0" lang="en-GB" sz="1400" spc="-1" strike="noStrike">
              <a:solidFill>
                <a:srgbClr val="000000"/>
              </a:solidFill>
              <a:latin typeface="Calibri"/>
              <a:ea typeface="Proxima Nova"/>
            </a:endParaRPr>
          </a:p>
        </p:txBody>
      </p:sp>
      <p:pic>
        <p:nvPicPr>
          <p:cNvPr id="36" name="Google Shape;59;p7" descr=""/>
          <p:cNvPicPr/>
          <p:nvPr/>
        </p:nvPicPr>
        <p:blipFill>
          <a:blip r:embed="rId2"/>
          <a:stretch/>
        </p:blipFill>
        <p:spPr>
          <a:xfrm>
            <a:off x="664560" y="4769640"/>
            <a:ext cx="857880" cy="163440"/>
          </a:xfrm>
          <a:prstGeom prst="rect">
            <a:avLst/>
          </a:prstGeom>
          <a:ln w="0">
            <a:noFill/>
          </a:ln>
        </p:spPr>
      </p:pic>
      <p:pic>
        <p:nvPicPr>
          <p:cNvPr id="37" name="Google Shape;60;p7" descr=""/>
          <p:cNvPicPr/>
          <p:nvPr/>
        </p:nvPicPr>
        <p:blipFill>
          <a:blip r:embed="rId3"/>
          <a:stretch/>
        </p:blipFill>
        <p:spPr>
          <a:xfrm>
            <a:off x="0" y="4689000"/>
            <a:ext cx="613440" cy="456120"/>
          </a:xfrm>
          <a:prstGeom prst="rect">
            <a:avLst/>
          </a:prstGeom>
          <a:ln w="0">
            <a:noFill/>
          </a:ln>
        </p:spPr>
      </p:pic>
      <p:grpSp>
        <p:nvGrpSpPr>
          <p:cNvPr id="38" name="Google Shape;61;p7"/>
          <p:cNvGrpSpPr/>
          <p:nvPr/>
        </p:nvGrpSpPr>
        <p:grpSpPr>
          <a:xfrm>
            <a:off x="6506280" y="720"/>
            <a:ext cx="2718360" cy="5019480"/>
            <a:chOff x="6506280" y="720"/>
            <a:chExt cx="2718360" cy="5019480"/>
          </a:xfrm>
        </p:grpSpPr>
        <p:sp>
          <p:nvSpPr>
            <p:cNvPr id="39" name="Google Shape;62;p7"/>
            <p:cNvSpPr/>
            <p:nvPr/>
          </p:nvSpPr>
          <p:spPr>
            <a:xfrm rot="10800000">
              <a:off x="7688880" y="720"/>
              <a:ext cx="1454400" cy="2336400"/>
            </a:xfrm>
            <a:prstGeom prst="rtTriangle">
              <a:avLst/>
            </a:prstGeom>
            <a:gradFill rotWithShape="0">
              <a:gsLst>
                <a:gs pos="0">
                  <a:srgbClr val="82297b"/>
                </a:gs>
                <a:gs pos="100000">
                  <a:srgbClr val="bf2151"/>
                </a:gs>
              </a:gsLst>
              <a:lin ang="10800000"/>
            </a:gra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sp>
          <p:nvSpPr>
            <p:cNvPr id="40" name="Google Shape;63;p7"/>
            <p:cNvSpPr/>
            <p:nvPr/>
          </p:nvSpPr>
          <p:spPr>
            <a:xfrm rot="16200000">
              <a:off x="5940000" y="1735560"/>
              <a:ext cx="3850920" cy="2718360"/>
            </a:xfrm>
            <a:prstGeom prst="rtTriangle">
              <a:avLst/>
            </a:prstGeom>
            <a:solidFill>
              <a:schemeClr val="accent1"/>
            </a:solidFill>
            <a:ln w="0">
              <a:noFill/>
            </a:ln>
          </p:spPr>
          <p:style>
            <a:lnRef idx="0"/>
            <a:fillRef idx="0"/>
            <a:effectRef idx="0"/>
            <a:fontRef idx="minor"/>
          </p:style>
          <p:txBody>
            <a:bodyPr lIns="90000" rIns="90000" tIns="91440" bIns="91440" anchor="ctr">
              <a:noAutofit/>
            </a:bodyPr>
            <a:p>
              <a:endParaRPr b="0" lang="en-GB" sz="1400" spc="-1" strike="noStrike">
                <a:solidFill>
                  <a:srgbClr val="000000"/>
                </a:solidFill>
                <a:latin typeface="Calibri"/>
                <a:ea typeface="Arial"/>
              </a:endParaRPr>
            </a:p>
          </p:txBody>
        </p:sp>
      </p:grpSp>
      <p:sp>
        <p:nvSpPr>
          <p:cNvPr id="4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2"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59" r:id="rId4"/>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Google Shape;65;p8"/>
          <p:cNvSpPr/>
          <p:nvPr/>
        </p:nvSpPr>
        <p:spPr>
          <a:xfrm>
            <a:off x="2171880" y="1456560"/>
            <a:ext cx="5261040" cy="7995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4400" spc="-1" strike="noStrike">
                <a:solidFill>
                  <a:schemeClr val="accent1"/>
                </a:solidFill>
                <a:latin typeface="Calibri"/>
                <a:ea typeface="Proxima Nova"/>
              </a:rPr>
              <a:t>THANK YOU</a:t>
            </a:r>
            <a:endParaRPr b="0" lang="en-GB" sz="4400" spc="-1" strike="noStrike">
              <a:solidFill>
                <a:srgbClr val="000000"/>
              </a:solidFill>
              <a:latin typeface="Arial"/>
            </a:endParaRPr>
          </a:p>
        </p:txBody>
      </p:sp>
      <p:pic>
        <p:nvPicPr>
          <p:cNvPr id="44" name="Google Shape;67;p8" descr=""/>
          <p:cNvPicPr/>
          <p:nvPr/>
        </p:nvPicPr>
        <p:blipFill>
          <a:blip r:embed="rId2"/>
          <a:srcRect l="75945" t="0" r="0" b="53046"/>
          <a:stretch/>
        </p:blipFill>
        <p:spPr>
          <a:xfrm>
            <a:off x="0" y="3412080"/>
            <a:ext cx="2048040" cy="1730520"/>
          </a:xfrm>
          <a:prstGeom prst="rect">
            <a:avLst/>
          </a:prstGeom>
          <a:ln w="0">
            <a:noFill/>
          </a:ln>
        </p:spPr>
      </p:pic>
      <p:sp>
        <p:nvSpPr>
          <p:cNvPr id="45" name="Google Shape;68;p8"/>
          <p:cNvSpPr/>
          <p:nvPr/>
        </p:nvSpPr>
        <p:spPr>
          <a:xfrm>
            <a:off x="2165400" y="3363120"/>
            <a:ext cx="6487920" cy="1188360"/>
          </a:xfrm>
          <a:prstGeom prst="rect">
            <a:avLst/>
          </a:prstGeom>
          <a:noFill/>
          <a:ln w="0">
            <a:noFill/>
          </a:ln>
        </p:spPr>
        <p:style>
          <a:lnRef idx="0"/>
          <a:fillRef idx="0"/>
          <a:effectRef idx="0"/>
          <a:fontRef idx="minor"/>
        </p:style>
        <p:txBody>
          <a:bodyPr lIns="0" rIns="0" tIns="0" bIns="0" anchor="t">
            <a:noAutofit/>
          </a:bodyPr>
          <a:p>
            <a:pPr>
              <a:lnSpc>
                <a:spcPct val="100000"/>
              </a:lnSpc>
              <a:tabLst>
                <a:tab algn="l" pos="0"/>
              </a:tabLst>
            </a:pPr>
            <a:r>
              <a:rPr b="0" lang="en" sz="1400" spc="-1" strike="noStrike">
                <a:solidFill>
                  <a:schemeClr val="accent1"/>
                </a:solidFill>
                <a:latin typeface="Calibri"/>
                <a:ea typeface="Proxima Nova Semibold"/>
              </a:rPr>
              <a:t>About Relevantz</a:t>
            </a:r>
            <a:endParaRPr b="0" lang="en-GB" sz="1400" spc="-1" strike="noStrike">
              <a:solidFill>
                <a:srgbClr val="000000"/>
              </a:solidFill>
              <a:latin typeface="Arial"/>
            </a:endParaRPr>
          </a:p>
          <a:p>
            <a:pPr>
              <a:lnSpc>
                <a:spcPct val="100000"/>
              </a:lnSpc>
              <a:spcBef>
                <a:spcPts val="400"/>
              </a:spcBef>
              <a:tabLst>
                <a:tab algn="l" pos="0"/>
              </a:tabLst>
            </a:pPr>
            <a:r>
              <a:rPr b="0" lang="en-US" sz="1000" spc="-1" strike="noStrike">
                <a:solidFill>
                  <a:schemeClr val="dk1"/>
                </a:solidFill>
                <a:latin typeface="Calibri"/>
                <a:ea typeface="Arial"/>
              </a:rPr>
              <a:t>Relevantz Technology Services Inc. has been delivering relevant technology solutions for leading enterprises and ISVs for over 25+ years. Our team of 1200+ software engineers across 4 global offices serves customers across the finance, healthcare, insurance, media, telecom, retail, and technology sectors. Learn more at </a:t>
            </a:r>
            <a:r>
              <a:rPr b="0" lang="en-US" sz="1000" spc="-1" strike="noStrike" u="sng">
                <a:solidFill>
                  <a:schemeClr val="accent1"/>
                </a:solidFill>
                <a:uFillTx/>
                <a:latin typeface="Calibri"/>
                <a:ea typeface="Arial"/>
                <a:hlinkClick r:id="rId3"/>
              </a:rPr>
              <a:t>www.relevantz.com</a:t>
            </a:r>
            <a:r>
              <a:rPr b="0" lang="en-US" sz="1000" spc="-1" strike="noStrike">
                <a:solidFill>
                  <a:schemeClr val="accent1"/>
                </a:solidFill>
                <a:latin typeface="Calibri"/>
                <a:ea typeface="Arial"/>
              </a:rPr>
              <a:t> </a:t>
            </a:r>
            <a:r>
              <a:rPr b="0" lang="en-US" sz="1000" spc="-1" strike="noStrike">
                <a:solidFill>
                  <a:schemeClr val="dk1"/>
                </a:solidFill>
                <a:latin typeface="Calibri"/>
                <a:ea typeface="Arial"/>
              </a:rPr>
              <a:t>or </a:t>
            </a:r>
            <a:r>
              <a:rPr b="0" lang="en-US" sz="1000" spc="-1" strike="noStrike" u="sng">
                <a:solidFill>
                  <a:schemeClr val="accent1"/>
                </a:solidFill>
                <a:uFillTx/>
                <a:latin typeface="Calibri"/>
                <a:ea typeface="Arial"/>
                <a:hlinkClick r:id="rId4"/>
              </a:rPr>
              <a:t>@relevantztech</a:t>
            </a:r>
            <a:r>
              <a:rPr b="0" lang="en-US" sz="1000" spc="-1" strike="noStrike">
                <a:solidFill>
                  <a:schemeClr val="dk1"/>
                </a:solidFill>
                <a:latin typeface="Calibri"/>
                <a:ea typeface="Arial"/>
              </a:rPr>
              <a:t>.</a:t>
            </a:r>
            <a:endParaRPr b="0" lang="en-GB" sz="1000" spc="-1" strike="noStrike">
              <a:solidFill>
                <a:srgbClr val="000000"/>
              </a:solidFill>
              <a:latin typeface="Arial"/>
            </a:endParaRPr>
          </a:p>
          <a:p>
            <a:pPr>
              <a:lnSpc>
                <a:spcPct val="100000"/>
              </a:lnSpc>
              <a:spcBef>
                <a:spcPts val="400"/>
              </a:spcBef>
              <a:tabLst>
                <a:tab algn="l" pos="0"/>
              </a:tabLst>
            </a:pPr>
            <a:endParaRPr b="0" lang="en-GB" sz="1000" spc="-1" strike="noStrike">
              <a:solidFill>
                <a:srgbClr val="000000"/>
              </a:solidFill>
              <a:latin typeface="Arial"/>
            </a:endParaRPr>
          </a:p>
          <a:p>
            <a:pPr>
              <a:lnSpc>
                <a:spcPct val="100000"/>
              </a:lnSpc>
              <a:spcBef>
                <a:spcPts val="400"/>
              </a:spcBef>
              <a:spcAft>
                <a:spcPts val="400"/>
              </a:spcAft>
              <a:tabLst>
                <a:tab algn="l" pos="0"/>
              </a:tabLst>
            </a:pPr>
            <a:r>
              <a:rPr b="0" lang="en" sz="1000" spc="-1" strike="noStrike">
                <a:solidFill>
                  <a:srgbClr val="000000"/>
                </a:solidFill>
                <a:latin typeface="Calibri"/>
                <a:ea typeface="Proxima Nova"/>
              </a:rPr>
              <a:t>© 2025 Relevantz Technology Services, Inc. All rights reserved.</a:t>
            </a:r>
            <a:endParaRPr b="0" lang="en-GB" sz="1000" spc="-1" strike="noStrike">
              <a:solidFill>
                <a:srgbClr val="000000"/>
              </a:solidFill>
              <a:latin typeface="Arial"/>
            </a:endParaRPr>
          </a:p>
        </p:txBody>
      </p:sp>
      <p:sp>
        <p:nvSpPr>
          <p:cNvPr id="46" name="Google Shape;69;p8"/>
          <p:cNvSpPr/>
          <p:nvPr/>
        </p:nvSpPr>
        <p:spPr>
          <a:xfrm>
            <a:off x="2165760" y="3057480"/>
            <a:ext cx="6491160" cy="27000"/>
          </a:xfrm>
          <a:prstGeom prst="rect">
            <a:avLst/>
          </a:prstGeom>
          <a:gradFill rotWithShape="0">
            <a:gsLst>
              <a:gs pos="0">
                <a:srgbClr val="82297b"/>
              </a:gs>
              <a:gs pos="100000">
                <a:srgbClr val="bf2151"/>
              </a:gs>
            </a:gsLst>
            <a:lin ang="0"/>
          </a:gradFill>
          <a:ln w="0">
            <a:noFill/>
          </a:ln>
        </p:spPr>
        <p:style>
          <a:lnRef idx="0"/>
          <a:fillRef idx="0"/>
          <a:effectRef idx="0"/>
          <a:fontRef idx="minor"/>
        </p:style>
        <p:txBody>
          <a:bodyPr lIns="90000" rIns="90000" tIns="13680" bIns="13680" anchor="ctr">
            <a:noAutofit/>
          </a:bodyPr>
          <a:p>
            <a:endParaRPr b="0" lang="en-GB" sz="1400" spc="-1" strike="noStrike">
              <a:solidFill>
                <a:srgbClr val="000000"/>
              </a:solidFill>
              <a:latin typeface="Calibri"/>
              <a:ea typeface="Proxima Nova"/>
            </a:endParaRPr>
          </a:p>
        </p:txBody>
      </p:sp>
      <p:pic>
        <p:nvPicPr>
          <p:cNvPr id="47" name="Google Shape;70;p8" descr=""/>
          <p:cNvPicPr/>
          <p:nvPr/>
        </p:nvPicPr>
        <p:blipFill>
          <a:blip r:embed="rId5"/>
          <a:stretch/>
        </p:blipFill>
        <p:spPr>
          <a:xfrm>
            <a:off x="6869160" y="422640"/>
            <a:ext cx="1784520" cy="414720"/>
          </a:xfrm>
          <a:prstGeom prst="rect">
            <a:avLst/>
          </a:prstGeom>
          <a:ln w="0">
            <a:noFill/>
          </a:ln>
        </p:spPr>
      </p:pic>
      <p:sp>
        <p:nvSpPr>
          <p:cNvPr id="48"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49" name="PlaceHolder 2"/>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1" r:id="rId6"/>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0" name="Google Shape;25;p4" descr=""/>
          <p:cNvPicPr/>
          <p:nvPr/>
        </p:nvPicPr>
        <p:blipFill>
          <a:blip r:embed="rId2"/>
          <a:stretch/>
        </p:blipFill>
        <p:spPr>
          <a:xfrm>
            <a:off x="664560" y="4769640"/>
            <a:ext cx="857880" cy="163440"/>
          </a:xfrm>
          <a:prstGeom prst="rect">
            <a:avLst/>
          </a:prstGeom>
          <a:ln w="0">
            <a:noFill/>
          </a:ln>
        </p:spPr>
      </p:pic>
      <p:pic>
        <p:nvPicPr>
          <p:cNvPr id="51" name="Google Shape;28;p4" descr=""/>
          <p:cNvPicPr/>
          <p:nvPr/>
        </p:nvPicPr>
        <p:blipFill>
          <a:blip r:embed="rId3"/>
          <a:stretch/>
        </p:blipFill>
        <p:spPr>
          <a:xfrm>
            <a:off x="0" y="4689000"/>
            <a:ext cx="613440" cy="456120"/>
          </a:xfrm>
          <a:prstGeom prst="rect">
            <a:avLst/>
          </a:prstGeom>
          <a:ln w="0">
            <a:noFill/>
          </a:ln>
        </p:spPr>
      </p:pic>
      <p:sp>
        <p:nvSpPr>
          <p:cNvPr id="52"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53" name="Google Shape;29;p5"/>
          <p:cNvSpPr/>
          <p:nvPr/>
        </p:nvSpPr>
        <p:spPr>
          <a:xfrm>
            <a:off x="4670640" y="959040"/>
            <a:ext cx="4022280" cy="277560"/>
          </a:xfrm>
          <a:prstGeom prst="rect">
            <a:avLst/>
          </a:prstGeom>
          <a:noFill/>
          <a:ln w="0">
            <a:noFill/>
          </a:ln>
        </p:spPr>
        <p:style>
          <a:lnRef idx="0"/>
          <a:fillRef idx="0"/>
          <a:effectRef idx="0"/>
          <a:fontRef idx="minor"/>
        </p:style>
        <p:txBody>
          <a:bodyPr lIns="0" rIns="0" tIns="0" bIns="0" anchor="t">
            <a:noAutofit/>
          </a:bodyPr>
          <a:p>
            <a:endParaRPr b="1" lang="en-US" sz="1800" spc="-1" strike="noStrike">
              <a:solidFill>
                <a:srgbClr val="000000"/>
              </a:solidFill>
              <a:latin typeface="Calibri"/>
              <a:ea typeface="Calibri"/>
            </a:endParaRPr>
          </a:p>
        </p:txBody>
      </p:sp>
      <p:sp>
        <p:nvSpPr>
          <p:cNvPr id="54" name="PlaceHolder 1"/>
          <p:cNvSpPr>
            <a:spLocks noGrp="1"/>
          </p:cNvSpPr>
          <p:nvPr>
            <p:ph type="sldNum" idx="5"/>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3021D7A7-87BC-4DEB-B301-AE5C45ACABC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55"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56"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3" r:id="rId4"/>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57" name="Google Shape;16;p3" descr=""/>
          <p:cNvPicPr/>
          <p:nvPr/>
        </p:nvPicPr>
        <p:blipFill>
          <a:blip r:embed="rId2"/>
          <a:stretch/>
        </p:blipFill>
        <p:spPr>
          <a:xfrm>
            <a:off x="664560" y="4769640"/>
            <a:ext cx="857880" cy="163440"/>
          </a:xfrm>
          <a:prstGeom prst="rect">
            <a:avLst/>
          </a:prstGeom>
          <a:ln w="0">
            <a:noFill/>
          </a:ln>
        </p:spPr>
      </p:pic>
      <p:pic>
        <p:nvPicPr>
          <p:cNvPr id="58" name="Google Shape;19;p3" descr=""/>
          <p:cNvPicPr/>
          <p:nvPr/>
        </p:nvPicPr>
        <p:blipFill>
          <a:blip r:embed="rId3"/>
          <a:stretch/>
        </p:blipFill>
        <p:spPr>
          <a:xfrm>
            <a:off x="0" y="4689000"/>
            <a:ext cx="613440" cy="456120"/>
          </a:xfrm>
          <a:prstGeom prst="rect">
            <a:avLst/>
          </a:prstGeom>
          <a:ln w="0">
            <a:noFill/>
          </a:ln>
        </p:spPr>
      </p:pic>
      <p:sp>
        <p:nvSpPr>
          <p:cNvPr id="59" name="Google Shape;33;p5"/>
          <p:cNvSpPr/>
          <p:nvPr/>
        </p:nvSpPr>
        <p:spPr>
          <a:xfrm>
            <a:off x="3781080" y="4731480"/>
            <a:ext cx="1602720" cy="238680"/>
          </a:xfrm>
          <a:prstGeom prst="rect">
            <a:avLst/>
          </a:prstGeom>
          <a:noFill/>
          <a:ln w="0">
            <a:noFill/>
          </a:ln>
        </p:spPr>
        <p:style>
          <a:lnRef idx="0"/>
          <a:fillRef idx="0"/>
          <a:effectRef idx="0"/>
          <a:fontRef idx="minor"/>
        </p:style>
        <p:txBody>
          <a:bodyPr lIns="0" rIns="0" tIns="0" bIns="0" anchor="ctr">
            <a:noAutofit/>
          </a:bodyPr>
          <a:p>
            <a:pPr algn="ctr">
              <a:lnSpc>
                <a:spcPct val="100000"/>
              </a:lnSpc>
              <a:tabLst>
                <a:tab algn="l" pos="0"/>
              </a:tabLst>
            </a:pPr>
            <a:r>
              <a:rPr b="0" lang="en-US" sz="800" spc="-1" strike="noStrike">
                <a:solidFill>
                  <a:srgbClr val="999999"/>
                </a:solidFill>
                <a:highlight>
                  <a:srgbClr val="ffffff"/>
                </a:highlight>
                <a:latin typeface="Calibri"/>
                <a:ea typeface="Proxima Nova"/>
              </a:rPr>
              <a:t>For Internal Use Only</a:t>
            </a:r>
            <a:endParaRPr b="0" lang="en-GB" sz="800" spc="-1" strike="noStrike">
              <a:solidFill>
                <a:srgbClr val="000000"/>
              </a:solidFill>
              <a:latin typeface="Arial"/>
            </a:endParaRPr>
          </a:p>
        </p:txBody>
      </p:sp>
      <p:sp>
        <p:nvSpPr>
          <p:cNvPr id="60" name="PlaceHolder 1"/>
          <p:cNvSpPr>
            <a:spLocks noGrp="1"/>
          </p:cNvSpPr>
          <p:nvPr>
            <p:ph type="sldNum" idx="6"/>
          </p:nvPr>
        </p:nvSpPr>
        <p:spPr>
          <a:xfrm>
            <a:off x="8533440" y="4731480"/>
            <a:ext cx="463320" cy="238680"/>
          </a:xfrm>
          <a:prstGeom prst="rect">
            <a:avLst/>
          </a:prstGeom>
          <a:noFill/>
          <a:ln w="0">
            <a:noFill/>
          </a:ln>
        </p:spPr>
        <p:txBody>
          <a:bodyPr lIns="68400" rIns="68400" tIns="34200" bIns="3420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A155FA60-49BC-49BF-A92D-FDC08EC3876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61" name="PlaceHolder 2"/>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lgn="ctr">
              <a:buNone/>
            </a:pPr>
            <a:r>
              <a:rPr b="0" lang="en-GB" sz="4400" spc="-1" strike="noStrike">
                <a:solidFill>
                  <a:srgbClr val="000000"/>
                </a:solidFill>
                <a:latin typeface="Arial"/>
              </a:rPr>
              <a:t>Click to edit the title text format</a:t>
            </a:r>
            <a:endParaRPr b="0" lang="en-GB" sz="4400" spc="-1" strike="noStrike">
              <a:solidFill>
                <a:srgbClr val="000000"/>
              </a:solidFill>
              <a:latin typeface="Arial"/>
            </a:endParaRPr>
          </a:p>
        </p:txBody>
      </p:sp>
      <p:sp>
        <p:nvSpPr>
          <p:cNvPr id="62" name="PlaceHolder 3"/>
          <p:cNvSpPr>
            <a:spLocks noGrp="1"/>
          </p:cNvSpPr>
          <p:nvPr>
            <p:ph type="body"/>
          </p:nvPr>
        </p:nvSpPr>
        <p:spPr>
          <a:xfrm>
            <a:off x="457200" y="1203840"/>
            <a:ext cx="8229240" cy="29836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GB" sz="3200" spc="-1" strike="noStrike">
                <a:solidFill>
                  <a:srgbClr val="000000"/>
                </a:solidFill>
                <a:latin typeface="Arial"/>
              </a:rPr>
              <a:t>Click to edit the outline text format</a:t>
            </a:r>
            <a:endParaRPr b="0" lang="en-GB"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GB" sz="2800" spc="-1" strike="noStrike">
                <a:solidFill>
                  <a:srgbClr val="000000"/>
                </a:solidFill>
                <a:latin typeface="Arial"/>
              </a:rPr>
              <a:t>Second Outline Level</a:t>
            </a:r>
            <a:endParaRPr b="0" lang="en-GB"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GB" sz="2400" spc="-1" strike="noStrike">
                <a:solidFill>
                  <a:srgbClr val="000000"/>
                </a:solidFill>
                <a:latin typeface="Arial"/>
              </a:rPr>
              <a:t>Third Outline Level</a:t>
            </a:r>
            <a:endParaRPr b="0" lang="en-GB"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GB" sz="2000" spc="-1" strike="noStrike">
                <a:solidFill>
                  <a:srgbClr val="000000"/>
                </a:solidFill>
                <a:latin typeface="Arial"/>
              </a:rPr>
              <a:t>Fourth Outline Level</a:t>
            </a:r>
            <a:endParaRPr b="0" lang="en-GB"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GB" sz="2000" spc="-1" strike="noStrike">
                <a:solidFill>
                  <a:srgbClr val="000000"/>
                </a:solidFill>
                <a:latin typeface="Arial"/>
              </a:rPr>
              <a:t>Fifth Outline Level</a:t>
            </a:r>
            <a:endParaRPr b="0" lang="en-GB"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GB" sz="2000" spc="-1" strike="noStrike">
                <a:solidFill>
                  <a:srgbClr val="000000"/>
                </a:solidFill>
                <a:latin typeface="Arial"/>
              </a:rPr>
              <a:t>Sixth Outline Level</a:t>
            </a:r>
            <a:endParaRPr b="0" lang="en-GB"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GB" sz="2000" spc="-1" strike="noStrike">
                <a:solidFill>
                  <a:srgbClr val="000000"/>
                </a:solidFill>
                <a:latin typeface="Arial"/>
              </a:rPr>
              <a:t>Seventh Outline Level</a:t>
            </a:r>
            <a:endParaRPr b="0" lang="en-GB"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5" r:id="rId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PlaceHolder 1"/>
          <p:cNvSpPr>
            <a:spLocks noGrp="1"/>
          </p:cNvSpPr>
          <p:nvPr>
            <p:ph type="title"/>
          </p:nvPr>
        </p:nvSpPr>
        <p:spPr>
          <a:xfrm>
            <a:off x="3612960" y="1965960"/>
            <a:ext cx="5072400" cy="1370160"/>
          </a:xfrm>
          <a:prstGeom prst="rect">
            <a:avLst/>
          </a:prstGeom>
          <a:noFill/>
          <a:ln w="0">
            <a:noFill/>
          </a:ln>
        </p:spPr>
        <p:txBody>
          <a:bodyPr lIns="0" rIns="0" tIns="0" bIns="0" anchor="t">
            <a:noAutofit/>
          </a:bodyPr>
          <a:p>
            <a:pPr indent="0">
              <a:lnSpc>
                <a:spcPct val="100000"/>
              </a:lnSpc>
              <a:buNone/>
              <a:tabLst>
                <a:tab algn="l" pos="0"/>
              </a:tabLst>
            </a:pPr>
            <a:r>
              <a:rPr b="1" lang="en" sz="4400" spc="-1" strike="noStrike">
                <a:solidFill>
                  <a:schemeClr val="accent1"/>
                </a:solidFill>
                <a:latin typeface="Calibri"/>
                <a:ea typeface="Calibri"/>
              </a:rPr>
              <a:t>Design Patterns</a:t>
            </a:r>
            <a:endParaRPr b="0" lang="en-GB" sz="4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Design Patterns</a:t>
            </a:r>
            <a:endParaRPr b="0" lang="en-GB" sz="2400" spc="-1" strike="noStrike">
              <a:solidFill>
                <a:srgbClr val="000000"/>
              </a:solidFill>
              <a:latin typeface="Arial"/>
            </a:endParaRPr>
          </a:p>
        </p:txBody>
      </p:sp>
      <p:sp>
        <p:nvSpPr>
          <p:cNvPr id="65" name="Google Shape;130;p15"/>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 </a:t>
            </a:r>
            <a:r>
              <a:rPr b="1" lang="en-US" sz="1800" spc="-1" strike="noStrike">
                <a:solidFill>
                  <a:srgbClr val="000000"/>
                </a:solidFill>
                <a:latin typeface="Calibri"/>
                <a:ea typeface="Arial"/>
              </a:rPr>
              <a:t>The 23 Gang of Four (GoF) design patterns, categorized into:</a:t>
            </a:r>
            <a:endParaRPr b="0" lang="en-GB" sz="1800" spc="-1" strike="noStrike">
              <a:solidFill>
                <a:srgbClr val="000000"/>
              </a:solidFill>
              <a:latin typeface="Arial"/>
            </a:endParaRPr>
          </a:p>
        </p:txBody>
      </p:sp>
      <p:sp>
        <p:nvSpPr>
          <p:cNvPr id="66" name="Google Shape;131;p15"/>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a:lnSpc>
                <a:spcPct val="100000"/>
              </a:lnSpc>
            </a:pPr>
            <a:r>
              <a:rPr b="0" lang="en-US" sz="1400" spc="-1" strike="noStrike">
                <a:solidFill>
                  <a:schemeClr val="dk1"/>
                </a:solidFill>
                <a:highlight>
                  <a:srgbClr val="ffffff"/>
                </a:highlight>
                <a:latin typeface="Calibri"/>
                <a:ea typeface="Arial"/>
              </a:rPr>
              <a:t>Creational Patterns (6)</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Structural Patterns (7)</a:t>
            </a: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Behavioral Patterns (10)</a:t>
            </a:r>
            <a:endParaRPr b="0" lang="en-GB" sz="1400" spc="-1" strike="noStrike">
              <a:solidFill>
                <a:srgbClr val="000000"/>
              </a:solidFill>
              <a:latin typeface="Arial"/>
            </a:endParaRPr>
          </a:p>
          <a:p>
            <a:pPr>
              <a:lnSpc>
                <a:spcPct val="100000"/>
              </a:lnSpc>
            </a:pPr>
            <a:endParaRPr b="0" lang="en-GB" sz="1400" spc="-1" strike="noStrike">
              <a:solidFill>
                <a:srgbClr val="000000"/>
              </a:solidFill>
              <a:latin typeface="Arial"/>
            </a:endParaRPr>
          </a:p>
          <a:p>
            <a:pPr>
              <a:lnSpc>
                <a:spcPct val="100000"/>
              </a:lnSpc>
            </a:pPr>
            <a:r>
              <a:rPr b="0" lang="en-US" sz="1400" spc="-1" strike="noStrike">
                <a:solidFill>
                  <a:schemeClr val="dk1"/>
                </a:solidFill>
                <a:highlight>
                  <a:srgbClr val="ffffff"/>
                </a:highlight>
                <a:latin typeface="Calibri"/>
                <a:ea typeface="Arial"/>
              </a:rPr>
              <a:t>These patterns offer solutions to common object-oriented design problems, promoting code reusability, flexibility, and maintainability. </a:t>
            </a:r>
            <a:endParaRPr b="0" lang="en-GB" sz="1400" spc="-1" strike="noStrike">
              <a:solidFill>
                <a:srgbClr val="000000"/>
              </a:solidFill>
              <a:latin typeface="Arial"/>
            </a:endParaRPr>
          </a:p>
        </p:txBody>
      </p:sp>
      <p:sp>
        <p:nvSpPr>
          <p:cNvPr id="67" name="PlaceHolder 2"/>
          <p:cNvSpPr>
            <a:spLocks noGrp="1"/>
          </p:cNvSpPr>
          <p:nvPr>
            <p:ph type="sldNum" idx="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770B714-F1CD-47DA-862B-1C58B3E1CD61}"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Creational Design Patterns</a:t>
            </a:r>
            <a:endParaRPr b="0" lang="en-GB" sz="2400" spc="-1" strike="noStrike">
              <a:solidFill>
                <a:srgbClr val="000000"/>
              </a:solidFill>
              <a:latin typeface="Arial"/>
            </a:endParaRPr>
          </a:p>
        </p:txBody>
      </p:sp>
      <p:sp>
        <p:nvSpPr>
          <p:cNvPr id="69" name="Google Shape;138;p16"/>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1. Singleton</a:t>
            </a:r>
            <a:endParaRPr b="0" lang="en-GB" sz="1800" spc="-1" strike="noStrike">
              <a:solidFill>
                <a:srgbClr val="000000"/>
              </a:solidFill>
              <a:latin typeface="Arial"/>
            </a:endParaRPr>
          </a:p>
        </p:txBody>
      </p:sp>
      <p:sp>
        <p:nvSpPr>
          <p:cNvPr id="70" name="Google Shape;139;p16"/>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Ensures a class has only one instance and provides a global point of access to it. This is useful when exactly one object is needed to coordinate actions across the system. It restricts instantiation by making the constructor private and provides a static method to get the instance.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Think of a president of a country—there should be only one at a time. Everyone refers to the same person for leadership.</a:t>
            </a:r>
            <a:endParaRPr b="0" lang="en-GB" sz="1200" spc="-1" strike="noStrike">
              <a:solidFill>
                <a:srgbClr val="000000"/>
              </a:solidFill>
              <a:latin typeface="Arial"/>
            </a:endParaRPr>
          </a:p>
        </p:txBody>
      </p:sp>
      <p:sp>
        <p:nvSpPr>
          <p:cNvPr id="71" name="PlaceHolder 2"/>
          <p:cNvSpPr>
            <a:spLocks noGrp="1"/>
          </p:cNvSpPr>
          <p:nvPr>
            <p:ph type="sldNum" idx="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A89AE57-FAE4-4E6F-A0BB-DD691581E6D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72" name="Google Shape;139;p 1"/>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Defines an interface for creating an object, but lets subclasses decide which class to instantiate. It allows a class to defer instantiation to its subclasses, promoting loose coupling and scalability.</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restaurant menu where you choose a dish, and the kitchen prepares the appropriate item. You don’t know how it’s made, just that you get what you ordered.</a:t>
            </a:r>
            <a:endParaRPr b="0" lang="en-GB" sz="1200" spc="-1" strike="noStrike">
              <a:solidFill>
                <a:srgbClr val="000000"/>
              </a:solidFill>
              <a:latin typeface="Arial"/>
            </a:endParaRPr>
          </a:p>
        </p:txBody>
      </p:sp>
      <p:sp>
        <p:nvSpPr>
          <p:cNvPr id="73" name="Google Shape;138;p 1"/>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2. Factory Method</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Creational Design Patterns</a:t>
            </a:r>
            <a:endParaRPr b="0" lang="en-GB" sz="2400" spc="-1" strike="noStrike">
              <a:solidFill>
                <a:srgbClr val="000000"/>
              </a:solidFill>
              <a:latin typeface="Arial"/>
            </a:endParaRPr>
          </a:p>
        </p:txBody>
      </p:sp>
      <p:sp>
        <p:nvSpPr>
          <p:cNvPr id="75" name="Google Shape;138;p 4"/>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3. Abstract Factory</a:t>
            </a:r>
            <a:endParaRPr b="0" lang="en-GB" sz="1800" spc="-1" strike="noStrike">
              <a:solidFill>
                <a:srgbClr val="000000"/>
              </a:solidFill>
              <a:latin typeface="Arial"/>
            </a:endParaRPr>
          </a:p>
        </p:txBody>
      </p:sp>
      <p:sp>
        <p:nvSpPr>
          <p:cNvPr id="76" name="Google Shape;139;p 4"/>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Provides an interface for creating families of related or dependent objects without specifying their concrete classes. It ensures that products created together are compatible.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furniture factory that produces Victorian-style or Modern-style furniture sets (chair, sofa, table) that all match in design.</a:t>
            </a:r>
            <a:endParaRPr b="0" lang="en-GB" sz="1200" spc="-1" strike="noStrike">
              <a:solidFill>
                <a:srgbClr val="000000"/>
              </a:solidFill>
              <a:latin typeface="Arial"/>
            </a:endParaRPr>
          </a:p>
        </p:txBody>
      </p:sp>
      <p:sp>
        <p:nvSpPr>
          <p:cNvPr id="77" name="PlaceHolder 2"/>
          <p:cNvSpPr>
            <a:spLocks noGrp="1"/>
          </p:cNvSpPr>
          <p:nvPr>
            <p:ph type="sldNum" idx="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FE8830B3-77DC-4728-9A86-4615878AE87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78" name="Google Shape;139;p 5"/>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Separates the construction of a complex object from its representation so that the same construction process can create different representations. It focuses on step-by-step object creation.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Building a custom burger at a fast-food joint—choose bun, patty, toppings, and sauces in any order.</a:t>
            </a:r>
            <a:endParaRPr b="0" lang="en-GB" sz="1200" spc="-1" strike="noStrike">
              <a:solidFill>
                <a:srgbClr val="000000"/>
              </a:solidFill>
              <a:latin typeface="Arial"/>
            </a:endParaRPr>
          </a:p>
        </p:txBody>
      </p:sp>
      <p:sp>
        <p:nvSpPr>
          <p:cNvPr id="79" name="Google Shape;138;p 5"/>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4. Builder</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Creational Design Patterns</a:t>
            </a:r>
            <a:endParaRPr b="0" lang="en-GB" sz="2400" spc="-1" strike="noStrike">
              <a:solidFill>
                <a:srgbClr val="000000"/>
              </a:solidFill>
              <a:latin typeface="Arial"/>
            </a:endParaRPr>
          </a:p>
        </p:txBody>
      </p:sp>
      <p:sp>
        <p:nvSpPr>
          <p:cNvPr id="81" name="Google Shape;138;p 3"/>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5. Prototype</a:t>
            </a:r>
            <a:endParaRPr b="1" lang="en-GB" sz="1800" spc="-1" strike="noStrike">
              <a:solidFill>
                <a:srgbClr val="000000"/>
              </a:solidFill>
              <a:latin typeface="Arial"/>
            </a:endParaRPr>
          </a:p>
        </p:txBody>
      </p:sp>
      <p:sp>
        <p:nvSpPr>
          <p:cNvPr id="82" name="Google Shape;139;p 3"/>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Creates new objects by copying an existing object (prototype), rather than creating from scratch. It’s useful when object creation is expensive or complex.</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Photocopying a document instead of rewriting it from scratch.</a:t>
            </a:r>
            <a:endParaRPr b="0" lang="en-GB" sz="1200" spc="-1" strike="noStrike">
              <a:solidFill>
                <a:srgbClr val="000000"/>
              </a:solidFill>
              <a:latin typeface="Arial"/>
            </a:endParaRPr>
          </a:p>
        </p:txBody>
      </p:sp>
      <p:sp>
        <p:nvSpPr>
          <p:cNvPr id="83" name="PlaceHolder 2"/>
          <p:cNvSpPr>
            <a:spLocks noGrp="1"/>
          </p:cNvSpPr>
          <p:nvPr>
            <p:ph type="sldNum" idx="1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1E5829A-15CA-4529-AACC-29368CABCEA6}"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84" name="Google Shape;139;p 6"/>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Maintains a pool of reusable objects and provides a way to borrow and return them. It helps manage resources efficiently, especially when object creation is costly.</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library where you borrow books instead of buying new ones every time.</a:t>
            </a:r>
            <a:endParaRPr b="0" lang="en-GB" sz="1200" spc="-1" strike="noStrike">
              <a:solidFill>
                <a:srgbClr val="000000"/>
              </a:solidFill>
              <a:latin typeface="Arial"/>
            </a:endParaRPr>
          </a:p>
        </p:txBody>
      </p:sp>
      <p:sp>
        <p:nvSpPr>
          <p:cNvPr id="85" name="Google Shape;138;p 6"/>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6. Object Pool</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Creational Design Patterns</a:t>
            </a:r>
            <a:endParaRPr b="0" lang="en-GB" sz="2400" spc="-1" strike="noStrike">
              <a:solidFill>
                <a:srgbClr val="000000"/>
              </a:solidFill>
              <a:latin typeface="Arial"/>
            </a:endParaRPr>
          </a:p>
        </p:txBody>
      </p:sp>
      <p:sp>
        <p:nvSpPr>
          <p:cNvPr id="87" name="Google Shape;130;p 2"/>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Key Points to note:</a:t>
            </a:r>
            <a:endParaRPr b="0" lang="en-GB" sz="1800" spc="-1" strike="noStrike">
              <a:solidFill>
                <a:srgbClr val="000000"/>
              </a:solidFill>
              <a:latin typeface="Arial"/>
            </a:endParaRPr>
          </a:p>
        </p:txBody>
      </p:sp>
      <p:sp>
        <p:nvSpPr>
          <p:cNvPr id="88" name="Google Shape;131;p 2"/>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Encapsulate object creation logic.</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Promote re usability through abstraction.</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Enable scalability.</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Support object life cycle management.</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Encourage separation of concerns.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lazy initialization when appropriate.</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Implement object pooling for expensive objects.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builders for complex object construction.</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Ensure thread safety in shared creational logic.</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Allow for object cloning when needed.</a:t>
            </a:r>
            <a:endParaRPr b="0" lang="en-GB" sz="1400" spc="-1" strike="noStrike">
              <a:solidFill>
                <a:srgbClr val="000000"/>
              </a:solidFill>
              <a:latin typeface="Arial"/>
            </a:endParaRPr>
          </a:p>
        </p:txBody>
      </p:sp>
      <p:sp>
        <p:nvSpPr>
          <p:cNvPr id="89" name="PlaceHolder 2"/>
          <p:cNvSpPr>
            <a:spLocks noGrp="1"/>
          </p:cNvSpPr>
          <p:nvPr>
            <p:ph type="sldNum" idx="1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8091996D-A05D-45DA-A0C1-E9FE2950A6D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Structural Design Patterns</a:t>
            </a:r>
            <a:endParaRPr b="0" lang="en-GB" sz="2400" spc="-1" strike="noStrike">
              <a:solidFill>
                <a:srgbClr val="000000"/>
              </a:solidFill>
              <a:latin typeface="Arial"/>
            </a:endParaRPr>
          </a:p>
        </p:txBody>
      </p:sp>
      <p:sp>
        <p:nvSpPr>
          <p:cNvPr id="91" name="Google Shape;138;p 7"/>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7. Adapter</a:t>
            </a:r>
            <a:endParaRPr b="1" lang="en-GB" sz="1800" spc="-1" strike="noStrike">
              <a:solidFill>
                <a:srgbClr val="000000"/>
              </a:solidFill>
              <a:latin typeface="Arial"/>
            </a:endParaRPr>
          </a:p>
        </p:txBody>
      </p:sp>
      <p:sp>
        <p:nvSpPr>
          <p:cNvPr id="92" name="Google Shape;139;p 7"/>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Converts the interface of a class into another interface that clients expect. It allows incompatible interfaces to work together.</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travel plug adapter lets your charger fit into a foreign socket.</a:t>
            </a:r>
            <a:endParaRPr b="0" lang="en-GB" sz="1200" spc="-1" strike="noStrike">
              <a:solidFill>
                <a:srgbClr val="000000"/>
              </a:solidFill>
              <a:latin typeface="Arial"/>
            </a:endParaRPr>
          </a:p>
        </p:txBody>
      </p:sp>
      <p:sp>
        <p:nvSpPr>
          <p:cNvPr id="93" name="PlaceHolder 2"/>
          <p:cNvSpPr>
            <a:spLocks noGrp="1"/>
          </p:cNvSpPr>
          <p:nvPr>
            <p:ph type="sldNum" idx="1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CB316A10-70D5-4318-9473-3436789747F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94" name="Google Shape;139;p 8"/>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Decouples an abstraction from its implementation so that the two can vary independently. It separates the interface from the implementation.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remote control (abstraction) that can work with different brands of TVs (implementations).</a:t>
            </a:r>
            <a:endParaRPr b="0" lang="en-GB" sz="1200" spc="-1" strike="noStrike">
              <a:solidFill>
                <a:srgbClr val="000000"/>
              </a:solidFill>
              <a:latin typeface="Arial"/>
            </a:endParaRPr>
          </a:p>
        </p:txBody>
      </p:sp>
      <p:sp>
        <p:nvSpPr>
          <p:cNvPr id="95" name="Google Shape;138;p 8"/>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8. Bridge</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Structural Design Patterns</a:t>
            </a:r>
            <a:endParaRPr b="0" lang="en-GB" sz="2400" spc="-1" strike="noStrike">
              <a:solidFill>
                <a:srgbClr val="000000"/>
              </a:solidFill>
              <a:latin typeface="Arial"/>
            </a:endParaRPr>
          </a:p>
        </p:txBody>
      </p:sp>
      <p:sp>
        <p:nvSpPr>
          <p:cNvPr id="97" name="Google Shape;138;p 9"/>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9. Composite</a:t>
            </a:r>
            <a:endParaRPr b="1" lang="en-GB" sz="1800" spc="-1" strike="noStrike">
              <a:solidFill>
                <a:srgbClr val="000000"/>
              </a:solidFill>
              <a:latin typeface="Arial"/>
            </a:endParaRPr>
          </a:p>
        </p:txBody>
      </p:sp>
      <p:sp>
        <p:nvSpPr>
          <p:cNvPr id="98" name="Google Shape;139;p 9"/>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Composes objects into tree structures to represent part-whole hierarchies. It allows clients to treat individual objects and compositions uniformly.</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folder that can contain files or other folders, and you can perform actions like open or delete on both.</a:t>
            </a:r>
            <a:endParaRPr b="0" lang="en-GB" sz="1200" spc="-1" strike="noStrike">
              <a:solidFill>
                <a:srgbClr val="000000"/>
              </a:solidFill>
              <a:latin typeface="Arial"/>
            </a:endParaRPr>
          </a:p>
        </p:txBody>
      </p:sp>
      <p:sp>
        <p:nvSpPr>
          <p:cNvPr id="99" name="PlaceHolder 2"/>
          <p:cNvSpPr>
            <a:spLocks noGrp="1"/>
          </p:cNvSpPr>
          <p:nvPr>
            <p:ph type="sldNum" idx="13"/>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1EF7E9AD-2E73-44D9-B57B-C9DF410E36FF}"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00" name="Google Shape;139;p 10"/>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Adds responsibilities to objects dynamically without altering their structure. It’s a flexible alternative to subclassing for extending functionality.</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Adding toppings to an ice cream cone—each topping wraps the original cone with extra features.</a:t>
            </a:r>
            <a:endParaRPr b="0" lang="en-GB" sz="1200" spc="-1" strike="noStrike">
              <a:solidFill>
                <a:srgbClr val="000000"/>
              </a:solidFill>
              <a:latin typeface="Arial"/>
            </a:endParaRPr>
          </a:p>
        </p:txBody>
      </p:sp>
      <p:sp>
        <p:nvSpPr>
          <p:cNvPr id="101" name="Google Shape;138;p 10"/>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10. Decorator</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Structural Design Patterns</a:t>
            </a:r>
            <a:endParaRPr b="0" lang="en-GB" sz="2400" spc="-1" strike="noStrike">
              <a:solidFill>
                <a:srgbClr val="000000"/>
              </a:solidFill>
              <a:latin typeface="Arial"/>
            </a:endParaRPr>
          </a:p>
        </p:txBody>
      </p:sp>
      <p:sp>
        <p:nvSpPr>
          <p:cNvPr id="103" name="Google Shape;138;p 11"/>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11. Facade</a:t>
            </a:r>
            <a:endParaRPr b="1" lang="en-GB" sz="1800" spc="-1" strike="noStrike">
              <a:solidFill>
                <a:srgbClr val="000000"/>
              </a:solidFill>
              <a:latin typeface="Arial"/>
            </a:endParaRPr>
          </a:p>
        </p:txBody>
      </p:sp>
      <p:sp>
        <p:nvSpPr>
          <p:cNvPr id="104" name="Google Shape;139;p 11"/>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Provides a simplified interface to a complex subsystem. It hides the complexities of the system and provides a cleaner interface.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universal remote that controls your TV, sound system, and lights with one interface.</a:t>
            </a:r>
            <a:endParaRPr b="0" lang="en-GB" sz="1200" spc="-1" strike="noStrike">
              <a:solidFill>
                <a:srgbClr val="000000"/>
              </a:solidFill>
              <a:latin typeface="Arial"/>
            </a:endParaRPr>
          </a:p>
        </p:txBody>
      </p:sp>
      <p:sp>
        <p:nvSpPr>
          <p:cNvPr id="105" name="PlaceHolder 2"/>
          <p:cNvSpPr>
            <a:spLocks noGrp="1"/>
          </p:cNvSpPr>
          <p:nvPr>
            <p:ph type="sldNum" idx="14"/>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788F029-0DC7-4152-AFC6-8EF8A31E3527}"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06" name="Google Shape;139;p 12"/>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Reduces memory usage by sharing as much data as possible with similar objects. It’s useful when many objects share common data.</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Characters in a word processor—each character doesn’t store its font info separately; they share it.</a:t>
            </a:r>
            <a:endParaRPr b="0" lang="en-GB" sz="1200" spc="-1" strike="noStrike">
              <a:solidFill>
                <a:srgbClr val="000000"/>
              </a:solidFill>
              <a:latin typeface="Arial"/>
            </a:endParaRPr>
          </a:p>
        </p:txBody>
      </p:sp>
      <p:sp>
        <p:nvSpPr>
          <p:cNvPr id="107" name="Google Shape;138;p 12"/>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12. Flyweight</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Structural Design Patterns</a:t>
            </a:r>
            <a:endParaRPr b="0" lang="en-GB" sz="2400" spc="-1" strike="noStrike">
              <a:solidFill>
                <a:srgbClr val="000000"/>
              </a:solidFill>
              <a:latin typeface="Arial"/>
            </a:endParaRPr>
          </a:p>
        </p:txBody>
      </p:sp>
      <p:sp>
        <p:nvSpPr>
          <p:cNvPr id="109" name="Google Shape;138;p 13"/>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13. Proxy</a:t>
            </a:r>
            <a:endParaRPr b="1" lang="en-GB" sz="1800" spc="-1" strike="noStrike">
              <a:solidFill>
                <a:srgbClr val="000000"/>
              </a:solidFill>
              <a:latin typeface="Arial"/>
            </a:endParaRPr>
          </a:p>
        </p:txBody>
      </p:sp>
      <p:sp>
        <p:nvSpPr>
          <p:cNvPr id="110" name="Google Shape;139;p 13"/>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Provides a placeholder or surrogate for another object to control access to it. It can add functionality like lazy loading, access control, or logging.</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receptionist who controls access to the CEO—people don’t directly interact with the CEO.</a:t>
            </a:r>
            <a:endParaRPr b="0" lang="en-GB" sz="1200" spc="-1" strike="noStrike">
              <a:solidFill>
                <a:srgbClr val="000000"/>
              </a:solidFill>
              <a:latin typeface="Arial"/>
            </a:endParaRPr>
          </a:p>
        </p:txBody>
      </p:sp>
      <p:sp>
        <p:nvSpPr>
          <p:cNvPr id="111" name="PlaceHolder 2"/>
          <p:cNvSpPr>
            <a:spLocks noGrp="1"/>
          </p:cNvSpPr>
          <p:nvPr>
            <p:ph type="sldNum" idx="15"/>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E3878519-1F75-4E04-9FD8-8CA192C3A98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Structural Design Patterns</a:t>
            </a:r>
            <a:endParaRPr b="0" lang="en-GB" sz="2400" spc="-1" strike="noStrike">
              <a:solidFill>
                <a:srgbClr val="000000"/>
              </a:solidFill>
              <a:latin typeface="Arial"/>
            </a:endParaRPr>
          </a:p>
        </p:txBody>
      </p:sp>
      <p:sp>
        <p:nvSpPr>
          <p:cNvPr id="113" name="Google Shape;130;p 3"/>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Key Points to note:</a:t>
            </a:r>
            <a:endParaRPr b="0" lang="en-GB" sz="1800" spc="-1" strike="noStrike">
              <a:solidFill>
                <a:srgbClr val="000000"/>
              </a:solidFill>
              <a:latin typeface="Arial"/>
            </a:endParaRPr>
          </a:p>
        </p:txBody>
      </p:sp>
      <p:sp>
        <p:nvSpPr>
          <p:cNvPr id="114" name="Google Shape;131;p 3"/>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Prefer composition over inheritance to promote flexibility.</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interfaces to define contracts between components.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Encapsulate structural changes behind abstractions.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Adapter pattern to integrate incompatible interfaces.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Bridge pattern to separate abstraction from implementation.</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Composite pattern to treat individual and composite objects uniformly.</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Decorator pattern to add responsibilities dynamically.</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Introduce a Facade to simplify complex subsystems.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Flyweight pattern to share common object data and reduce memory usage.</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Proxy pattern to control access to objects.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Promote low coupling and high cohesion in class design.</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Design for scalability by decoupling components.</a:t>
            </a:r>
            <a:endParaRPr b="0" lang="en-GB" sz="1400" spc="-1" strike="noStrike">
              <a:solidFill>
                <a:srgbClr val="000000"/>
              </a:solidFill>
              <a:latin typeface="Arial"/>
            </a:endParaRPr>
          </a:p>
        </p:txBody>
      </p:sp>
      <p:sp>
        <p:nvSpPr>
          <p:cNvPr id="115" name="PlaceHolder 2"/>
          <p:cNvSpPr>
            <a:spLocks noGrp="1"/>
          </p:cNvSpPr>
          <p:nvPr>
            <p:ph type="sldNum" idx="16"/>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EBDBF23-B09E-4B57-A7C8-F84744E8D07A}"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Behavioural Design Patterns</a:t>
            </a:r>
            <a:endParaRPr b="0" lang="en-GB" sz="2400" spc="-1" strike="noStrike">
              <a:solidFill>
                <a:srgbClr val="000000"/>
              </a:solidFill>
              <a:latin typeface="Arial"/>
            </a:endParaRPr>
          </a:p>
        </p:txBody>
      </p:sp>
      <p:sp>
        <p:nvSpPr>
          <p:cNvPr id="117" name="Google Shape;138;p 14"/>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14. Chain of Responsibility</a:t>
            </a:r>
            <a:endParaRPr b="1" lang="en-GB" sz="1800" spc="-1" strike="noStrike">
              <a:solidFill>
                <a:srgbClr val="000000"/>
              </a:solidFill>
              <a:latin typeface="Arial"/>
            </a:endParaRPr>
          </a:p>
        </p:txBody>
      </p:sp>
      <p:sp>
        <p:nvSpPr>
          <p:cNvPr id="118" name="Google Shape;139;p 14"/>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Passes a request along a chain of handlers. Each handler decides either to process the request or pass it to the next handler in the chain.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Customer support escalation—your issue goes from a chatbot to an agent to a manager.</a:t>
            </a:r>
            <a:endParaRPr b="0" lang="en-GB" sz="1200" spc="-1" strike="noStrike">
              <a:solidFill>
                <a:srgbClr val="000000"/>
              </a:solidFill>
              <a:latin typeface="Arial"/>
            </a:endParaRPr>
          </a:p>
        </p:txBody>
      </p:sp>
      <p:sp>
        <p:nvSpPr>
          <p:cNvPr id="119" name="PlaceHolder 2"/>
          <p:cNvSpPr>
            <a:spLocks noGrp="1"/>
          </p:cNvSpPr>
          <p:nvPr>
            <p:ph type="sldNum" idx="17"/>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28D07B01-A6E2-4379-99F9-4D1B5E85DC0D}"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20" name="Google Shape;139;p 15"/>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Encapsulates a request as an object, thereby allowing for parameterization of clients with queues, logs, and undo able operations.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TV remote where each button is a command (volume up, channel down, etc.).</a:t>
            </a:r>
            <a:endParaRPr b="0" lang="en-GB" sz="1200" spc="-1" strike="noStrike">
              <a:solidFill>
                <a:srgbClr val="000000"/>
              </a:solidFill>
              <a:latin typeface="Arial"/>
            </a:endParaRPr>
          </a:p>
        </p:txBody>
      </p:sp>
      <p:sp>
        <p:nvSpPr>
          <p:cNvPr id="121" name="Google Shape;138;p 15"/>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15. Command</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Behavioural Design Patterns</a:t>
            </a:r>
            <a:endParaRPr b="0" lang="en-GB" sz="2400" spc="-1" strike="noStrike">
              <a:solidFill>
                <a:srgbClr val="000000"/>
              </a:solidFill>
              <a:latin typeface="Arial"/>
            </a:endParaRPr>
          </a:p>
        </p:txBody>
      </p:sp>
      <p:sp>
        <p:nvSpPr>
          <p:cNvPr id="123" name="Google Shape;138;p 16"/>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16. Interpreter</a:t>
            </a:r>
            <a:endParaRPr b="1" lang="en-GB" sz="1800" spc="-1" strike="noStrike">
              <a:solidFill>
                <a:srgbClr val="000000"/>
              </a:solidFill>
              <a:latin typeface="Arial"/>
            </a:endParaRPr>
          </a:p>
        </p:txBody>
      </p:sp>
      <p:sp>
        <p:nvSpPr>
          <p:cNvPr id="124" name="Google Shape;139;p 16"/>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Defines a grammar for a language and provides an interpreter to interpret sentences in the language. It’s used to interpret expressions.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calculator interpreting and evaluating mathematical expressions like “2 + 3 * 4”.</a:t>
            </a:r>
            <a:endParaRPr b="0" lang="en-GB" sz="1200" spc="-1" strike="noStrike">
              <a:solidFill>
                <a:srgbClr val="000000"/>
              </a:solidFill>
              <a:latin typeface="Arial"/>
            </a:endParaRPr>
          </a:p>
        </p:txBody>
      </p:sp>
      <p:sp>
        <p:nvSpPr>
          <p:cNvPr id="125" name="PlaceHolder 2"/>
          <p:cNvSpPr>
            <a:spLocks noGrp="1"/>
          </p:cNvSpPr>
          <p:nvPr>
            <p:ph type="sldNum" idx="18"/>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4B28DA42-252F-43A6-800D-6D8050E28D85}"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26" name="Google Shape;139;p 17"/>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Provides a way to access elements of a collection sequentially without exposing its underlying representation.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TV remote that lets you scroll through channels one by one.</a:t>
            </a:r>
            <a:endParaRPr b="0" lang="en-GB" sz="1200" spc="-1" strike="noStrike">
              <a:solidFill>
                <a:srgbClr val="000000"/>
              </a:solidFill>
              <a:latin typeface="Arial"/>
            </a:endParaRPr>
          </a:p>
        </p:txBody>
      </p:sp>
      <p:sp>
        <p:nvSpPr>
          <p:cNvPr id="127" name="Google Shape;138;p 17"/>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17. Iterator</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Behavioural Design Patterns</a:t>
            </a:r>
            <a:endParaRPr b="0" lang="en-GB" sz="2400" spc="-1" strike="noStrike">
              <a:solidFill>
                <a:srgbClr val="000000"/>
              </a:solidFill>
              <a:latin typeface="Arial"/>
            </a:endParaRPr>
          </a:p>
        </p:txBody>
      </p:sp>
      <p:sp>
        <p:nvSpPr>
          <p:cNvPr id="129" name="Google Shape;138;p 18"/>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18. Mediator</a:t>
            </a:r>
            <a:endParaRPr b="1" lang="en-GB" sz="1800" spc="-1" strike="noStrike">
              <a:solidFill>
                <a:srgbClr val="000000"/>
              </a:solidFill>
              <a:latin typeface="Arial"/>
            </a:endParaRPr>
          </a:p>
        </p:txBody>
      </p:sp>
      <p:sp>
        <p:nvSpPr>
          <p:cNvPr id="130" name="Google Shape;139;p 18"/>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Defines an object that encapsulates how a set of objects interact. It promotes loose coupling by preventing objects from referring to each other explicitly.</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An air traffic controller who coordinates all planes instead of planes communicating directly.</a:t>
            </a:r>
            <a:endParaRPr b="0" lang="en-GB" sz="1200" spc="-1" strike="noStrike">
              <a:solidFill>
                <a:srgbClr val="000000"/>
              </a:solidFill>
              <a:latin typeface="Arial"/>
            </a:endParaRPr>
          </a:p>
        </p:txBody>
      </p:sp>
      <p:sp>
        <p:nvSpPr>
          <p:cNvPr id="131" name="PlaceHolder 2"/>
          <p:cNvSpPr>
            <a:spLocks noGrp="1"/>
          </p:cNvSpPr>
          <p:nvPr>
            <p:ph type="sldNum" idx="19"/>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B6CC1762-05A6-4380-B9AA-BB42F31E91A9}"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32" name="Google Shape;139;p 19"/>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Captures and externalizes an object’s internal state so that it can be restored later without violating encapsulation.</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Saving a game so you can return to that exact point later.</a:t>
            </a:r>
            <a:endParaRPr b="0" lang="en-GB" sz="1200" spc="-1" strike="noStrike">
              <a:solidFill>
                <a:srgbClr val="000000"/>
              </a:solidFill>
              <a:latin typeface="Arial"/>
            </a:endParaRPr>
          </a:p>
        </p:txBody>
      </p:sp>
      <p:sp>
        <p:nvSpPr>
          <p:cNvPr id="133" name="Google Shape;138;p 19"/>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19. Memento</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Behavioural Design Patterns</a:t>
            </a:r>
            <a:endParaRPr b="0" lang="en-GB" sz="2400" spc="-1" strike="noStrike">
              <a:solidFill>
                <a:srgbClr val="000000"/>
              </a:solidFill>
              <a:latin typeface="Arial"/>
            </a:endParaRPr>
          </a:p>
        </p:txBody>
      </p:sp>
      <p:sp>
        <p:nvSpPr>
          <p:cNvPr id="135" name="Google Shape;138;p 20"/>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20. Observer</a:t>
            </a:r>
            <a:endParaRPr b="1" lang="en-GB" sz="1800" spc="-1" strike="noStrike">
              <a:solidFill>
                <a:srgbClr val="000000"/>
              </a:solidFill>
              <a:latin typeface="Arial"/>
            </a:endParaRPr>
          </a:p>
        </p:txBody>
      </p:sp>
      <p:sp>
        <p:nvSpPr>
          <p:cNvPr id="136" name="Google Shape;139;p 20"/>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Defines a one-to-many dependency between objects so that when one object changes state, all its dependents are notified and updated automatically.</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YouTube subscriptions—when a channel uploads a video, all subscribers are notified.</a:t>
            </a:r>
            <a:endParaRPr b="0" lang="en-GB" sz="1200" spc="-1" strike="noStrike">
              <a:solidFill>
                <a:srgbClr val="000000"/>
              </a:solidFill>
              <a:latin typeface="Arial"/>
            </a:endParaRPr>
          </a:p>
        </p:txBody>
      </p:sp>
      <p:sp>
        <p:nvSpPr>
          <p:cNvPr id="137" name="PlaceHolder 2"/>
          <p:cNvSpPr>
            <a:spLocks noGrp="1"/>
          </p:cNvSpPr>
          <p:nvPr>
            <p:ph type="sldNum" idx="20"/>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DACEED7E-CF1B-4BE0-87A9-92FD9A525443}"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38" name="Google Shape;139;p 21"/>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Allows an object to alter its behavior when its internal state changes. The object will appear to change its class.</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traffic light that changes behavior (color) based on its current state.</a:t>
            </a:r>
            <a:endParaRPr b="0" lang="en-GB" sz="1200" spc="-1" strike="noStrike">
              <a:solidFill>
                <a:srgbClr val="000000"/>
              </a:solidFill>
              <a:latin typeface="Arial"/>
            </a:endParaRPr>
          </a:p>
        </p:txBody>
      </p:sp>
      <p:sp>
        <p:nvSpPr>
          <p:cNvPr id="139" name="Google Shape;138;p 21"/>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21. State</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Behavioural Design Patterns</a:t>
            </a:r>
            <a:endParaRPr b="0" lang="en-GB" sz="2400" spc="-1" strike="noStrike">
              <a:solidFill>
                <a:srgbClr val="000000"/>
              </a:solidFill>
              <a:latin typeface="Arial"/>
            </a:endParaRPr>
          </a:p>
        </p:txBody>
      </p:sp>
      <p:sp>
        <p:nvSpPr>
          <p:cNvPr id="141" name="Google Shape;138;p 22"/>
          <p:cNvSpPr/>
          <p:nvPr/>
        </p:nvSpPr>
        <p:spPr>
          <a:xfrm>
            <a:off x="45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spcBef>
                <a:spcPts val="1191"/>
              </a:spcBef>
              <a:spcAft>
                <a:spcPts val="992"/>
              </a:spcAft>
            </a:pPr>
            <a:r>
              <a:rPr b="1" lang="en-US" sz="1800" spc="-1" strike="noStrike">
                <a:solidFill>
                  <a:schemeClr val="dk1"/>
                </a:solidFill>
                <a:latin typeface="Calibri"/>
                <a:ea typeface="Arial"/>
              </a:rPr>
              <a:t>22. Strategy</a:t>
            </a:r>
            <a:endParaRPr b="1" lang="en-GB" sz="1800" spc="-1" strike="noStrike">
              <a:solidFill>
                <a:srgbClr val="000000"/>
              </a:solidFill>
              <a:latin typeface="Arial"/>
            </a:endParaRPr>
          </a:p>
        </p:txBody>
      </p:sp>
      <p:sp>
        <p:nvSpPr>
          <p:cNvPr id="142" name="Google Shape;139;p 22"/>
          <p:cNvSpPr/>
          <p:nvPr/>
        </p:nvSpPr>
        <p:spPr>
          <a:xfrm>
            <a:off x="45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Defines a family of algorithms, encapsulates each one, and makes them interchangeable. It lets the algorithm vary independently from clients that use it.</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navigation app that lets you choose between fastest, shortest, or scenic route.</a:t>
            </a:r>
            <a:endParaRPr b="0" lang="en-GB" sz="1200" spc="-1" strike="noStrike">
              <a:solidFill>
                <a:srgbClr val="000000"/>
              </a:solidFill>
              <a:latin typeface="Arial"/>
            </a:endParaRPr>
          </a:p>
        </p:txBody>
      </p:sp>
      <p:sp>
        <p:nvSpPr>
          <p:cNvPr id="143" name="PlaceHolder 2"/>
          <p:cNvSpPr>
            <a:spLocks noGrp="1"/>
          </p:cNvSpPr>
          <p:nvPr>
            <p:ph type="sldNum" idx="21"/>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581DFA90-3037-4A9A-8428-F19BBBE70D04}"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
        <p:nvSpPr>
          <p:cNvPr id="144" name="Google Shape;139;p 23"/>
          <p:cNvSpPr/>
          <p:nvPr/>
        </p:nvSpPr>
        <p:spPr>
          <a:xfrm>
            <a:off x="4777560" y="1292040"/>
            <a:ext cx="3852000" cy="2898360"/>
          </a:xfrm>
          <a:prstGeom prst="rect">
            <a:avLst/>
          </a:prstGeom>
          <a:noFill/>
          <a:ln w="0">
            <a:noFill/>
          </a:ln>
        </p:spPr>
        <p:style>
          <a:lnRef idx="0"/>
          <a:fillRef idx="0"/>
          <a:effectRef idx="0"/>
          <a:fontRef idx="minor"/>
        </p:style>
        <p:txBody>
          <a:bodyPr lIns="0" rIns="0" tIns="0" bIns="0" anchor="t">
            <a:noAutofit/>
          </a:bodyPr>
          <a:p>
            <a:pPr>
              <a:lnSpc>
                <a:spcPct val="100000"/>
              </a:lnSpc>
              <a:spcAft>
                <a:spcPts val="400"/>
              </a:spcAft>
            </a:pPr>
            <a:r>
              <a:rPr b="0" lang="en-US" sz="1200" spc="-1" strike="noStrike">
                <a:solidFill>
                  <a:schemeClr val="dk1"/>
                </a:solidFill>
                <a:latin typeface="Calibri"/>
                <a:ea typeface="Arial"/>
              </a:rPr>
              <a:t>Definition: Defines the skeleton of an algorithm in a method, deferring some steps to subclasses. It lets subclasses redefine certain steps without changing the algorithm’s structure.</a:t>
            </a:r>
            <a:endParaRPr b="0" lang="en-GB" sz="1200" spc="-1" strike="noStrike">
              <a:solidFill>
                <a:srgbClr val="000000"/>
              </a:solidFill>
              <a:latin typeface="Arial"/>
            </a:endParaRPr>
          </a:p>
          <a:p>
            <a:pPr>
              <a:lnSpc>
                <a:spcPct val="100000"/>
              </a:lnSpc>
              <a:spcAft>
                <a:spcPts val="400"/>
              </a:spcAft>
            </a:pPr>
            <a:endParaRPr b="0" lang="en-GB" sz="1200" spc="-1" strike="noStrike">
              <a:solidFill>
                <a:srgbClr val="000000"/>
              </a:solidFill>
              <a:latin typeface="Arial"/>
            </a:endParaRPr>
          </a:p>
          <a:p>
            <a:pPr>
              <a:lnSpc>
                <a:spcPct val="100000"/>
              </a:lnSpc>
              <a:spcAft>
                <a:spcPts val="400"/>
              </a:spcAft>
            </a:pPr>
            <a:r>
              <a:rPr b="0" lang="en-US" sz="1200" spc="-1" strike="noStrike">
                <a:solidFill>
                  <a:schemeClr val="dk1"/>
                </a:solidFill>
                <a:latin typeface="Calibri"/>
                <a:ea typeface="Arial"/>
              </a:rPr>
              <a:t>Example: A coffee machine that always follows the same steps: boil water → brew → pour → add extras. The extras can vary.</a:t>
            </a:r>
            <a:endParaRPr b="0" lang="en-GB" sz="1200" spc="-1" strike="noStrike">
              <a:solidFill>
                <a:srgbClr val="000000"/>
              </a:solidFill>
              <a:latin typeface="Arial"/>
            </a:endParaRPr>
          </a:p>
        </p:txBody>
      </p:sp>
      <p:sp>
        <p:nvSpPr>
          <p:cNvPr id="145" name="Google Shape;138;p 23"/>
          <p:cNvSpPr/>
          <p:nvPr/>
        </p:nvSpPr>
        <p:spPr>
          <a:xfrm>
            <a:off x="4775760" y="903960"/>
            <a:ext cx="4000320" cy="2973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chemeClr val="dk1"/>
                </a:solidFill>
                <a:latin typeface="Calibri"/>
                <a:ea typeface="Arial"/>
              </a:rPr>
              <a:t>23. Template Method</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469440" y="287280"/>
            <a:ext cx="8216280" cy="626040"/>
          </a:xfrm>
          <a:prstGeom prst="rect">
            <a:avLst/>
          </a:prstGeom>
          <a:noFill/>
          <a:ln w="0">
            <a:noFill/>
          </a:ln>
        </p:spPr>
        <p:txBody>
          <a:bodyPr lIns="0" rIns="0" tIns="0" bIns="0" anchor="t">
            <a:noAutofit/>
          </a:bodyPr>
          <a:p>
            <a:pPr indent="0">
              <a:lnSpc>
                <a:spcPct val="100000"/>
              </a:lnSpc>
              <a:buNone/>
              <a:tabLst>
                <a:tab algn="l" pos="0"/>
              </a:tabLst>
            </a:pPr>
            <a:r>
              <a:rPr b="1" lang="en-GB" sz="2400" spc="-1" strike="noStrike">
                <a:solidFill>
                  <a:schemeClr val="accent1"/>
                </a:solidFill>
                <a:latin typeface="Calibri"/>
                <a:ea typeface="Calibri"/>
              </a:rPr>
              <a:t>Behavioural Design Patterns</a:t>
            </a:r>
            <a:endParaRPr b="0" lang="en-GB" sz="2400" spc="-1" strike="noStrike">
              <a:solidFill>
                <a:srgbClr val="000000"/>
              </a:solidFill>
              <a:latin typeface="Arial"/>
            </a:endParaRPr>
          </a:p>
        </p:txBody>
      </p:sp>
      <p:sp>
        <p:nvSpPr>
          <p:cNvPr id="147" name="Google Shape;130;p 4"/>
          <p:cNvSpPr/>
          <p:nvPr/>
        </p:nvSpPr>
        <p:spPr>
          <a:xfrm>
            <a:off x="459360" y="929520"/>
            <a:ext cx="8216280" cy="277560"/>
          </a:xfrm>
          <a:prstGeom prst="rect">
            <a:avLst/>
          </a:prstGeom>
          <a:noFill/>
          <a:ln w="0">
            <a:noFill/>
          </a:ln>
        </p:spPr>
        <p:style>
          <a:lnRef idx="0"/>
          <a:fillRef idx="0"/>
          <a:effectRef idx="0"/>
          <a:fontRef idx="minor"/>
        </p:style>
        <p:txBody>
          <a:bodyPr lIns="0" rIns="0" tIns="0" bIns="0" anchor="t">
            <a:noAutofit/>
          </a:bodyPr>
          <a:p>
            <a:pPr>
              <a:lnSpc>
                <a:spcPct val="100000"/>
              </a:lnSpc>
            </a:pPr>
            <a:r>
              <a:rPr b="1" lang="en-US" sz="1800" spc="-1" strike="noStrike">
                <a:solidFill>
                  <a:srgbClr val="000000"/>
                </a:solidFill>
                <a:latin typeface="Calibri"/>
                <a:ea typeface="Arial"/>
              </a:rPr>
              <a:t>Key Points to note:</a:t>
            </a:r>
            <a:endParaRPr b="0" lang="en-GB" sz="1800" spc="-1" strike="noStrike">
              <a:solidFill>
                <a:srgbClr val="000000"/>
              </a:solidFill>
              <a:latin typeface="Arial"/>
            </a:endParaRPr>
          </a:p>
        </p:txBody>
      </p:sp>
      <p:sp>
        <p:nvSpPr>
          <p:cNvPr id="148" name="Google Shape;131;p 4"/>
          <p:cNvSpPr/>
          <p:nvPr/>
        </p:nvSpPr>
        <p:spPr>
          <a:xfrm>
            <a:off x="449640" y="1293480"/>
            <a:ext cx="8216280" cy="3095280"/>
          </a:xfrm>
          <a:prstGeom prst="rect">
            <a:avLst/>
          </a:prstGeom>
          <a:noFill/>
          <a:ln w="0">
            <a:noFill/>
          </a:ln>
        </p:spPr>
        <p:style>
          <a:lnRef idx="0"/>
          <a:fillRef idx="0"/>
          <a:effectRef idx="0"/>
          <a:fontRef idx="minor"/>
        </p:style>
        <p:txBody>
          <a:bodyPr lIns="0" rIns="0" tIns="0" bIns="0" anchor="t">
            <a:noAutofit/>
          </a:bodyPr>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Encapsulate behavior in separate classes to promote flexibility.</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interfaces to define interchangeable behaviors.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Strategy pattern to select algorithms at runtime.</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Observer pattern to notify dependent objects of state changes.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Command pattern to encapsulate requests as objects.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Iterator pattern to access elements without exposing internal structure.</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Mediator pattern to centralize complex communications.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Memento pattern to capture and restore object state.</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State pattern to change behavior based on internal state.</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Template Method pattern to define the skeleton of an algorithm.</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Apply the Visitor pattern to separate algorithms from object structures.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Use the Chain of Responsibility pattern to pass requests along a chain of handlers.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Promote loose coupling between sender and receiver objects.</a:t>
            </a:r>
            <a:endParaRPr b="0" lang="en-GB" sz="1400" spc="-1" strike="noStrike">
              <a:solidFill>
                <a:srgbClr val="000000"/>
              </a:solidFill>
              <a:latin typeface="Arial"/>
            </a:endParaRPr>
          </a:p>
          <a:p>
            <a:pPr marL="216000" indent="-216000">
              <a:lnSpc>
                <a:spcPct val="100000"/>
              </a:lnSpc>
              <a:buClr>
                <a:srgbClr val="000000"/>
              </a:buClr>
              <a:buSzPct val="50000"/>
              <a:buFont typeface="OpenSymbol"/>
              <a:buChar char="✓"/>
            </a:pPr>
            <a:r>
              <a:rPr b="0" lang="en-US" sz="1400" spc="-1" strike="noStrike">
                <a:solidFill>
                  <a:schemeClr val="dk1"/>
                </a:solidFill>
                <a:highlight>
                  <a:srgbClr val="ffffff"/>
                </a:highlight>
                <a:latin typeface="Calibri"/>
                <a:ea typeface="Arial"/>
              </a:rPr>
              <a:t>Encourage delegation of responsibilities to improve cohesion.</a:t>
            </a:r>
            <a:endParaRPr b="0" lang="en-GB" sz="1400" spc="-1" strike="noStrike">
              <a:solidFill>
                <a:srgbClr val="000000"/>
              </a:solidFill>
              <a:latin typeface="Arial"/>
            </a:endParaRPr>
          </a:p>
        </p:txBody>
      </p:sp>
      <p:sp>
        <p:nvSpPr>
          <p:cNvPr id="149" name="PlaceHolder 2"/>
          <p:cNvSpPr>
            <a:spLocks noGrp="1"/>
          </p:cNvSpPr>
          <p:nvPr>
            <p:ph type="sldNum" idx="22"/>
          </p:nvPr>
        </p:nvSpPr>
        <p:spPr>
          <a:xfrm>
            <a:off x="8472240" y="4712760"/>
            <a:ext cx="547920" cy="277200"/>
          </a:xfrm>
          <a:prstGeom prst="rect">
            <a:avLst/>
          </a:prstGeom>
          <a:noFill/>
          <a:ln w="0">
            <a:noFill/>
          </a:ln>
        </p:spPr>
        <p:txBody>
          <a:bodyPr lIns="91440" rIns="91440" tIns="91440" bIns="91440" anchor="ctr">
            <a:noAutofit/>
          </a:bodyPr>
          <a:lstStyle>
            <a:lvl1pPr indent="0" algn="r">
              <a:lnSpc>
                <a:spcPct val="100000"/>
              </a:lnSpc>
              <a:buNone/>
              <a:tabLst>
                <a:tab algn="l" pos="0"/>
              </a:tabLst>
              <a:defRPr b="0" lang="en" sz="800" spc="-1" strike="noStrike">
                <a:solidFill>
                  <a:srgbClr val="888888"/>
                </a:solidFill>
                <a:latin typeface="Calibri"/>
                <a:ea typeface="Calibri"/>
              </a:defRPr>
            </a:lvl1pPr>
          </a:lstStyle>
          <a:p>
            <a:pPr indent="0" algn="r">
              <a:lnSpc>
                <a:spcPct val="100000"/>
              </a:lnSpc>
              <a:buNone/>
              <a:tabLst>
                <a:tab algn="l" pos="0"/>
              </a:tabLst>
            </a:pPr>
            <a:fld id="{65470F90-9A9F-411A-B9AB-A738452A9442}" type="slidenum">
              <a:rPr b="0" lang="en" sz="800" spc="-1" strike="noStrike">
                <a:solidFill>
                  <a:srgbClr val="888888"/>
                </a:solidFill>
                <a:latin typeface="Calibri"/>
                <a:ea typeface="Calibri"/>
              </a:rPr>
              <a:t>&lt;number&gt;</a:t>
            </a:fld>
            <a:endParaRPr b="0" lang="en-GB" sz="8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subTitle"/>
          </p:nvPr>
        </p:nvSpPr>
        <p:spPr>
          <a:xfrm>
            <a:off x="2165400" y="2305440"/>
            <a:ext cx="5270760" cy="319680"/>
          </a:xfrm>
          <a:prstGeom prst="rect">
            <a:avLst/>
          </a:prstGeom>
          <a:noFill/>
          <a:ln w="0">
            <a:noFill/>
          </a:ln>
        </p:spPr>
        <p:txBody>
          <a:bodyPr lIns="0" rIns="0" tIns="0" bIns="0" anchor="t">
            <a:noAutofit/>
          </a:bodyPr>
          <a:p>
            <a:pPr>
              <a:lnSpc>
                <a:spcPct val="100000"/>
              </a:lnSpc>
            </a:pPr>
            <a:r>
              <a:rPr b="0" lang="en-US" sz="1800" spc="-1" strike="noStrike">
                <a:solidFill>
                  <a:srgbClr val="000000"/>
                </a:solidFill>
                <a:latin typeface="Calibri"/>
                <a:ea typeface="Calibri"/>
              </a:rPr>
              <a:t>Nisanth Saravanan</a:t>
            </a:r>
            <a:endParaRPr b="0" lang="en-GB" sz="1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2.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4.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5.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8.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9.xml><?xml version="1.0" encoding="utf-8"?>
<a:theme xmlns:a="http://schemas.openxmlformats.org/drawingml/2006/main" xmlns:r="http://schemas.openxmlformats.org/officeDocument/2006/relationships" name="Relevantz - Internal Slide Template">
  <a:themeElements>
    <a:clrScheme name="Simple Light">
      <a:dk1>
        <a:srgbClr val="000000"/>
      </a:dk1>
      <a:lt1>
        <a:srgbClr val="ffffff"/>
      </a:lt1>
      <a:dk2>
        <a:srgbClr val="595959"/>
      </a:dk2>
      <a:lt2>
        <a:srgbClr val="eeeeee"/>
      </a:lt2>
      <a:accent1>
        <a:srgbClr val="27235c"/>
      </a:accent1>
      <a:accent2>
        <a:srgbClr val="e01950"/>
      </a:accent2>
      <a:accent3>
        <a:srgbClr val="97247e"/>
      </a:accent3>
      <a:accent4>
        <a:srgbClr val="b5b3da"/>
      </a:accent4>
      <a:accent5>
        <a:srgbClr val="d6d5eb"/>
      </a:accent5>
      <a:accent6>
        <a:srgbClr val="dcdbe4"/>
      </a:accent6>
      <a:hlink>
        <a:srgbClr val="e01950"/>
      </a:hlink>
      <a:folHlink>
        <a:srgbClr val="0097a7"/>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151</TotalTime>
  <Application>LibreOffice/24.2.7.2$Windows_X86_64 LibreOffice_project/ee3885777aa7032db5a9b65deec9457448a91162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2025-07-29T11:37:26Z</dcterms:created>
  <dc:creator/>
  <dc:description/>
  <dc:language>en-GB</dc:language>
  <cp:lastModifiedBy/>
  <dcterms:modified xsi:type="dcterms:W3CDTF">2025-07-29T14:09:09Z</dcterms:modified>
  <cp:revision>9</cp:revision>
  <dc:subject/>
  <dc:title>Relevantz</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mplianceAssetId">
    <vt:lpwstr/>
  </property>
  <property fmtid="{D5CDD505-2E9C-101B-9397-08002B2CF9AE}" pid="3" name="ContentTypeId">
    <vt:lpwstr>0x010100D48551353E320A478239C7923DF17815</vt:lpwstr>
  </property>
  <property fmtid="{D5CDD505-2E9C-101B-9397-08002B2CF9AE}" pid="4" name="MSIP_Label_defa4170-0d19-0005-0004-bc88714345d2_ActionId">
    <vt:lpwstr>c66ad8e2-d129-43bd-a8ec-5b6df568f088</vt:lpwstr>
  </property>
  <property fmtid="{D5CDD505-2E9C-101B-9397-08002B2CF9AE}" pid="5" name="MSIP_Label_defa4170-0d19-0005-0004-bc88714345d2_ContentBits">
    <vt:lpwstr>0</vt:lpwstr>
  </property>
  <property fmtid="{D5CDD505-2E9C-101B-9397-08002B2CF9AE}" pid="6" name="MSIP_Label_defa4170-0d19-0005-0004-bc88714345d2_Enabled">
    <vt:lpwstr>true</vt:lpwstr>
  </property>
  <property fmtid="{D5CDD505-2E9C-101B-9397-08002B2CF9AE}" pid="7" name="MSIP_Label_defa4170-0d19-0005-0004-bc88714345d2_Method">
    <vt:lpwstr>Standard</vt:lpwstr>
  </property>
  <property fmtid="{D5CDD505-2E9C-101B-9397-08002B2CF9AE}" pid="8" name="MSIP_Label_defa4170-0d19-0005-0004-bc88714345d2_Name">
    <vt:lpwstr>defa4170-0d19-0005-0004-bc88714345d2</vt:lpwstr>
  </property>
  <property fmtid="{D5CDD505-2E9C-101B-9397-08002B2CF9AE}" pid="9" name="MSIP_Label_defa4170-0d19-0005-0004-bc88714345d2_SetDate">
    <vt:lpwstr>2024-04-16T09:14:58Z</vt:lpwstr>
  </property>
  <property fmtid="{D5CDD505-2E9C-101B-9397-08002B2CF9AE}" pid="10" name="MSIP_Label_defa4170-0d19-0005-0004-bc88714345d2_SiteId">
    <vt:lpwstr>fe66d7b1-c17e-4ba8-a08d-2e146117dc7e</vt:lpwstr>
  </property>
  <property fmtid="{D5CDD505-2E9C-101B-9397-08002B2CF9AE}" pid="11" name="Notes">
    <vt:r8>24</vt:r8>
  </property>
  <property fmtid="{D5CDD505-2E9C-101B-9397-08002B2CF9AE}" pid="12" name="Order">
    <vt:r8>12300</vt:r8>
  </property>
  <property fmtid="{D5CDD505-2E9C-101B-9397-08002B2CF9AE}" pid="13" name="PresentationFormat">
    <vt:lpwstr>On-screen Show (16:9)</vt:lpwstr>
  </property>
  <property fmtid="{D5CDD505-2E9C-101B-9397-08002B2CF9AE}" pid="14" name="Slides">
    <vt:r8>24</vt:r8>
  </property>
  <property fmtid="{D5CDD505-2E9C-101B-9397-08002B2CF9AE}" pid="15" name="TriggerFlowInfo">
    <vt:lpwstr/>
  </property>
  <property fmtid="{D5CDD505-2E9C-101B-9397-08002B2CF9AE}" pid="16" name="_ExtendedDescription">
    <vt:lpwstr/>
  </property>
</Properties>
</file>