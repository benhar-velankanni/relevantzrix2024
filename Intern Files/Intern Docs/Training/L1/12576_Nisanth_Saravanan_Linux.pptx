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638A15-1CBE-4BF5-8440-C0A665D60F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EAAD4FF-42D8-4954-ADCD-65DE81D26D5E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2520000" y="720000"/>
            <a:ext cx="7065000" cy="449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What is Linux?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Linux VS Unix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Components of Linux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Linux VS Windows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What is GNU GPL?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History of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Use of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Popular variants of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What is Kernel?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What is a Linux Shell?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Architecture of Linux Operating System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User Space and Kernel Space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Advantages of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Features of 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260000" y="360000"/>
            <a:ext cx="130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Agenda: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What is Linux? 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15000" y="1310040"/>
            <a:ext cx="8325000" cy="336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Linux is an open-source operating system that is based on the principles of the Unix architecture.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acts as a bridge between computer hardware and software, enabling various applications to run smoothly while managing system resources such as memory, processing power, and storage.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Linux’s Open Source Nature: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What makes Linux unique is its open-source nature, meaning its source code is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freely available for anyone to view, modify, and distribute.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This has fostered a vibrant community of developers who contribute to its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growth and customization.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215000" y="1310040"/>
            <a:ext cx="8325000" cy="297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Features of Linux being Open-Source: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Transparency.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Customization.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Community Contributions.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Free Distribution.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Adaptable.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Affordable.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Components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Components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215000" y="2122920"/>
            <a:ext cx="4725000" cy="214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Kernel: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core part of Linux.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directly interacts with hardware and manages system resources like memory, CPU, and devices.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Handles low-level tasks such as process management and device drivers.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6300000" y="1603080"/>
            <a:ext cx="31842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Components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215000" y="2122920"/>
            <a:ext cx="4725000" cy="214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System Libraries: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These are special programs that provide functionality to the system and applications.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They enable software and applications to communicate with the kernel without needing detailed hardware knowledge.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Example: GNU C Library (glibc).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6300000" y="1603080"/>
            <a:ext cx="31842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Components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15000" y="2122920"/>
            <a:ext cx="4725000" cy="191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System Utilities: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Basic tools and commands for managing the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Includes utilities for file manipulation, program execution, and user management.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Examples: ls, mv,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6300000" y="1603080"/>
            <a:ext cx="31842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Components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15000" y="2122920"/>
            <a:ext cx="4725000" cy="214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Shell: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 command-line interpreter that allows users to interact with the Linux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Can execute commands, scripts, and manage tasks.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Examples: Bash (Bourne Again Shell), Zsh (Z Shell).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6300000" y="1603080"/>
            <a:ext cx="31842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Components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Applications: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Various software that runs on top of Linux.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This could include productivity tools, development environments, or server applications.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6300000" y="1603080"/>
            <a:ext cx="31842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GNU GPL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GNU GPL: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15000" y="2295000"/>
            <a:ext cx="526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GNU General Public License (GPL) is one of the most widely used free software licenses, created by Richard Stallman and the Free Software Foundation (FSF).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is designed to guarantee users the freedom to use, study, modify, and distribute software.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864840" y="2184480"/>
            <a:ext cx="2495160" cy="123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GNU GPL: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215000" y="2295000"/>
            <a:ext cx="5265000" cy="183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Key Features of GNU GPL: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Freedom to Use.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Access to Source Code.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Permission to Modify.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Freedom to Share.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6864840" y="2184480"/>
            <a:ext cx="2495160" cy="123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GNU GPL: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215000" y="2008800"/>
            <a:ext cx="5265000" cy="237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Key Features of GNU GPL: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Copyleft Provision: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GPL uses a concept called "copyleft,"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which ensures that any modified or derived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 must also be distributed under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same GPL license. This prevents the software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from being turned into proprietary products.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6864840" y="2184480"/>
            <a:ext cx="2495160" cy="123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History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History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"/>
          <p:cNvGraphicFramePr/>
          <p:nvPr/>
        </p:nvGraphicFramePr>
        <p:xfrm>
          <a:off x="1260000" y="1260000"/>
          <a:ext cx="8639640" cy="4206960"/>
        </p:xfrm>
        <a:graphic>
          <a:graphicData uri="http://schemas.openxmlformats.org/drawingml/2006/table">
            <a:tbl>
              <a:tblPr/>
              <a:tblGrid>
                <a:gridCol w="1198800"/>
                <a:gridCol w="2739960"/>
                <a:gridCol w="47012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Year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Event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240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1991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 Birth of Linux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was created by Linus Torvalds, a Finnish computer science student.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Torvalds initially developed it as a personal project to build a free operating system kernel inspired by MINIX (a Unix-like OS).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On August 25, 1991, Linus announced his project on the comp.os.minix forum, inviting others to contribute.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94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1992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Open-Source Licensing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was released under the GNU General Public License (GPL), making it free and open for modification and redistribution.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This fostered global collaboration and development.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History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1" name=""/>
          <p:cNvGraphicFramePr/>
          <p:nvPr/>
        </p:nvGraphicFramePr>
        <p:xfrm>
          <a:off x="1260000" y="1260000"/>
          <a:ext cx="8639640" cy="4034520"/>
        </p:xfrm>
        <a:graphic>
          <a:graphicData uri="http://schemas.openxmlformats.org/drawingml/2006/table">
            <a:tbl>
              <a:tblPr/>
              <a:tblGrid>
                <a:gridCol w="1198800"/>
                <a:gridCol w="2739960"/>
                <a:gridCol w="47012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Year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Event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240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Mid-1990s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Development of Distributions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 first Linux distributions, such as Slackware and Debian, were created to package the kernel with user-friendly tools and applications.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These distributions made Linux accessible to a wider audience.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94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Late 1990s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Expansion to Servers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gained popularity in server environments due to its stability and performance.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Major companies like IBM and Oracle began supporting Linux.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History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9" name=""/>
          <p:cNvGraphicFramePr/>
          <p:nvPr/>
        </p:nvGraphicFramePr>
        <p:xfrm>
          <a:off x="1260000" y="1260000"/>
          <a:ext cx="8639640" cy="4034520"/>
        </p:xfrm>
        <a:graphic>
          <a:graphicData uri="http://schemas.openxmlformats.org/drawingml/2006/table">
            <a:tbl>
              <a:tblPr/>
              <a:tblGrid>
                <a:gridCol w="1198800"/>
                <a:gridCol w="2739960"/>
                <a:gridCol w="47012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Year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Event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240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2000s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Growth in Consumer Usage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User-friendly distributions like Ubuntu made Linux more accessible for personal computing.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It began to be adopted by hobbyists, developers, and enterprises.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946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2008 and Beyond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in Mobile and Embedded Systems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Android, based on the Linux kernel, revolutionized the mobile industry and became the world's most-used operating system.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also became dominant in embedded systems and IoT devices.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Uses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2" name=""/>
          <p:cNvGraphicFramePr/>
          <p:nvPr/>
        </p:nvGraphicFramePr>
        <p:xfrm>
          <a:off x="1260000" y="1260000"/>
          <a:ext cx="8639640" cy="4092480"/>
        </p:xfrm>
        <a:graphic>
          <a:graphicData uri="http://schemas.openxmlformats.org/drawingml/2006/table">
            <a:tbl>
              <a:tblPr/>
              <a:tblGrid>
                <a:gridCol w="3181320"/>
                <a:gridCol w="545868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Usage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3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Web Servers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 significant majority of web servers around the world run on Linux.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Examples: Popular distributions like CentOS and Ubuntu are commonly used in hosting websites.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5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Personal Desktops and Laptops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distributions such as Ubuntu, Mint, and Fedora are widely used for personal computing, offering a secure and customizable alternative to proprietary operating systems.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Supercomputers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Nearly all supercomputers in the world use Linux due to its scalability, stability, and performance.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0" name=""/>
          <p:cNvGraphicFramePr/>
          <p:nvPr/>
        </p:nvGraphicFramePr>
        <p:xfrm>
          <a:off x="1260000" y="1260000"/>
          <a:ext cx="8639640" cy="4092480"/>
        </p:xfrm>
        <a:graphic>
          <a:graphicData uri="http://schemas.openxmlformats.org/drawingml/2006/table">
            <a:tbl>
              <a:tblPr/>
              <a:tblGrid>
                <a:gridCol w="3181320"/>
                <a:gridCol w="545868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Usage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3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Embedded Systems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powers a variety of embedded systems, such as routers, TVs, automotive systems, and home automation devices.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5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Mobile Devices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Android, a widely used mobile operating system, is built on the Linux kernel.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Cloud Computing and Data Center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is the backbone of many cloud services and virtualized environments, including major platforms like AWS, Microsoft Azure, and Google Cloud.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8" name=""/>
          <p:cNvGraphicFramePr/>
          <p:nvPr/>
        </p:nvGraphicFramePr>
        <p:xfrm>
          <a:off x="1260000" y="1260000"/>
          <a:ext cx="8639640" cy="4092480"/>
        </p:xfrm>
        <a:graphic>
          <a:graphicData uri="http://schemas.openxmlformats.org/drawingml/2006/table">
            <a:tbl>
              <a:tblPr/>
              <a:tblGrid>
                <a:gridCol w="3181320"/>
                <a:gridCol w="545868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Usage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3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Programming and Development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provides a robust environment for developers, offering tools and platforms for software development, testing, and deployment.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5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Educational and Research Environments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 is popular in academic and research settings, offering cost-effective and flexible solutions for computer labs and experiments.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Gaming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With the rise of platforms like SteamOS (based on Linux), gaming on Linux has become more accessible and widely adopted.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Popular Variants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Popular Variants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215000" y="1780200"/>
            <a:ext cx="8325000" cy="282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Linux has numerous variants, or distributions, tailored to different user needs. These distributions package the Linux kernel with system utilities, libraries, and applications, providing a complete operating system experience. A few examples are: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Ubuntu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Kali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Fedora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Linux Mint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Debian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Red Hat Enterprise Linux (RHEL)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CentOS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OpenSUSE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Arch Linux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What is Kernel?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is Kernel?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215000" y="1432800"/>
            <a:ext cx="8325000" cy="374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kernel is the core and foundational component of the Linux operating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acts as a bridge between software applications and the hardware of a computer, ensuring smooth communication and efficient resource management.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Functions of the Kernel: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Resource Management: Manages CPU, memory, and storage, allocating them to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different processes as needed.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Hardware Interaction: Acts as an intermediary between hardware devices and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 applications.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Process Control: Handles the execution of processes, multitasking, and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scheduling.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System Security: Protects data and ensures secure communication within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What is a Linux Shell?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is a Linux Shell?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215000" y="1477800"/>
            <a:ext cx="8325000" cy="343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 Linux Shell is a command-line interface that acts as an intermediary between the user and the Linux operating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allows users to interact with the system by entering commands, which the shell interprets and passes to the kernel for execution.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Key Features of a Linux Shell: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Command Interpretation.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Scripting Capabilities.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Customizability.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is a Linux Shell?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2207520" y="1341000"/>
            <a:ext cx="6612480" cy="400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Architecture of Linux Operating System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Architecture of Linux Operating System: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8" name=""/>
          <p:cNvGraphicFramePr/>
          <p:nvPr/>
        </p:nvGraphicFramePr>
        <p:xfrm>
          <a:off x="1260000" y="1260000"/>
          <a:ext cx="8639640" cy="4130640"/>
        </p:xfrm>
        <a:graphic>
          <a:graphicData uri="http://schemas.openxmlformats.org/drawingml/2006/table">
            <a:tbl>
              <a:tblPr/>
              <a:tblGrid>
                <a:gridCol w="3181320"/>
                <a:gridCol w="545868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Layer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3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Hardware Layer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This is the physical layer that includes the computer's hardware components, such as the CPU, memory, and storage devices.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5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Kernel Layer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 core part of Linux, responsible for managing hardware and system resources.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Functions: Process management, memory management, device control, and system security.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System Libraries Layer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Contains libraries that provide functionalities for software applications.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Example: GNU C Library (glibc) enables interaction with the kernel.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Architecture of Linux Operating System: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6" name=""/>
          <p:cNvGraphicFramePr/>
          <p:nvPr/>
        </p:nvGraphicFramePr>
        <p:xfrm>
          <a:off x="1260000" y="1672560"/>
          <a:ext cx="8639640" cy="3044880"/>
        </p:xfrm>
        <a:graphic>
          <a:graphicData uri="http://schemas.openxmlformats.org/drawingml/2006/table">
            <a:tbl>
              <a:tblPr/>
              <a:tblGrid>
                <a:gridCol w="3181320"/>
                <a:gridCol w="545868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Layer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Description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38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System Utilities Layer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Includes basic tools and programs that allow users to perform system-related operations, such as file management and process control.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9528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User Space Layer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Includes all applications and programs run by users.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Provides an environment for user interfaces, graphical user interfaces (GUIs), and shell interactions.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Architecture of Linux Operating System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User Space and Kernel Space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User Space and Kernel Space: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64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Kernel Space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User Space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Definition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 memory space where the core of the operating system (kernel) operates.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The memory space where user applications and processes run.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Access Level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  <a:ea typeface="Microsoft YaHei"/>
                        </a:rPr>
                        <a:t>Limited access, restricted to ensure system security and stability.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Has privileged access to all hardware resources and system processes. 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Operations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Executes high-level tasks such as running applications and user programs.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Performs low-level operations such as device management and system calls.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Memory Protection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  <a:ea typeface="Microsoft YaHei"/>
                        </a:rPr>
                        <a:t>Isolated from kernel space to avoid interference with critical functions.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Protected from unauthorized access, ensuring stability and preventing errors.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User Space and Kernel Space: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2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Kernel Space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User Space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Examples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Device drivers, process scheduler, memory manager.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Applications like web browsers, media players, and user-created scripts.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Interaction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Communicates with User Space via system calls (e.g., file operations).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Relies on system calls to interact with Kernel Space (e.g., accessing hardware).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Data Handling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Directly manages hardware-level data such as I/O and memory allocation. 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Handles user data and interacts with files or network resources indirectly.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Crash Impact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Errors in Kernel Space can lead to system-wide crashes.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Errors in User Space generally affect only the specific application or process.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Advantages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Advantages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215000" y="1706400"/>
            <a:ext cx="8325000" cy="297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Open Source.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Low Cost.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Stability and Reliability.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Security.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Performance.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Customizability.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Versatility.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Hardware Compatibility.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Features of Linux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 of Linux: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215000" y="1706400"/>
            <a:ext cx="8325000" cy="373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Open Source.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Performance Optimization.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Multi-User Support.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 Repository.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Multi-Tasking.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Virtualization.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Portability.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Security.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Stability.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Shell Interface.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Hardware Compatibility.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File System Support.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Modularity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Linux VS Windows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 vs Windows: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1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Windows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Source Code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Open-source: Source code is publicly available and modifiable.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Closed-source: Proprietary code owned by Microsoft.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Cost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Free (most distributions) or minimal costs for enterprise versions.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Generally requires a purchased license for use.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Customizability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Highly customizable: Users can modify the OS and its appearance.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Limited customization options compared to Linux.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User Interface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Offers both GUI and CLI (e.g., GNOME, KDE, terminal).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Primarily GUI, with some CLI options via Command Prompt or Power-Shell.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 vs Windows: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9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Windows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Security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More secure due to user permissions and open-source scrutiny.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Regularly targeted by malware and viruses; requires antivirus software.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Performance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Lightweight; efficient even on older hardware.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Heavier resource usage, especially in newer versions.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File Systems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Supports Ext2/Ext3/Ext4, Btrfs, XFS, etc.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Uses NTFS, FAT32, and exFAT.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Software Compatibility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Supports open-source applications; limited for some proprietary software.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Supports a wide range of proprietary software and applications.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 vs Windows: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7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Windows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Stability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Extremely stable, especially for servers and long-term use.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Stable, but can experience issues with updates or resource-heavy applications.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Community Support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Strong online communities and forums for troubleshooting.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Official support via Microsoft and third-party services.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Learning Curve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Steeper for beginners; requires familiarity with command-line tools.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Easier for beginners, with a user-friendly GUI interface.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Use Cases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Ideal for servers, programming, embedded systems, and advanced users.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Preferred for gaming, business applications, and personal desktops.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Linux VS Unix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 vs Unix: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0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Unix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Source Code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Open-source: Source code is publicly available and modifiable.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Closed-source; proprietary versions exist (e.g., IBM AIX, HP-UX, Solaris).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Cost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Free (most distributions) or minimal costs for enterprise versions.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Expensive; licensing fees apply for proprietary Unix versions.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Customizability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Highly customizable: Users can modify the OS and its appearance.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Limited customizability; source code is often not available for modification.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Origin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Created by Linus Torvalds in 1991.   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Developed in the 1970s at AT&amp;T Bell Labs by Ken Thompson, Dennis Ritchie, and others. 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080000" y="396000"/>
            <a:ext cx="45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Linux vs Unix: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8" name=""/>
          <p:cNvGraphicFramePr/>
          <p:nvPr/>
        </p:nvGraphicFramePr>
        <p:xfrm>
          <a:off x="1260000" y="1260000"/>
          <a:ext cx="8607600" cy="4130640"/>
        </p:xfrm>
        <a:graphic>
          <a:graphicData uri="http://schemas.openxmlformats.org/drawingml/2006/table">
            <a:tbl>
              <a:tblPr/>
              <a:tblGrid>
                <a:gridCol w="1664280"/>
                <a:gridCol w="3162240"/>
                <a:gridCol w="3781440"/>
              </a:tblGrid>
              <a:tr h="41616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Aspect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Linux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Unix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72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Security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More secure due to user permissions and open-source scrutiny.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Secure, but often reliant on proprietary updates and patches.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524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Performance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Lightweight; efficient even on older hardware.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Optimized for stability and performance in large-scale server and enterprise environments.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File Systems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Supports Ext2/Ext3/Ext4, Btrfs, XFS, etc.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Supports fewer file systems, usually those specific to the Unix version.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Compatibility</a:t>
                      </a:r>
                      <a:endParaRPr b="1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Runs on a wide variety of hardware, from personal computers to servers and embedded systems.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GB" sz="1600" spc="-1" strike="noStrike">
                          <a:solidFill>
                            <a:srgbClr val="000000"/>
                          </a:solidFill>
                          <a:latin typeface="MS PGothic"/>
                        </a:rPr>
                        <a:t>Primarily designed for servers and high-end systems; hardware-specific.</a:t>
                      </a:r>
                      <a:endParaRPr b="0" lang="en-GB" sz="1600" spc="-1" strike="noStrike">
                        <a:solidFill>
                          <a:srgbClr val="000000"/>
                        </a:solidFill>
                        <a:latin typeface="MS PGothic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115000" y="2293920"/>
            <a:ext cx="5985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Thank You!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- Nisanth Saravanan.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2025-03-06T14:11:15Z</dcterms:created>
  <dc:creator/>
  <dc:description/>
  <dc:language>en-GB</dc:language>
  <cp:lastModifiedBy/>
  <dcterms:modified xsi:type="dcterms:W3CDTF">2025-03-31T14:31:55Z</dcterms:modified>
  <cp:revision>76</cp:revision>
  <dc:subject/>
  <dc:title/>
</cp:coreProperties>
</file>