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21.png" ContentType="image/png"/>
  <Override PartName="/ppt/media/image6.jpeg" ContentType="image/jpeg"/>
  <Override PartName="/ppt/media/image5.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media/image37.png" ContentType="image/png"/>
  <Override PartName="/ppt/media/image38.png" ContentType="image/png"/>
  <Override PartName="/ppt/media/image39.png" ContentType="image/png"/>
  <Override PartName="/ppt/media/image40.png" ContentType="image/png"/>
  <Override PartName="/ppt/media/image41.png" ContentType="image/pn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75.xml.rels" ContentType="application/vnd.openxmlformats-package.relationships+xml"/>
  <Override PartName="/ppt/slides/_rels/slide76.xml.rels" ContentType="application/vnd.openxmlformats-package.relationships+xml"/>
  <Override PartName="/ppt/slides/_rels/slide77.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slides/_rels/slide80.xml.rels" ContentType="application/vnd.openxmlformats-package.relationships+xml"/>
  <Override PartName="/ppt/slides/_rels/slide81.xml.rels" ContentType="application/vnd.openxmlformats-package.relationships+xml"/>
  <Override PartName="/ppt/slides/_rels/slide82.xml.rels" ContentType="application/vnd.openxmlformats-package.relationships+xml"/>
  <Override PartName="/ppt/slides/_rels/slide83.xml.rels" ContentType="application/vnd.openxmlformats-package.relationships+xml"/>
  <Override PartName="/ppt/slides/_rels/slide84.xml.rels" ContentType="application/vnd.openxmlformats-package.relationships+xml"/>
  <Override PartName="/ppt/slides/_rels/slide85.xml.rels" ContentType="application/vnd.openxmlformats-package.relationships+xml"/>
  <Override PartName="/ppt/slides/_rels/slide86.xml.rels" ContentType="application/vnd.openxmlformats-package.relationships+xml"/>
  <Override PartName="/ppt/slides/_rels/slide87.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CA845A0-DDBC-4651-86A1-A7F54EDAE7AE}" type="slidenum">
              <a:t>&lt;#&gt;</a:t>
            </a:fld>
          </a:p>
        </p:txBody>
      </p:sp>
      <p:sp>
        <p:nvSpPr>
          <p:cNvPr id="6" name="PlaceHolder 5"/>
          <p:cNvSpPr>
            <a:spLocks noGrp="1"/>
          </p:cNvSpPr>
          <p:nvPr>
            <p:ph type="dt" idx="3"/>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13"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_">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917C30B2-3116-4DC6-82C6-5BA9ED34001F}"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_">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5E37413D-9956-4B4D-A6B3-9092F540FFCF}"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5.png"/><Relationship Id="rId3" Type="http://schemas.openxmlformats.org/officeDocument/2006/relationships/hyperlink" Target="https://www.relevantz.com/" TargetMode="External"/><Relationship Id="rId4" Type="http://schemas.openxmlformats.org/officeDocument/2006/relationships/hyperlink" Target="https://www.linkedin.com/company/relevantz" TargetMode="External"/><Relationship Id="rId5" Type="http://schemas.openxmlformats.org/officeDocument/2006/relationships/image" Target="../media/image1.png"/><Relationship Id="rId6"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3640" y="225720"/>
            <a:ext cx="9070920" cy="94608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1" name="PlaceHolder 2"/>
          <p:cNvSpPr>
            <a:spLocks noGrp="1"/>
          </p:cNvSpPr>
          <p:nvPr>
            <p:ph type="ftr" idx="1"/>
          </p:nvPr>
        </p:nvSpPr>
        <p:spPr>
          <a:xfrm>
            <a:off x="3447000" y="516456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 name="PlaceHolder 3"/>
          <p:cNvSpPr>
            <a:spLocks noGrp="1"/>
          </p:cNvSpPr>
          <p:nvPr>
            <p:ph type="sldNum" idx="2"/>
          </p:nvPr>
        </p:nvSpPr>
        <p:spPr>
          <a:xfrm>
            <a:off x="7226640" y="5164560"/>
            <a:ext cx="2347200" cy="389520"/>
          </a:xfrm>
          <a:prstGeom prst="rect">
            <a:avLst/>
          </a:prstGeom>
          <a:noFill/>
          <a:ln w="0">
            <a:noFill/>
          </a:ln>
        </p:spPr>
        <p:txBody>
          <a:bodyPr lIns="0" rIns="0" tIns="0" bIns="0" anchor="t">
            <a:noAutofit/>
          </a:bodyPr>
          <a:lstStyle>
            <a:lvl1pPr indent="0" algn="r">
              <a:lnSpc>
                <a:spcPct val="100000"/>
              </a:lnSpc>
              <a:buNone/>
              <a:tabLst>
                <a:tab algn="l" pos="0"/>
              </a:tabLst>
              <a:defRPr b="0" lang="en-GB" sz="1400" spc="-1" strike="noStrike">
                <a:solidFill>
                  <a:srgbClr val="000000"/>
                </a:solidFill>
                <a:latin typeface="Times New Roman"/>
              </a:defRPr>
            </a:lvl1pPr>
          </a:lstStyle>
          <a:p>
            <a:pPr indent="0" algn="r">
              <a:lnSpc>
                <a:spcPct val="100000"/>
              </a:lnSpc>
              <a:buNone/>
              <a:tabLst>
                <a:tab algn="l" pos="0"/>
              </a:tabLst>
            </a:pPr>
            <a:fld id="{F4A810A7-FB55-4784-8E4D-29104436D39C}"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
        <p:nvSpPr>
          <p:cNvPr id="3" name="PlaceHolder 4"/>
          <p:cNvSpPr>
            <a:spLocks noGrp="1"/>
          </p:cNvSpPr>
          <p:nvPr>
            <p:ph type="dt" idx="3"/>
          </p:nvPr>
        </p:nvSpPr>
        <p:spPr>
          <a:xfrm>
            <a:off x="503640" y="5164560"/>
            <a:ext cx="2347200" cy="38952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
        <p:nvSpPr>
          <p:cNvPr id="4" name="PlaceHolder 5"/>
          <p:cNvSpPr>
            <a:spLocks noGrp="1"/>
          </p:cNvSpPr>
          <p:nvPr>
            <p:ph type="body"/>
          </p:nvPr>
        </p:nvSpPr>
        <p:spPr>
          <a:xfrm>
            <a:off x="503640" y="1326240"/>
            <a:ext cx="9071280" cy="328824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 name="Google Shape;8;p2" descr=""/>
          <p:cNvPicPr/>
          <p:nvPr/>
        </p:nvPicPr>
        <p:blipFill>
          <a:blip r:embed="rId2"/>
          <a:stretch/>
        </p:blipFill>
        <p:spPr>
          <a:xfrm>
            <a:off x="503640" y="545040"/>
            <a:ext cx="1954440" cy="454320"/>
          </a:xfrm>
          <a:prstGeom prst="rect">
            <a:avLst/>
          </a:prstGeom>
          <a:ln w="0">
            <a:noFill/>
          </a:ln>
        </p:spPr>
      </p:pic>
      <p:sp>
        <p:nvSpPr>
          <p:cNvPr id="8" name="Google Shape;10;p2"/>
          <p:cNvSpPr/>
          <p:nvPr/>
        </p:nvSpPr>
        <p:spPr>
          <a:xfrm>
            <a:off x="4727520" y="5014440"/>
            <a:ext cx="4879440" cy="33732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9" name="Google Shape;11;p2" descr=""/>
          <p:cNvPicPr/>
          <p:nvPr/>
        </p:nvPicPr>
        <p:blipFill>
          <a:blip r:embed="rId3"/>
          <a:stretch/>
        </p:blipFill>
        <p:spPr>
          <a:xfrm>
            <a:off x="0" y="1587600"/>
            <a:ext cx="3507840" cy="4079160"/>
          </a:xfrm>
          <a:prstGeom prst="rect">
            <a:avLst/>
          </a:prstGeom>
          <a:ln w="0">
            <a:noFill/>
          </a:ln>
        </p:spPr>
      </p:pic>
      <p:sp>
        <p:nvSpPr>
          <p:cNvPr id="10" name="PlaceHolder 1"/>
          <p:cNvSpPr>
            <a:spLocks noGrp="1"/>
          </p:cNvSpPr>
          <p:nvPr>
            <p:ph type="title"/>
          </p:nvPr>
        </p:nvSpPr>
        <p:spPr>
          <a:xfrm>
            <a:off x="503640" y="225720"/>
            <a:ext cx="9070920" cy="94608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11" name="PlaceHolder 2"/>
          <p:cNvSpPr>
            <a:spLocks noGrp="1"/>
          </p:cNvSpPr>
          <p:nvPr>
            <p:ph type="body"/>
          </p:nvPr>
        </p:nvSpPr>
        <p:spPr>
          <a:xfrm>
            <a:off x="503640" y="1326240"/>
            <a:ext cx="9071280" cy="328824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4" name="Google Shape;8;p2" descr=""/>
          <p:cNvPicPr/>
          <p:nvPr/>
        </p:nvPicPr>
        <p:blipFill>
          <a:blip r:embed="rId2"/>
          <a:stretch/>
        </p:blipFill>
        <p:spPr>
          <a:xfrm>
            <a:off x="503640" y="545040"/>
            <a:ext cx="1954440" cy="454320"/>
          </a:xfrm>
          <a:prstGeom prst="rect">
            <a:avLst/>
          </a:prstGeom>
          <a:ln w="0">
            <a:noFill/>
          </a:ln>
        </p:spPr>
      </p:pic>
      <p:sp>
        <p:nvSpPr>
          <p:cNvPr id="15" name="Google Shape;10;p2"/>
          <p:cNvSpPr/>
          <p:nvPr/>
        </p:nvSpPr>
        <p:spPr>
          <a:xfrm>
            <a:off x="4727520" y="5014440"/>
            <a:ext cx="4879440" cy="33732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16" name="Google Shape;11;p2" descr=""/>
          <p:cNvPicPr/>
          <p:nvPr/>
        </p:nvPicPr>
        <p:blipFill>
          <a:blip r:embed="rId3"/>
          <a:stretch/>
        </p:blipFill>
        <p:spPr>
          <a:xfrm>
            <a:off x="0" y="1587600"/>
            <a:ext cx="3507840" cy="4079160"/>
          </a:xfrm>
          <a:prstGeom prst="rect">
            <a:avLst/>
          </a:prstGeom>
          <a:ln w="0">
            <a:noFill/>
          </a:ln>
        </p:spPr>
      </p:pic>
      <p:sp>
        <p:nvSpPr>
          <p:cNvPr id="1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8"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Google Shape;57;p7"/>
          <p:cNvSpPr/>
          <p:nvPr/>
        </p:nvSpPr>
        <p:spPr>
          <a:xfrm flipH="1" rot="10800000">
            <a:off x="503640" y="1009440"/>
            <a:ext cx="5255280" cy="2844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680" bIns="13680" anchor="ctr">
            <a:noAutofit/>
          </a:bodyPr>
          <a:p>
            <a:pPr>
              <a:lnSpc>
                <a:spcPct val="100000"/>
              </a:lnSpc>
            </a:pPr>
            <a:endParaRPr b="0" lang="en-GB" sz="1400" spc="-1" strike="noStrike">
              <a:solidFill>
                <a:srgbClr val="000000"/>
              </a:solidFill>
              <a:latin typeface="Calibri"/>
              <a:ea typeface="Proxima Nova"/>
            </a:endParaRPr>
          </a:p>
        </p:txBody>
      </p:sp>
      <p:pic>
        <p:nvPicPr>
          <p:cNvPr id="20" name="Google Shape;59;p7" descr=""/>
          <p:cNvPicPr/>
          <p:nvPr/>
        </p:nvPicPr>
        <p:blipFill>
          <a:blip r:embed="rId2"/>
          <a:stretch/>
        </p:blipFill>
        <p:spPr>
          <a:xfrm>
            <a:off x="732600" y="5256720"/>
            <a:ext cx="944640" cy="179640"/>
          </a:xfrm>
          <a:prstGeom prst="rect">
            <a:avLst/>
          </a:prstGeom>
          <a:ln w="0">
            <a:noFill/>
          </a:ln>
        </p:spPr>
      </p:pic>
      <p:pic>
        <p:nvPicPr>
          <p:cNvPr id="21" name="Google Shape;60;p7" descr=""/>
          <p:cNvPicPr/>
          <p:nvPr/>
        </p:nvPicPr>
        <p:blipFill>
          <a:blip r:embed="rId3"/>
          <a:stretch/>
        </p:blipFill>
        <p:spPr>
          <a:xfrm>
            <a:off x="0" y="5168160"/>
            <a:ext cx="675720" cy="502200"/>
          </a:xfrm>
          <a:prstGeom prst="rect">
            <a:avLst/>
          </a:prstGeom>
          <a:ln w="0">
            <a:noFill/>
          </a:ln>
        </p:spPr>
      </p:pic>
      <p:grpSp>
        <p:nvGrpSpPr>
          <p:cNvPr id="22" name="Google Shape;61;p7"/>
          <p:cNvGrpSpPr/>
          <p:nvPr/>
        </p:nvGrpSpPr>
        <p:grpSpPr>
          <a:xfrm>
            <a:off x="7171920" y="1440"/>
            <a:ext cx="2995560" cy="5531040"/>
            <a:chOff x="7171920" y="1440"/>
            <a:chExt cx="2995560" cy="5531040"/>
          </a:xfrm>
        </p:grpSpPr>
        <p:sp>
          <p:nvSpPr>
            <p:cNvPr id="23" name="Google Shape;62;p7"/>
            <p:cNvSpPr/>
            <p:nvPr/>
          </p:nvSpPr>
          <p:spPr>
            <a:xfrm rot="10800000">
              <a:off x="8476560" y="1440"/>
              <a:ext cx="1602360" cy="25740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pPr>
                <a:lnSpc>
                  <a:spcPct val="100000"/>
                </a:lnSpc>
              </a:pPr>
              <a:endParaRPr b="0" lang="en-GB" sz="1400" spc="-1" strike="noStrike">
                <a:solidFill>
                  <a:srgbClr val="000000"/>
                </a:solidFill>
                <a:latin typeface="Calibri"/>
                <a:ea typeface="Arial"/>
              </a:endParaRPr>
            </a:p>
          </p:txBody>
        </p:sp>
        <p:sp>
          <p:nvSpPr>
            <p:cNvPr id="24" name="Google Shape;63;p7"/>
            <p:cNvSpPr/>
            <p:nvPr/>
          </p:nvSpPr>
          <p:spPr>
            <a:xfrm rot="16200000">
              <a:off x="6548040" y="1913040"/>
              <a:ext cx="4242960" cy="29955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pPr>
                <a:lnSpc>
                  <a:spcPct val="100000"/>
                </a:lnSpc>
              </a:pPr>
              <a:endParaRPr b="0" lang="en-GB" sz="1400" spc="-1" strike="noStrike">
                <a:solidFill>
                  <a:srgbClr val="000000"/>
                </a:solidFill>
                <a:latin typeface="Calibri"/>
                <a:ea typeface="Arial"/>
              </a:endParaRPr>
            </a:p>
          </p:txBody>
        </p:sp>
      </p:grpSp>
      <p:sp>
        <p:nvSpPr>
          <p:cNvPr id="25" name="PlaceHolder 1"/>
          <p:cNvSpPr>
            <a:spLocks noGrp="1"/>
          </p:cNvSpPr>
          <p:nvPr>
            <p:ph type="title"/>
          </p:nvPr>
        </p:nvSpPr>
        <p:spPr>
          <a:xfrm>
            <a:off x="503640" y="225720"/>
            <a:ext cx="9071280" cy="9464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6" name="PlaceHolder 2"/>
          <p:cNvSpPr>
            <a:spLocks noGrp="1"/>
          </p:cNvSpPr>
          <p:nvPr>
            <p:ph type="body"/>
          </p:nvPr>
        </p:nvSpPr>
        <p:spPr>
          <a:xfrm>
            <a:off x="503640" y="1326240"/>
            <a:ext cx="9071280" cy="328824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 name="Google Shape;25;p4" descr=""/>
          <p:cNvPicPr/>
          <p:nvPr/>
        </p:nvPicPr>
        <p:blipFill>
          <a:blip r:embed="rId2"/>
          <a:stretch/>
        </p:blipFill>
        <p:spPr>
          <a:xfrm>
            <a:off x="732600" y="5256720"/>
            <a:ext cx="944640" cy="179640"/>
          </a:xfrm>
          <a:prstGeom prst="rect">
            <a:avLst/>
          </a:prstGeom>
          <a:ln w="0">
            <a:noFill/>
          </a:ln>
        </p:spPr>
      </p:pic>
      <p:pic>
        <p:nvPicPr>
          <p:cNvPr id="28" name="Google Shape;28;p4" descr=""/>
          <p:cNvPicPr/>
          <p:nvPr/>
        </p:nvPicPr>
        <p:blipFill>
          <a:blip r:embed="rId3"/>
          <a:stretch/>
        </p:blipFill>
        <p:spPr>
          <a:xfrm>
            <a:off x="0" y="5168160"/>
            <a:ext cx="675720" cy="502200"/>
          </a:xfrm>
          <a:prstGeom prst="rect">
            <a:avLst/>
          </a:prstGeom>
          <a:ln w="0">
            <a:noFill/>
          </a:ln>
        </p:spPr>
      </p:pic>
      <p:sp>
        <p:nvSpPr>
          <p:cNvPr id="29" name="Google Shape;33;p5"/>
          <p:cNvSpPr/>
          <p:nvPr/>
        </p:nvSpPr>
        <p:spPr>
          <a:xfrm>
            <a:off x="4168080" y="5214960"/>
            <a:ext cx="1766160" cy="262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30" name="Google Shape;29;p5"/>
          <p:cNvSpPr/>
          <p:nvPr/>
        </p:nvSpPr>
        <p:spPr>
          <a:xfrm>
            <a:off x="5148720" y="1056960"/>
            <a:ext cx="4432680" cy="304920"/>
          </a:xfrm>
          <a:prstGeom prst="rect">
            <a:avLst/>
          </a:prstGeom>
          <a:noFill/>
          <a:ln w="0">
            <a:noFill/>
          </a:ln>
        </p:spPr>
        <p:style>
          <a:lnRef idx="0"/>
          <a:fillRef idx="0"/>
          <a:effectRef idx="0"/>
          <a:fontRef idx="minor"/>
        </p:style>
        <p:txBody>
          <a:bodyPr lIns="0" rIns="0" tIns="0" bIns="0" anchor="t">
            <a:noAutofit/>
          </a:bodyPr>
          <a:p>
            <a:pPr>
              <a:lnSpc>
                <a:spcPct val="100000"/>
              </a:lnSpc>
            </a:pPr>
            <a:endParaRPr b="1" lang="en-US" sz="1800" spc="-1" strike="noStrike">
              <a:solidFill>
                <a:srgbClr val="000000"/>
              </a:solidFill>
              <a:latin typeface="Calibri"/>
              <a:ea typeface="Calibri"/>
            </a:endParaRPr>
          </a:p>
        </p:txBody>
      </p:sp>
      <p:sp>
        <p:nvSpPr>
          <p:cNvPr id="31" name="PlaceHolder 1"/>
          <p:cNvSpPr>
            <a:spLocks noGrp="1"/>
          </p:cNvSpPr>
          <p:nvPr>
            <p:ph type="sldNum" idx="4"/>
          </p:nvPr>
        </p:nvSpPr>
        <p:spPr>
          <a:xfrm>
            <a:off x="9406440" y="5214960"/>
            <a:ext cx="509760" cy="26244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6BDC8B6-D333-43AF-8E63-C3E3EA2B909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2" name="PlaceHolder 2"/>
          <p:cNvSpPr>
            <a:spLocks noGrp="1"/>
          </p:cNvSpPr>
          <p:nvPr>
            <p:ph type="title"/>
          </p:nvPr>
        </p:nvSpPr>
        <p:spPr>
          <a:xfrm>
            <a:off x="503640" y="225720"/>
            <a:ext cx="9071280" cy="9464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33" name="PlaceHolder 3"/>
          <p:cNvSpPr>
            <a:spLocks noGrp="1"/>
          </p:cNvSpPr>
          <p:nvPr>
            <p:ph type="body"/>
          </p:nvPr>
        </p:nvSpPr>
        <p:spPr>
          <a:xfrm>
            <a:off x="503640" y="1326240"/>
            <a:ext cx="9071280" cy="328824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 name="Google Shape;35;p5" descr=""/>
          <p:cNvPicPr/>
          <p:nvPr/>
        </p:nvPicPr>
        <p:blipFill>
          <a:blip r:embed="rId2"/>
          <a:stretch/>
        </p:blipFill>
        <p:spPr>
          <a:xfrm>
            <a:off x="732600" y="5256720"/>
            <a:ext cx="944640" cy="179640"/>
          </a:xfrm>
          <a:prstGeom prst="rect">
            <a:avLst/>
          </a:prstGeom>
          <a:ln w="0">
            <a:noFill/>
          </a:ln>
        </p:spPr>
      </p:pic>
      <p:pic>
        <p:nvPicPr>
          <p:cNvPr id="35" name="Google Shape;37;p5" descr=""/>
          <p:cNvPicPr/>
          <p:nvPr/>
        </p:nvPicPr>
        <p:blipFill>
          <a:blip r:embed="rId3"/>
          <a:stretch/>
        </p:blipFill>
        <p:spPr>
          <a:xfrm>
            <a:off x="0" y="5168160"/>
            <a:ext cx="675720" cy="502200"/>
          </a:xfrm>
          <a:prstGeom prst="rect">
            <a:avLst/>
          </a:prstGeom>
          <a:ln w="0">
            <a:noFill/>
          </a:ln>
        </p:spPr>
      </p:pic>
      <p:sp>
        <p:nvSpPr>
          <p:cNvPr id="36" name="Google Shape;33;p5"/>
          <p:cNvSpPr/>
          <p:nvPr/>
        </p:nvSpPr>
        <p:spPr>
          <a:xfrm>
            <a:off x="3679200" y="5214960"/>
            <a:ext cx="1766160" cy="262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37" name="PlaceHolder 1"/>
          <p:cNvSpPr>
            <a:spLocks noGrp="1"/>
          </p:cNvSpPr>
          <p:nvPr>
            <p:ph type="sldNum" idx="5"/>
          </p:nvPr>
        </p:nvSpPr>
        <p:spPr>
          <a:xfrm>
            <a:off x="9387000" y="5214960"/>
            <a:ext cx="509760" cy="26244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BC8D71A-0A47-412C-817C-9DBE10E1FF6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8" name="PlaceHolder 2"/>
          <p:cNvSpPr>
            <a:spLocks noGrp="1"/>
          </p:cNvSpPr>
          <p:nvPr>
            <p:ph type="title"/>
          </p:nvPr>
        </p:nvSpPr>
        <p:spPr>
          <a:xfrm>
            <a:off x="503640" y="225720"/>
            <a:ext cx="9071280" cy="9464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39" name="PlaceHolder 3"/>
          <p:cNvSpPr>
            <a:spLocks noGrp="1"/>
          </p:cNvSpPr>
          <p:nvPr>
            <p:ph type="body"/>
          </p:nvPr>
        </p:nvSpPr>
        <p:spPr>
          <a:xfrm>
            <a:off x="503640" y="1326240"/>
            <a:ext cx="9071280" cy="328824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Google Shape;65;p8"/>
          <p:cNvSpPr/>
          <p:nvPr/>
        </p:nvSpPr>
        <p:spPr>
          <a:xfrm>
            <a:off x="2394360" y="1605600"/>
            <a:ext cx="5798520" cy="880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4400" spc="-1" strike="noStrike">
                <a:solidFill>
                  <a:schemeClr val="accent1"/>
                </a:solidFill>
                <a:latin typeface="Calibri"/>
                <a:ea typeface="Proxima Nova"/>
              </a:rPr>
              <a:t>THANK YOU</a:t>
            </a:r>
            <a:endParaRPr b="0" lang="en-GB" sz="4400" spc="-1" strike="noStrike">
              <a:solidFill>
                <a:srgbClr val="000000"/>
              </a:solidFill>
              <a:latin typeface="Arial"/>
            </a:endParaRPr>
          </a:p>
        </p:txBody>
      </p:sp>
      <p:pic>
        <p:nvPicPr>
          <p:cNvPr id="41" name="Google Shape;67;p8" descr=""/>
          <p:cNvPicPr/>
          <p:nvPr/>
        </p:nvPicPr>
        <p:blipFill>
          <a:blip r:embed="rId2"/>
          <a:srcRect l="75926" t="0" r="0" b="53036"/>
          <a:stretch/>
        </p:blipFill>
        <p:spPr>
          <a:xfrm>
            <a:off x="0" y="3760200"/>
            <a:ext cx="2256840" cy="1906200"/>
          </a:xfrm>
          <a:prstGeom prst="rect">
            <a:avLst/>
          </a:prstGeom>
          <a:ln w="0">
            <a:noFill/>
          </a:ln>
        </p:spPr>
      </p:pic>
      <p:sp>
        <p:nvSpPr>
          <p:cNvPr id="42" name="Google Shape;68;p8"/>
          <p:cNvSpPr/>
          <p:nvPr/>
        </p:nvSpPr>
        <p:spPr>
          <a:xfrm>
            <a:off x="2387160" y="3706560"/>
            <a:ext cx="7151040" cy="13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chemeClr val="accent1"/>
                </a:solidFill>
                <a:latin typeface="Calibri"/>
                <a:ea typeface="Proxima Nova Semibold"/>
              </a:rPr>
              <a:t>About Relevantz</a:t>
            </a:r>
            <a:endParaRPr b="0" lang="en-GB" sz="1400" spc="-1" strike="noStrike">
              <a:solidFill>
                <a:srgbClr val="000000"/>
              </a:solidFill>
              <a:latin typeface="Arial"/>
            </a:endParaRPr>
          </a:p>
          <a:p>
            <a:pPr>
              <a:lnSpc>
                <a:spcPct val="100000"/>
              </a:lnSpc>
              <a:spcBef>
                <a:spcPts val="400"/>
              </a:spcBef>
              <a:tabLst>
                <a:tab algn="l" pos="0"/>
              </a:tabLst>
            </a:pPr>
            <a:r>
              <a:rPr b="0" lang="en-US" sz="1000" spc="-1" strike="noStrike">
                <a:solidFill>
                  <a:schemeClr val="dk1"/>
                </a:solidFill>
                <a:latin typeface="Calibri"/>
                <a:ea typeface="Arial"/>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b="0" lang="en-US" sz="1000" spc="-1" strike="noStrike" u="sng">
                <a:solidFill>
                  <a:schemeClr val="accent1"/>
                </a:solidFill>
                <a:uFillTx/>
                <a:latin typeface="Calibri"/>
                <a:ea typeface="Arial"/>
                <a:hlinkClick r:id="rId3"/>
              </a:rPr>
              <a:t>www.relevantz.com</a:t>
            </a:r>
            <a:r>
              <a:rPr b="0" lang="en-US" sz="1000" spc="-1" strike="noStrike">
                <a:solidFill>
                  <a:schemeClr val="accent1"/>
                </a:solidFill>
                <a:latin typeface="Calibri"/>
                <a:ea typeface="Arial"/>
              </a:rPr>
              <a:t> </a:t>
            </a:r>
            <a:r>
              <a:rPr b="0" lang="en-US" sz="1000" spc="-1" strike="noStrike">
                <a:solidFill>
                  <a:schemeClr val="dk1"/>
                </a:solidFill>
                <a:latin typeface="Calibri"/>
                <a:ea typeface="Arial"/>
              </a:rPr>
              <a:t>or </a:t>
            </a:r>
            <a:r>
              <a:rPr b="0" lang="en-US" sz="1000" spc="-1" strike="noStrike" u="sng">
                <a:solidFill>
                  <a:schemeClr val="accent1"/>
                </a:solidFill>
                <a:uFillTx/>
                <a:latin typeface="Calibri"/>
                <a:ea typeface="Arial"/>
                <a:hlinkClick r:id="rId4"/>
              </a:rPr>
              <a:t>@relevantztech</a:t>
            </a:r>
            <a:r>
              <a:rPr b="0" lang="en-US" sz="1000" spc="-1" strike="noStrike">
                <a:solidFill>
                  <a:schemeClr val="dk1"/>
                </a:solidFill>
                <a:latin typeface="Calibri"/>
                <a:ea typeface="Arial"/>
              </a:rPr>
              <a:t>.</a:t>
            </a:r>
            <a:endParaRPr b="0" lang="en-GB" sz="1000" spc="-1" strike="noStrike">
              <a:solidFill>
                <a:srgbClr val="000000"/>
              </a:solidFill>
              <a:latin typeface="Arial"/>
            </a:endParaRPr>
          </a:p>
          <a:p>
            <a:pPr>
              <a:lnSpc>
                <a:spcPct val="100000"/>
              </a:lnSpc>
              <a:spcBef>
                <a:spcPts val="400"/>
              </a:spcBef>
              <a:tabLst>
                <a:tab algn="l" pos="0"/>
              </a:tabLst>
            </a:pPr>
            <a:endParaRPr b="0" lang="en-GB" sz="1000" spc="-1" strike="noStrike">
              <a:solidFill>
                <a:srgbClr val="000000"/>
              </a:solidFill>
              <a:latin typeface="Arial"/>
            </a:endParaRPr>
          </a:p>
          <a:p>
            <a:pPr>
              <a:lnSpc>
                <a:spcPct val="100000"/>
              </a:lnSpc>
              <a:spcBef>
                <a:spcPts val="400"/>
              </a:spcBef>
              <a:spcAft>
                <a:spcPts val="400"/>
              </a:spcAft>
              <a:tabLst>
                <a:tab algn="l" pos="0"/>
              </a:tabLst>
            </a:pPr>
            <a:r>
              <a:rPr b="0" lang="en" sz="1000" spc="-1" strike="noStrike">
                <a:solidFill>
                  <a:srgbClr val="000000"/>
                </a:solidFill>
                <a:latin typeface="Calibri"/>
                <a:ea typeface="Proxima Nova"/>
              </a:rPr>
              <a:t>© 2025 Relevantz Technology Services, Inc. All rights reserved.</a:t>
            </a:r>
            <a:endParaRPr b="0" lang="en-GB" sz="1000" spc="-1" strike="noStrike">
              <a:solidFill>
                <a:srgbClr val="000000"/>
              </a:solidFill>
              <a:latin typeface="Arial"/>
            </a:endParaRPr>
          </a:p>
        </p:txBody>
      </p:sp>
      <p:sp>
        <p:nvSpPr>
          <p:cNvPr id="43" name="Google Shape;69;p8"/>
          <p:cNvSpPr/>
          <p:nvPr/>
        </p:nvSpPr>
        <p:spPr>
          <a:xfrm>
            <a:off x="2387160" y="3369600"/>
            <a:ext cx="7154640" cy="2916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4040" bIns="14040" anchor="ctr">
            <a:noAutofit/>
          </a:bodyPr>
          <a:p>
            <a:pPr>
              <a:lnSpc>
                <a:spcPct val="100000"/>
              </a:lnSpc>
            </a:pPr>
            <a:endParaRPr b="0" lang="en-GB" sz="1400" spc="-1" strike="noStrike">
              <a:solidFill>
                <a:srgbClr val="000000"/>
              </a:solidFill>
              <a:latin typeface="Calibri"/>
              <a:ea typeface="Proxima Nova"/>
            </a:endParaRPr>
          </a:p>
        </p:txBody>
      </p:sp>
      <p:pic>
        <p:nvPicPr>
          <p:cNvPr id="44" name="Google Shape;70;p8" descr=""/>
          <p:cNvPicPr/>
          <p:nvPr/>
        </p:nvPicPr>
        <p:blipFill>
          <a:blip r:embed="rId5"/>
          <a:stretch/>
        </p:blipFill>
        <p:spPr>
          <a:xfrm>
            <a:off x="7571880" y="465840"/>
            <a:ext cx="1966680" cy="456480"/>
          </a:xfrm>
          <a:prstGeom prst="rect">
            <a:avLst/>
          </a:prstGeom>
          <a:ln w="0">
            <a:noFill/>
          </a:ln>
        </p:spPr>
      </p:pic>
      <p:sp>
        <p:nvSpPr>
          <p:cNvPr id="4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6"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5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0.xml.rels><?xml version="1.0" encoding="UTF-8"?>
<Relationships xmlns="http://schemas.openxmlformats.org/package/2006/relationships"><Relationship Id="rId1" Type="http://schemas.openxmlformats.org/officeDocument/2006/relationships/hyperlink" Target="https://ubuntu.com/tutorials/install-ubuntu-desktop#1-overview" TargetMode="External"/><Relationship Id="rId2" Type="http://schemas.openxmlformats.org/officeDocument/2006/relationships/slideLayout" Target="../slideLayouts/slideLayout5.xml"/>
</Relationships>
</file>

<file path=ppt/slides/_rels/slide6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7.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6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10.png"/><Relationship Id="rId3" Type="http://schemas.openxmlformats.org/officeDocument/2006/relationships/image" Target="../media/image27.png"/><Relationship Id="rId4" Type="http://schemas.openxmlformats.org/officeDocument/2006/relationships/image" Target="../media/image10.png"/><Relationship Id="rId5" Type="http://schemas.openxmlformats.org/officeDocument/2006/relationships/slideLayout" Target="../slideLayouts/slideLayout6.xml"/>
</Relationships>
</file>

<file path=ppt/slides/_rels/slide69.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1.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2.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4.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5.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6.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7.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8.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79.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80.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81.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82.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83.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84.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10.png"/><Relationship Id="rId4" Type="http://schemas.openxmlformats.org/officeDocument/2006/relationships/slideLayout" Target="../slideLayouts/slideLayout6.xml"/>
</Relationships>
</file>

<file path=ppt/slides/_rels/slide85.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86.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0.png"/><Relationship Id="rId3" Type="http://schemas.openxmlformats.org/officeDocument/2006/relationships/slideLayout" Target="../slideLayouts/slideLayout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48"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49"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50"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51"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GB" sz="2600" spc="-1" strike="noStrike">
                <a:solidFill>
                  <a:srgbClr val="000000"/>
                </a:solidFill>
                <a:latin typeface="MS PGothic"/>
                <a:ea typeface="DejaVu Sans"/>
              </a:rPr>
              <a:t>Linux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
          <p:cNvSpPr/>
          <p:nvPr/>
        </p:nvSpPr>
        <p:spPr>
          <a:xfrm>
            <a:off x="2519640" y="719640"/>
            <a:ext cx="7063560" cy="4494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pPr>
            <a:r>
              <a:rPr b="1" lang="en-GB" sz="1600" spc="-1" strike="noStrike">
                <a:solidFill>
                  <a:srgbClr val="000000"/>
                </a:solidFill>
                <a:latin typeface="Calibri"/>
                <a:ea typeface="DejaVu Sans"/>
              </a:rPr>
              <a:t>What is Linux?</a:t>
            </a:r>
            <a:r>
              <a:rPr b="1" lang="en-GB" sz="1600" spc="-1" strike="noStrike">
                <a:solidFill>
                  <a:srgbClr val="000000"/>
                </a:solidFill>
                <a:latin typeface="Calibri"/>
                <a:ea typeface="DejaVu Sans"/>
              </a:rPr>
              <a:t>	</a:t>
            </a:r>
            <a:r>
              <a:rPr b="1" lang="en-GB" sz="1600" spc="-1" strike="noStrike">
                <a:solidFill>
                  <a:srgbClr val="000000"/>
                </a:solidFill>
                <a:latin typeface="Calibri"/>
                <a:ea typeface="DejaVu Sans"/>
              </a:rPr>
              <a:t>	</a:t>
            </a:r>
            <a:r>
              <a:rPr b="1" lang="en-GB" sz="1600" spc="-1" strike="noStrike">
                <a:solidFill>
                  <a:srgbClr val="000000"/>
                </a:solidFill>
                <a:latin typeface="Calibri"/>
                <a:ea typeface="DejaVu Sans"/>
              </a:rPr>
              <a:t>	</a:t>
            </a:r>
            <a:r>
              <a:rPr b="1" lang="en-GB" sz="1600" spc="-1" strike="noStrike">
                <a:solidFill>
                  <a:srgbClr val="000000"/>
                </a:solidFill>
                <a:latin typeface="Calibri"/>
                <a:ea typeface="DejaVu Sans"/>
              </a:rPr>
              <a:t>Linux VS Unix</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Components of Linux</a:t>
            </a:r>
            <a:r>
              <a:rPr b="1" lang="en-GB" sz="1600" spc="-1" strike="noStrike">
                <a:solidFill>
                  <a:srgbClr val="000000"/>
                </a:solidFill>
                <a:latin typeface="Calibri"/>
                <a:ea typeface="DejaVu Sans"/>
              </a:rPr>
              <a:t>	</a:t>
            </a:r>
            <a:r>
              <a:rPr b="1" lang="en-GB" sz="1600" spc="-1" strike="noStrike">
                <a:solidFill>
                  <a:srgbClr val="000000"/>
                </a:solidFill>
                <a:latin typeface="Calibri"/>
                <a:ea typeface="DejaVu Sans"/>
              </a:rPr>
              <a:t>	</a:t>
            </a:r>
            <a:r>
              <a:rPr b="1" lang="en-GB" sz="1600" spc="-1" strike="noStrike">
                <a:solidFill>
                  <a:srgbClr val="000000"/>
                </a:solidFill>
                <a:latin typeface="Calibri"/>
                <a:ea typeface="DejaVu Sans"/>
              </a:rPr>
              <a:t>	</a:t>
            </a:r>
            <a:r>
              <a:rPr b="1" lang="en-GB" sz="1600" spc="-1" strike="noStrike">
                <a:solidFill>
                  <a:srgbClr val="000000"/>
                </a:solidFill>
                <a:latin typeface="Calibri"/>
                <a:ea typeface="DejaVu Sans"/>
              </a:rPr>
              <a:t>Linux VS Windows</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What is GNU GPL?</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History of Linux</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Use of Linux</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Popular variants of Linux</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What is Kernel?</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What is a Linux Shell?</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Architecture of Linux Operating System</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User Space and Kernel Space</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DejaVu Sans"/>
              </a:rPr>
              <a:t>Advantages of Linux</a:t>
            </a:r>
            <a:endParaRPr b="0" lang="en-GB" sz="1600" spc="-1" strike="noStrike">
              <a:solidFill>
                <a:srgbClr val="000000"/>
              </a:solidFill>
              <a:latin typeface="Calibri"/>
            </a:endParaRPr>
          </a:p>
          <a:p>
            <a:pPr>
              <a:lnSpc>
                <a:spcPct val="100000"/>
              </a:lnSpc>
              <a:spcBef>
                <a:spcPts val="1191"/>
              </a:spcBef>
            </a:pPr>
            <a:r>
              <a:rPr b="1" lang="en-GB" sz="1600" spc="-1" strike="noStrike">
                <a:solidFill>
                  <a:srgbClr val="000000"/>
                </a:solidFill>
                <a:latin typeface="Calibri"/>
                <a:ea typeface="Microsoft YaHei"/>
              </a:rPr>
              <a:t>Features of  Linux</a:t>
            </a:r>
            <a:endParaRPr b="0" lang="en-GB" sz="1600" spc="-1" strike="noStrike">
              <a:solidFill>
                <a:srgbClr val="000000"/>
              </a:solidFill>
              <a:latin typeface="Calibri"/>
            </a:endParaRPr>
          </a:p>
        </p:txBody>
      </p:sp>
      <p:sp>
        <p:nvSpPr>
          <p:cNvPr id="53"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54"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55"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56"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57" name=""/>
          <p:cNvSpPr/>
          <p:nvPr/>
        </p:nvSpPr>
        <p:spPr>
          <a:xfrm>
            <a:off x="1259640" y="359640"/>
            <a:ext cx="130392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GB" sz="2600" spc="-1" strike="noStrike">
                <a:solidFill>
                  <a:srgbClr val="000000"/>
                </a:solidFill>
                <a:latin typeface="MS PGothic"/>
                <a:ea typeface="DejaVu Sans"/>
              </a:rPr>
              <a:t>Agenda:</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59"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60"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61"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62"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What is Linux? </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64"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65"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66"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67"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Linux:</a:t>
            </a:r>
            <a:endParaRPr b="0" lang="en-GB" sz="2000" spc="-1" strike="noStrike">
              <a:solidFill>
                <a:srgbClr val="000000"/>
              </a:solidFill>
              <a:latin typeface="Arial"/>
            </a:endParaRPr>
          </a:p>
        </p:txBody>
      </p:sp>
      <p:sp>
        <p:nvSpPr>
          <p:cNvPr id="68"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69"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70" name=""/>
          <p:cNvSpPr/>
          <p:nvPr/>
        </p:nvSpPr>
        <p:spPr>
          <a:xfrm>
            <a:off x="1214640" y="1309680"/>
            <a:ext cx="8323200" cy="3359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Linux is an open-source operating system that is based on the principles of the Unix architecture.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It acts as a bridge between computer hardware and software, enabling various applications to run smoothly while managing system resources such as memory, processing power, and storage. </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Linux’s Open Source Nature: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What makes Linux unique is its open-source nature, meaning its source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code is freely available for anyone to view, modify, and distribute. </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This has fostered a vibrant community of developers who contribute to its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growth and customization.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72"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73"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74"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75"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Linux:</a:t>
            </a:r>
            <a:endParaRPr b="0" lang="en-GB" sz="2000" spc="-1" strike="noStrike">
              <a:solidFill>
                <a:srgbClr val="000000"/>
              </a:solidFill>
              <a:latin typeface="Arial"/>
            </a:endParaRPr>
          </a:p>
        </p:txBody>
      </p:sp>
      <p:sp>
        <p:nvSpPr>
          <p:cNvPr id="76"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77"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78" name=""/>
          <p:cNvSpPr/>
          <p:nvPr/>
        </p:nvSpPr>
        <p:spPr>
          <a:xfrm>
            <a:off x="1214640" y="1309680"/>
            <a:ext cx="8323200" cy="297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Features of Linux being Open-Source:</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Transparency.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Customization.</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Community Contributions.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Free Distribution.</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Adaptable.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Affordable.</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80"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81"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82"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83"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GB" sz="2600" spc="-1" strike="noStrike">
                <a:solidFill>
                  <a:srgbClr val="000000"/>
                </a:solidFill>
                <a:latin typeface="MS PGothic"/>
                <a:ea typeface="DejaVu Sans"/>
              </a:rPr>
              <a:t>Components of Linux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85"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86"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87"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88" name=""/>
          <p:cNvSpPr/>
          <p:nvPr/>
        </p:nvSpPr>
        <p:spPr>
          <a:xfrm>
            <a:off x="1079640" y="395640"/>
            <a:ext cx="26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Components of Linux:</a:t>
            </a:r>
            <a:endParaRPr b="0" lang="en-GB" sz="2000" spc="-1" strike="noStrike">
              <a:solidFill>
                <a:srgbClr val="000000"/>
              </a:solidFill>
              <a:latin typeface="Arial"/>
            </a:endParaRPr>
          </a:p>
        </p:txBody>
      </p:sp>
      <p:sp>
        <p:nvSpPr>
          <p:cNvPr id="89"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90"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91" name=""/>
          <p:cNvSpPr/>
          <p:nvPr/>
        </p:nvSpPr>
        <p:spPr>
          <a:xfrm>
            <a:off x="1214640" y="2122560"/>
            <a:ext cx="4723560" cy="2142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Kernel:</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The core part of Linux.</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It directly interacts with hardware and manages system resources like memory, CPU, and devices.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Handles low-level tasks such as process management and device drivers.</a:t>
            </a:r>
            <a:endParaRPr b="0" lang="en-GB" sz="1800" spc="-1" strike="noStrike">
              <a:solidFill>
                <a:srgbClr val="000000"/>
              </a:solidFill>
              <a:latin typeface="Arial"/>
            </a:endParaRPr>
          </a:p>
        </p:txBody>
      </p:sp>
      <p:pic>
        <p:nvPicPr>
          <p:cNvPr id="92" name="" descr=""/>
          <p:cNvPicPr/>
          <p:nvPr/>
        </p:nvPicPr>
        <p:blipFill>
          <a:blip r:embed="rId1"/>
          <a:stretch/>
        </p:blipFill>
        <p:spPr>
          <a:xfrm>
            <a:off x="6299280" y="1602720"/>
            <a:ext cx="3182760" cy="31827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94"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95"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96"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97" name=""/>
          <p:cNvSpPr/>
          <p:nvPr/>
        </p:nvSpPr>
        <p:spPr>
          <a:xfrm>
            <a:off x="1079640" y="395640"/>
            <a:ext cx="26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Components of Linux:</a:t>
            </a:r>
            <a:endParaRPr b="0" lang="en-GB" sz="2000" spc="-1" strike="noStrike">
              <a:solidFill>
                <a:srgbClr val="000000"/>
              </a:solidFill>
              <a:latin typeface="Arial"/>
            </a:endParaRPr>
          </a:p>
        </p:txBody>
      </p:sp>
      <p:sp>
        <p:nvSpPr>
          <p:cNvPr id="98"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99"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00" name=""/>
          <p:cNvSpPr/>
          <p:nvPr/>
        </p:nvSpPr>
        <p:spPr>
          <a:xfrm>
            <a:off x="1214640" y="2122560"/>
            <a:ext cx="4723560" cy="2142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System Libraries: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These are special programs that provide functionality to the system and applications.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They enable software and applications to communicate with the kernel without needing detailed hardware knowledge.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Example: GNU C Library (glibc).</a:t>
            </a:r>
            <a:endParaRPr b="0" lang="en-GB" sz="1800" spc="-1" strike="noStrike">
              <a:solidFill>
                <a:srgbClr val="000000"/>
              </a:solidFill>
              <a:latin typeface="Arial"/>
            </a:endParaRPr>
          </a:p>
        </p:txBody>
      </p:sp>
      <p:pic>
        <p:nvPicPr>
          <p:cNvPr id="101" name="" descr=""/>
          <p:cNvPicPr/>
          <p:nvPr/>
        </p:nvPicPr>
        <p:blipFill>
          <a:blip r:embed="rId1"/>
          <a:stretch/>
        </p:blipFill>
        <p:spPr>
          <a:xfrm>
            <a:off x="6299280" y="1602720"/>
            <a:ext cx="3182760" cy="31827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03"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04"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05"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06" name=""/>
          <p:cNvSpPr/>
          <p:nvPr/>
        </p:nvSpPr>
        <p:spPr>
          <a:xfrm>
            <a:off x="1079640" y="395640"/>
            <a:ext cx="26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Components of Linux:</a:t>
            </a:r>
            <a:endParaRPr b="0" lang="en-GB" sz="2000" spc="-1" strike="noStrike">
              <a:solidFill>
                <a:srgbClr val="000000"/>
              </a:solidFill>
              <a:latin typeface="Arial"/>
            </a:endParaRPr>
          </a:p>
        </p:txBody>
      </p:sp>
      <p:sp>
        <p:nvSpPr>
          <p:cNvPr id="107"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08"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09" name=""/>
          <p:cNvSpPr/>
          <p:nvPr/>
        </p:nvSpPr>
        <p:spPr>
          <a:xfrm>
            <a:off x="1214640" y="2122560"/>
            <a:ext cx="4723560" cy="1914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System Utilities: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Basic tools and commands for managing the system.</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Includes utilities for file manipulation, program execution, and user management.</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Examples: ls, mv, etc.</a:t>
            </a:r>
            <a:endParaRPr b="0" lang="en-GB" sz="1800" spc="-1" strike="noStrike">
              <a:solidFill>
                <a:srgbClr val="000000"/>
              </a:solidFill>
              <a:latin typeface="Arial"/>
            </a:endParaRPr>
          </a:p>
        </p:txBody>
      </p:sp>
      <p:pic>
        <p:nvPicPr>
          <p:cNvPr id="110" name="" descr=""/>
          <p:cNvPicPr/>
          <p:nvPr/>
        </p:nvPicPr>
        <p:blipFill>
          <a:blip r:embed="rId1"/>
          <a:stretch/>
        </p:blipFill>
        <p:spPr>
          <a:xfrm>
            <a:off x="6299280" y="1602720"/>
            <a:ext cx="3182760" cy="31827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12"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13"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14"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15" name=""/>
          <p:cNvSpPr/>
          <p:nvPr/>
        </p:nvSpPr>
        <p:spPr>
          <a:xfrm>
            <a:off x="1079640" y="395640"/>
            <a:ext cx="26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Components of Linux:</a:t>
            </a:r>
            <a:endParaRPr b="0" lang="en-GB" sz="2000" spc="-1" strike="noStrike">
              <a:solidFill>
                <a:srgbClr val="000000"/>
              </a:solidFill>
              <a:latin typeface="Arial"/>
            </a:endParaRPr>
          </a:p>
        </p:txBody>
      </p:sp>
      <p:sp>
        <p:nvSpPr>
          <p:cNvPr id="116"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17"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18" name=""/>
          <p:cNvSpPr/>
          <p:nvPr/>
        </p:nvSpPr>
        <p:spPr>
          <a:xfrm>
            <a:off x="1214640" y="2122560"/>
            <a:ext cx="4723560" cy="2142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Shell:</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A command-line interpreter that allows users to interact with the Linux system.</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Can execute commands, scripts, and manage tasks.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Examples: Bash (Bourne Again Shell), Zsh (Z Shell).</a:t>
            </a:r>
            <a:endParaRPr b="0" lang="en-GB" sz="1800" spc="-1" strike="noStrike">
              <a:solidFill>
                <a:srgbClr val="000000"/>
              </a:solidFill>
              <a:latin typeface="Arial"/>
            </a:endParaRPr>
          </a:p>
        </p:txBody>
      </p:sp>
      <p:pic>
        <p:nvPicPr>
          <p:cNvPr id="119" name="" descr=""/>
          <p:cNvPicPr/>
          <p:nvPr/>
        </p:nvPicPr>
        <p:blipFill>
          <a:blip r:embed="rId1"/>
          <a:stretch/>
        </p:blipFill>
        <p:spPr>
          <a:xfrm>
            <a:off x="6299280" y="1602720"/>
            <a:ext cx="3182760" cy="31827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21"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22"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23"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24" name=""/>
          <p:cNvSpPr/>
          <p:nvPr/>
        </p:nvSpPr>
        <p:spPr>
          <a:xfrm>
            <a:off x="1079640" y="395640"/>
            <a:ext cx="26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Components of Linux:</a:t>
            </a:r>
            <a:endParaRPr b="0" lang="en-GB" sz="2000" spc="-1" strike="noStrike">
              <a:solidFill>
                <a:srgbClr val="000000"/>
              </a:solidFill>
              <a:latin typeface="Arial"/>
            </a:endParaRPr>
          </a:p>
        </p:txBody>
      </p:sp>
      <p:sp>
        <p:nvSpPr>
          <p:cNvPr id="125"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26"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27" name=""/>
          <p:cNvSpPr/>
          <p:nvPr/>
        </p:nvSpPr>
        <p:spPr>
          <a:xfrm>
            <a:off x="1214640" y="2294640"/>
            <a:ext cx="4723560" cy="1798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Applications: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Various software that runs on top of Linux.</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This could include productivity tools, development environments, or server applications.</a:t>
            </a:r>
            <a:endParaRPr b="0" lang="en-GB" sz="1800" spc="-1" strike="noStrike">
              <a:solidFill>
                <a:srgbClr val="000000"/>
              </a:solidFill>
              <a:latin typeface="Arial"/>
            </a:endParaRPr>
          </a:p>
        </p:txBody>
      </p:sp>
      <p:pic>
        <p:nvPicPr>
          <p:cNvPr id="128" name="" descr=""/>
          <p:cNvPicPr/>
          <p:nvPr/>
        </p:nvPicPr>
        <p:blipFill>
          <a:blip r:embed="rId1"/>
          <a:stretch/>
        </p:blipFill>
        <p:spPr>
          <a:xfrm>
            <a:off x="6299280" y="1602720"/>
            <a:ext cx="3182760" cy="31827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30"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31"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32"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33"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GNU GPL</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35"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36"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37"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38"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GNU GPL:</a:t>
            </a:r>
            <a:endParaRPr b="0" lang="en-GB" sz="2000" spc="-1" strike="noStrike">
              <a:solidFill>
                <a:srgbClr val="000000"/>
              </a:solidFill>
              <a:latin typeface="Arial"/>
            </a:endParaRPr>
          </a:p>
        </p:txBody>
      </p:sp>
      <p:sp>
        <p:nvSpPr>
          <p:cNvPr id="139"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40"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41" name=""/>
          <p:cNvSpPr/>
          <p:nvPr/>
        </p:nvSpPr>
        <p:spPr>
          <a:xfrm>
            <a:off x="1214640" y="2294640"/>
            <a:ext cx="5263560" cy="1798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The GNU General Public License (GPL) is one of the most widely used free software licenses, created by Richard Stallman and the Free Software Foundation (FSF).</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It is designed to guarantee users the freedom to use, study, modify, and distribute software.</a:t>
            </a:r>
            <a:endParaRPr b="0" lang="en-GB" sz="1800" spc="-1" strike="noStrike">
              <a:solidFill>
                <a:srgbClr val="000000"/>
              </a:solidFill>
              <a:latin typeface="Arial"/>
            </a:endParaRPr>
          </a:p>
        </p:txBody>
      </p:sp>
      <p:pic>
        <p:nvPicPr>
          <p:cNvPr id="142" name="" descr=""/>
          <p:cNvPicPr/>
          <p:nvPr/>
        </p:nvPicPr>
        <p:blipFill>
          <a:blip r:embed="rId1"/>
          <a:stretch/>
        </p:blipFill>
        <p:spPr>
          <a:xfrm>
            <a:off x="6864120" y="2184120"/>
            <a:ext cx="2494080" cy="12344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44"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45"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46"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47"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GNU GPL:</a:t>
            </a:r>
            <a:endParaRPr b="0" lang="en-GB" sz="2000" spc="-1" strike="noStrike">
              <a:solidFill>
                <a:srgbClr val="000000"/>
              </a:solidFill>
              <a:latin typeface="Arial"/>
            </a:endParaRPr>
          </a:p>
        </p:txBody>
      </p:sp>
      <p:sp>
        <p:nvSpPr>
          <p:cNvPr id="148"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49"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50" name=""/>
          <p:cNvSpPr/>
          <p:nvPr/>
        </p:nvSpPr>
        <p:spPr>
          <a:xfrm>
            <a:off x="1214640" y="2294640"/>
            <a:ext cx="5263560" cy="1836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Key Features of GNU GPL:</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Freedom to Use.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Access to Source Code.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Permission to Modify.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Freedom to Share.</a:t>
            </a:r>
            <a:endParaRPr b="0" lang="en-GB" sz="1800" spc="-1" strike="noStrike">
              <a:solidFill>
                <a:srgbClr val="000000"/>
              </a:solidFill>
              <a:latin typeface="Arial"/>
            </a:endParaRPr>
          </a:p>
        </p:txBody>
      </p:sp>
      <p:pic>
        <p:nvPicPr>
          <p:cNvPr id="151" name="" descr=""/>
          <p:cNvPicPr/>
          <p:nvPr/>
        </p:nvPicPr>
        <p:blipFill>
          <a:blip r:embed="rId1"/>
          <a:stretch/>
        </p:blipFill>
        <p:spPr>
          <a:xfrm>
            <a:off x="6864120" y="2184120"/>
            <a:ext cx="2494080" cy="12344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53"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54"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55"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56"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GNU GPL:</a:t>
            </a:r>
            <a:endParaRPr b="0" lang="en-GB" sz="2000" spc="-1" strike="noStrike">
              <a:solidFill>
                <a:srgbClr val="000000"/>
              </a:solidFill>
              <a:latin typeface="Arial"/>
            </a:endParaRPr>
          </a:p>
        </p:txBody>
      </p:sp>
      <p:sp>
        <p:nvSpPr>
          <p:cNvPr id="157"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58"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59" name=""/>
          <p:cNvSpPr/>
          <p:nvPr/>
        </p:nvSpPr>
        <p:spPr>
          <a:xfrm>
            <a:off x="1214640" y="2008440"/>
            <a:ext cx="5263560" cy="2371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Key Features of GNU GPL:</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Copyleft Provision:</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The GPL uses a concept called "copyleft,"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which ensures that any modified or derived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software must also be distributed under the same GPL license. This prevents the software from being turned into proprietary products.</a:t>
            </a:r>
            <a:endParaRPr b="0" lang="en-GB" sz="1800" spc="-1" strike="noStrike">
              <a:solidFill>
                <a:srgbClr val="000000"/>
              </a:solidFill>
              <a:latin typeface="Arial"/>
            </a:endParaRPr>
          </a:p>
        </p:txBody>
      </p:sp>
      <p:pic>
        <p:nvPicPr>
          <p:cNvPr id="160" name="" descr=""/>
          <p:cNvPicPr/>
          <p:nvPr/>
        </p:nvPicPr>
        <p:blipFill>
          <a:blip r:embed="rId1"/>
          <a:stretch/>
        </p:blipFill>
        <p:spPr>
          <a:xfrm>
            <a:off x="6864120" y="2184120"/>
            <a:ext cx="2494080" cy="12344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62"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63"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64"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65"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History of Linux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67"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68"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69"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70"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History of Linux:</a:t>
            </a:r>
            <a:endParaRPr b="0" lang="en-GB" sz="2000" spc="-1" strike="noStrike">
              <a:solidFill>
                <a:srgbClr val="000000"/>
              </a:solidFill>
              <a:latin typeface="Arial"/>
            </a:endParaRPr>
          </a:p>
        </p:txBody>
      </p:sp>
      <p:sp>
        <p:nvSpPr>
          <p:cNvPr id="171"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72"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173" name=""/>
          <p:cNvGraphicFramePr/>
          <p:nvPr/>
        </p:nvGraphicFramePr>
        <p:xfrm>
          <a:off x="1259640" y="1259640"/>
          <a:ext cx="8638920" cy="4272120"/>
        </p:xfrm>
        <a:graphic>
          <a:graphicData uri="http://schemas.openxmlformats.org/drawingml/2006/table">
            <a:tbl>
              <a:tblPr/>
              <a:tblGrid>
                <a:gridCol w="1198800"/>
                <a:gridCol w="2739960"/>
                <a:gridCol w="4700160"/>
              </a:tblGrid>
              <a:tr h="416160">
                <a:tc>
                  <a:txBody>
                    <a:bodyPr lIns="36000" rIns="36000" anchor="ctr">
                      <a:noAutofit/>
                    </a:bodyPr>
                    <a:p>
                      <a:pPr algn="ctr">
                        <a:lnSpc>
                          <a:spcPct val="100000"/>
                        </a:lnSpc>
                      </a:pPr>
                      <a:r>
                        <a:rPr b="1" lang="en-GB" sz="1600" spc="-1" strike="noStrike">
                          <a:solidFill>
                            <a:srgbClr val="000000"/>
                          </a:solidFill>
                          <a:latin typeface="Calibri"/>
                        </a:rPr>
                        <a:t>Year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Event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962000">
                <a:tc>
                  <a:txBody>
                    <a:bodyPr lIns="36000" rIns="36000" anchor="ctr">
                      <a:noAutofit/>
                    </a:bodyPr>
                    <a:p>
                      <a:pPr algn="ctr">
                        <a:lnSpc>
                          <a:spcPct val="100000"/>
                        </a:lnSpc>
                      </a:pPr>
                      <a:r>
                        <a:rPr b="0" lang="en-GB" sz="1600" spc="-1" strike="noStrike">
                          <a:solidFill>
                            <a:srgbClr val="000000"/>
                          </a:solidFill>
                          <a:latin typeface="Calibri"/>
                        </a:rPr>
                        <a:t>1991</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0" lang="en-GB" sz="1600" spc="-1" strike="noStrike">
                          <a:solidFill>
                            <a:srgbClr val="000000"/>
                          </a:solidFill>
                          <a:latin typeface="Calibri"/>
                        </a:rPr>
                        <a:t>The Birth of 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was created by Linus Torvalds, a Finnish computer science student.</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Torvalds initially developed it as a personal project to build a free operating system kernel inspired by MINIX (a Unix-like OS).</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On August 25, 1991, Linus announced his project on the comp.os.minix forum, inviting others to contribute.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893960">
                <a:tc>
                  <a:txBody>
                    <a:bodyPr lIns="36000" rIns="36000" anchor="ctr">
                      <a:noAutofit/>
                    </a:bodyPr>
                    <a:p>
                      <a:pPr algn="ctr">
                        <a:lnSpc>
                          <a:spcPct val="100000"/>
                        </a:lnSpc>
                      </a:pPr>
                      <a:r>
                        <a:rPr b="0" lang="en-GB" sz="1600" spc="-1" strike="noStrike">
                          <a:solidFill>
                            <a:srgbClr val="000000"/>
                          </a:solidFill>
                          <a:latin typeface="Calibri"/>
                        </a:rPr>
                        <a:t>1992</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0" lang="en-GB" sz="1600" spc="-1" strike="noStrike">
                          <a:solidFill>
                            <a:srgbClr val="000000"/>
                          </a:solidFill>
                          <a:latin typeface="Calibri"/>
                        </a:rPr>
                        <a:t>Open-Source Licensing</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was released under the GNU General Public License (GPL), making it free and open for modification and redistribution.</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This fostered global collaboration and development.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75"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76"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77"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78"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History of Linux:</a:t>
            </a:r>
            <a:endParaRPr b="0" lang="en-GB" sz="2000" spc="-1" strike="noStrike">
              <a:solidFill>
                <a:srgbClr val="000000"/>
              </a:solidFill>
              <a:latin typeface="Arial"/>
            </a:endParaRPr>
          </a:p>
        </p:txBody>
      </p:sp>
      <p:sp>
        <p:nvSpPr>
          <p:cNvPr id="179"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80"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181" name=""/>
          <p:cNvGraphicFramePr/>
          <p:nvPr/>
        </p:nvGraphicFramePr>
        <p:xfrm>
          <a:off x="1259640" y="1259640"/>
          <a:ext cx="8638920" cy="4034520"/>
        </p:xfrm>
        <a:graphic>
          <a:graphicData uri="http://schemas.openxmlformats.org/drawingml/2006/table">
            <a:tbl>
              <a:tblPr/>
              <a:tblGrid>
                <a:gridCol w="1198800"/>
                <a:gridCol w="2739960"/>
                <a:gridCol w="4700160"/>
              </a:tblGrid>
              <a:tr h="416160">
                <a:tc>
                  <a:txBody>
                    <a:bodyPr lIns="36000" rIns="36000" anchor="ctr">
                      <a:noAutofit/>
                    </a:bodyPr>
                    <a:p>
                      <a:pPr algn="ctr">
                        <a:lnSpc>
                          <a:spcPct val="100000"/>
                        </a:lnSpc>
                      </a:pPr>
                      <a:r>
                        <a:rPr b="1" lang="en-GB" sz="1600" spc="-1" strike="noStrike">
                          <a:solidFill>
                            <a:srgbClr val="000000"/>
                          </a:solidFill>
                          <a:latin typeface="Calibri"/>
                        </a:rPr>
                        <a:t>Year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Event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724040">
                <a:tc>
                  <a:txBody>
                    <a:bodyPr lIns="36000" rIns="36000" anchor="ctr">
                      <a:noAutofit/>
                    </a:bodyPr>
                    <a:p>
                      <a:pPr algn="ctr">
                        <a:lnSpc>
                          <a:spcPct val="100000"/>
                        </a:lnSpc>
                      </a:pPr>
                      <a:r>
                        <a:rPr b="0" lang="en-GB" sz="1600" spc="-1" strike="noStrike">
                          <a:solidFill>
                            <a:srgbClr val="000000"/>
                          </a:solidFill>
                          <a:latin typeface="Calibri"/>
                        </a:rPr>
                        <a:t>Mid-1990s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0" lang="en-GB" sz="1600" spc="-1" strike="noStrike">
                          <a:solidFill>
                            <a:srgbClr val="000000"/>
                          </a:solidFill>
                          <a:latin typeface="Calibri"/>
                        </a:rPr>
                        <a:t>Development of Distributions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The first Linux distributions, such as Slackware and Debian, were created to package the kernel with user-friendly tools and applications.</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These distributions made Linux accessible to a wider audience.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894320">
                <a:tc>
                  <a:txBody>
                    <a:bodyPr lIns="36000" rIns="36000" anchor="ctr">
                      <a:noAutofit/>
                    </a:bodyPr>
                    <a:p>
                      <a:pPr algn="ctr">
                        <a:lnSpc>
                          <a:spcPct val="100000"/>
                        </a:lnSpc>
                      </a:pPr>
                      <a:r>
                        <a:rPr b="0" lang="en-GB" sz="1600" spc="-1" strike="noStrike">
                          <a:solidFill>
                            <a:srgbClr val="000000"/>
                          </a:solidFill>
                          <a:latin typeface="Calibri"/>
                        </a:rPr>
                        <a:t>Late 1990s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0" lang="en-GB" sz="1600" spc="-1" strike="noStrike">
                          <a:solidFill>
                            <a:srgbClr val="000000"/>
                          </a:solidFill>
                          <a:latin typeface="Calibri"/>
                        </a:rPr>
                        <a:t>Expansion to Servers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gained popularity in server environments due to its stability and performance.</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Major companies like IBM and Oracle began supporting 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83"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84"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85"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86"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History of Linux:</a:t>
            </a:r>
            <a:endParaRPr b="0" lang="en-GB" sz="2000" spc="-1" strike="noStrike">
              <a:solidFill>
                <a:srgbClr val="000000"/>
              </a:solidFill>
              <a:latin typeface="Arial"/>
            </a:endParaRPr>
          </a:p>
        </p:txBody>
      </p:sp>
      <p:sp>
        <p:nvSpPr>
          <p:cNvPr id="187"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188"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189" name=""/>
          <p:cNvGraphicFramePr/>
          <p:nvPr/>
        </p:nvGraphicFramePr>
        <p:xfrm>
          <a:off x="1259640" y="1259640"/>
          <a:ext cx="8638920" cy="4034520"/>
        </p:xfrm>
        <a:graphic>
          <a:graphicData uri="http://schemas.openxmlformats.org/drawingml/2006/table">
            <a:tbl>
              <a:tblPr/>
              <a:tblGrid>
                <a:gridCol w="1198800"/>
                <a:gridCol w="2739960"/>
                <a:gridCol w="4700160"/>
              </a:tblGrid>
              <a:tr h="416160">
                <a:tc>
                  <a:txBody>
                    <a:bodyPr lIns="36000" rIns="36000" anchor="ctr">
                      <a:noAutofit/>
                    </a:bodyPr>
                    <a:p>
                      <a:pPr algn="ctr">
                        <a:lnSpc>
                          <a:spcPct val="100000"/>
                        </a:lnSpc>
                      </a:pPr>
                      <a:r>
                        <a:rPr b="1" lang="en-GB" sz="1600" spc="-1" strike="noStrike">
                          <a:solidFill>
                            <a:srgbClr val="000000"/>
                          </a:solidFill>
                          <a:latin typeface="Calibri"/>
                        </a:rPr>
                        <a:t>Year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Event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724040">
                <a:tc>
                  <a:txBody>
                    <a:bodyPr lIns="36000" rIns="36000" anchor="ctr">
                      <a:noAutofit/>
                    </a:bodyPr>
                    <a:p>
                      <a:pPr algn="ctr">
                        <a:lnSpc>
                          <a:spcPct val="100000"/>
                        </a:lnSpc>
                      </a:pPr>
                      <a:r>
                        <a:rPr b="0" lang="en-GB" sz="1600" spc="-1" strike="noStrike">
                          <a:solidFill>
                            <a:srgbClr val="000000"/>
                          </a:solidFill>
                          <a:latin typeface="Calibri"/>
                        </a:rPr>
                        <a:t>2000s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0" lang="en-GB" sz="1600" spc="-1" strike="noStrike">
                          <a:solidFill>
                            <a:srgbClr val="000000"/>
                          </a:solidFill>
                          <a:latin typeface="Calibri"/>
                        </a:rPr>
                        <a:t>Growth in Consumer Usage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User-friendly distributions like Ubuntu made Linux more accessible for personal computing.</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It began to be adopted by hobbyists, developers, and enterprises.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894320">
                <a:tc>
                  <a:txBody>
                    <a:bodyPr lIns="36000" rIns="36000" anchor="ctr">
                      <a:noAutofit/>
                    </a:bodyPr>
                    <a:p>
                      <a:pPr algn="ctr">
                        <a:lnSpc>
                          <a:spcPct val="100000"/>
                        </a:lnSpc>
                      </a:pPr>
                      <a:r>
                        <a:rPr b="0" lang="en-GB" sz="1600" spc="-1" strike="noStrike">
                          <a:solidFill>
                            <a:srgbClr val="000000"/>
                          </a:solidFill>
                          <a:latin typeface="Calibri"/>
                        </a:rPr>
                        <a:t>2008 and Beyond</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0" lang="en-GB" sz="1600" spc="-1" strike="noStrike">
                          <a:solidFill>
                            <a:srgbClr val="000000"/>
                          </a:solidFill>
                          <a:latin typeface="Calibri"/>
                        </a:rPr>
                        <a:t>Linux in Mobile and Embedded Systems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Android, based on the Linux kernel, revolutionized the mobile industry and became the world's most-used operating system.</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Linux also became dominant in embedded systems and IoT devices.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91"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92"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93"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94"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Uses of Linux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96"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97"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198"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199"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Uses of Linux:</a:t>
            </a:r>
            <a:endParaRPr b="0" lang="en-GB" sz="2000" spc="-1" strike="noStrike">
              <a:solidFill>
                <a:srgbClr val="000000"/>
              </a:solidFill>
              <a:latin typeface="Arial"/>
            </a:endParaRPr>
          </a:p>
        </p:txBody>
      </p:sp>
      <p:sp>
        <p:nvSpPr>
          <p:cNvPr id="200"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01"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202" name=""/>
          <p:cNvGraphicFramePr/>
          <p:nvPr/>
        </p:nvGraphicFramePr>
        <p:xfrm>
          <a:off x="1259640" y="1259640"/>
          <a:ext cx="8638920" cy="4092480"/>
        </p:xfrm>
        <a:graphic>
          <a:graphicData uri="http://schemas.openxmlformats.org/drawingml/2006/table">
            <a:tbl>
              <a:tblPr/>
              <a:tblGrid>
                <a:gridCol w="3180960"/>
                <a:gridCol w="5457960"/>
              </a:tblGrid>
              <a:tr h="416160">
                <a:tc>
                  <a:txBody>
                    <a:bodyPr lIns="36000" rIns="36000" anchor="ctr">
                      <a:noAutofit/>
                    </a:bodyPr>
                    <a:p>
                      <a:pPr algn="ctr">
                        <a:lnSpc>
                          <a:spcPct val="100000"/>
                        </a:lnSpc>
                      </a:pPr>
                      <a:r>
                        <a:rPr b="1" lang="en-GB" sz="1600" spc="-1" strike="noStrike">
                          <a:solidFill>
                            <a:srgbClr val="000000"/>
                          </a:solidFill>
                          <a:latin typeface="Calibri"/>
                        </a:rPr>
                        <a:t>Usage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333800">
                <a:tc>
                  <a:txBody>
                    <a:bodyPr lIns="36000" rIns="36000" anchor="ctr">
                      <a:noAutofit/>
                    </a:bodyPr>
                    <a:p>
                      <a:pPr algn="ctr">
                        <a:lnSpc>
                          <a:spcPct val="100000"/>
                        </a:lnSpc>
                      </a:pPr>
                      <a:r>
                        <a:rPr b="0" lang="en-GB" sz="1600" spc="-1" strike="noStrike">
                          <a:solidFill>
                            <a:srgbClr val="000000"/>
                          </a:solidFill>
                          <a:latin typeface="Calibri"/>
                        </a:rPr>
                        <a:t>Web Servers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A significant majority of web servers around the world run on Linux.</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Examples: Popular distributions like CentOS and Ubuntu are commonly used in hosting websites.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295280">
                <a:tc>
                  <a:txBody>
                    <a:bodyPr lIns="36000" rIns="36000" anchor="ctr">
                      <a:noAutofit/>
                    </a:bodyPr>
                    <a:p>
                      <a:pPr algn="ctr">
                        <a:lnSpc>
                          <a:spcPct val="100000"/>
                        </a:lnSpc>
                      </a:pPr>
                      <a:r>
                        <a:rPr b="0" lang="en-GB" sz="1600" spc="-1" strike="noStrike">
                          <a:solidFill>
                            <a:srgbClr val="000000"/>
                          </a:solidFill>
                          <a:latin typeface="Calibri"/>
                        </a:rPr>
                        <a:t>Personal Desktops and Laptops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distributions such as Ubuntu, Mint, and Fedora are widely used for personal computing, offering a secure and customizable alternative to proprietary operating systems.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0" lang="en-GB" sz="1600" spc="-1" strike="noStrike">
                          <a:solidFill>
                            <a:srgbClr val="000000"/>
                          </a:solidFill>
                          <a:latin typeface="Calibri"/>
                        </a:rPr>
                        <a:t>Supercomputers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Nearly all supercomputers in the world use Linux due to its scalability, stability, and performance.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04"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05"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06"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07"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Uses of Linux:</a:t>
            </a:r>
            <a:endParaRPr b="0" lang="en-GB" sz="2000" spc="-1" strike="noStrike">
              <a:solidFill>
                <a:srgbClr val="000000"/>
              </a:solidFill>
              <a:latin typeface="Arial"/>
            </a:endParaRPr>
          </a:p>
        </p:txBody>
      </p:sp>
      <p:sp>
        <p:nvSpPr>
          <p:cNvPr id="208"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09"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210" name=""/>
          <p:cNvGraphicFramePr/>
          <p:nvPr/>
        </p:nvGraphicFramePr>
        <p:xfrm>
          <a:off x="1259640" y="1259640"/>
          <a:ext cx="8638920" cy="4092480"/>
        </p:xfrm>
        <a:graphic>
          <a:graphicData uri="http://schemas.openxmlformats.org/drawingml/2006/table">
            <a:tbl>
              <a:tblPr/>
              <a:tblGrid>
                <a:gridCol w="3180960"/>
                <a:gridCol w="5457960"/>
              </a:tblGrid>
              <a:tr h="416160">
                <a:tc>
                  <a:txBody>
                    <a:bodyPr lIns="36000" rIns="36000" anchor="ctr">
                      <a:noAutofit/>
                    </a:bodyPr>
                    <a:p>
                      <a:pPr algn="ctr">
                        <a:lnSpc>
                          <a:spcPct val="100000"/>
                        </a:lnSpc>
                      </a:pPr>
                      <a:r>
                        <a:rPr b="1" lang="en-GB" sz="1600" spc="-1" strike="noStrike">
                          <a:solidFill>
                            <a:srgbClr val="000000"/>
                          </a:solidFill>
                          <a:latin typeface="Calibri"/>
                        </a:rPr>
                        <a:t>Usage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333800">
                <a:tc>
                  <a:txBody>
                    <a:bodyPr lIns="36000" rIns="36000" anchor="ctr">
                      <a:noAutofit/>
                    </a:bodyPr>
                    <a:p>
                      <a:pPr algn="ctr">
                        <a:lnSpc>
                          <a:spcPct val="100000"/>
                        </a:lnSpc>
                      </a:pPr>
                      <a:r>
                        <a:rPr b="0" lang="en-GB" sz="1600" spc="-1" strike="noStrike">
                          <a:solidFill>
                            <a:srgbClr val="000000"/>
                          </a:solidFill>
                          <a:latin typeface="Calibri"/>
                        </a:rPr>
                        <a:t>Embedded Systems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powers a variety of embedded systems, such as routers, TVs, automotive systems, and home automation devices.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295280">
                <a:tc>
                  <a:txBody>
                    <a:bodyPr lIns="36000" rIns="36000" anchor="ctr">
                      <a:noAutofit/>
                    </a:bodyPr>
                    <a:p>
                      <a:pPr algn="ctr">
                        <a:lnSpc>
                          <a:spcPct val="100000"/>
                        </a:lnSpc>
                      </a:pPr>
                      <a:r>
                        <a:rPr b="0" lang="en-GB" sz="1600" spc="-1" strike="noStrike">
                          <a:solidFill>
                            <a:srgbClr val="000000"/>
                          </a:solidFill>
                          <a:latin typeface="Calibri"/>
                        </a:rPr>
                        <a:t>Mobile Devices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Android, a widely used mobile operating system, is built on the Linux kernel.</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0" lang="en-GB" sz="1600" spc="-1" strike="noStrike">
                          <a:solidFill>
                            <a:srgbClr val="000000"/>
                          </a:solidFill>
                          <a:latin typeface="Calibri"/>
                        </a:rPr>
                        <a:t>Cloud Computing and Data Center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is the backbone of many cloud services and virtualized environments, including major platforms like AWS, Microsoft Azure, and Google Cloud.</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12"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13"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14"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15" name=""/>
          <p:cNvSpPr/>
          <p:nvPr/>
        </p:nvSpPr>
        <p:spPr>
          <a:xfrm>
            <a:off x="1079640" y="395640"/>
            <a:ext cx="287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Uses of Linux:</a:t>
            </a:r>
            <a:endParaRPr b="0" lang="en-GB" sz="2000" spc="-1" strike="noStrike">
              <a:solidFill>
                <a:srgbClr val="000000"/>
              </a:solidFill>
              <a:latin typeface="Arial"/>
            </a:endParaRPr>
          </a:p>
        </p:txBody>
      </p:sp>
      <p:sp>
        <p:nvSpPr>
          <p:cNvPr id="216"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17"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218" name=""/>
          <p:cNvGraphicFramePr/>
          <p:nvPr/>
        </p:nvGraphicFramePr>
        <p:xfrm>
          <a:off x="1259640" y="1259640"/>
          <a:ext cx="8638920" cy="4092480"/>
        </p:xfrm>
        <a:graphic>
          <a:graphicData uri="http://schemas.openxmlformats.org/drawingml/2006/table">
            <a:tbl>
              <a:tblPr/>
              <a:tblGrid>
                <a:gridCol w="3180960"/>
                <a:gridCol w="5457960"/>
              </a:tblGrid>
              <a:tr h="416160">
                <a:tc>
                  <a:txBody>
                    <a:bodyPr lIns="36000" rIns="36000" anchor="ctr">
                      <a:noAutofit/>
                    </a:bodyPr>
                    <a:p>
                      <a:pPr algn="ctr">
                        <a:lnSpc>
                          <a:spcPct val="100000"/>
                        </a:lnSpc>
                      </a:pPr>
                      <a:r>
                        <a:rPr b="1" lang="en-GB" sz="1600" spc="-1" strike="noStrike">
                          <a:solidFill>
                            <a:srgbClr val="000000"/>
                          </a:solidFill>
                          <a:latin typeface="Calibri"/>
                        </a:rPr>
                        <a:t>Usage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333800">
                <a:tc>
                  <a:txBody>
                    <a:bodyPr lIns="36000" rIns="36000" anchor="ctr">
                      <a:noAutofit/>
                    </a:bodyPr>
                    <a:p>
                      <a:pPr algn="ctr">
                        <a:lnSpc>
                          <a:spcPct val="100000"/>
                        </a:lnSpc>
                      </a:pPr>
                      <a:r>
                        <a:rPr b="0" lang="en-GB" sz="1600" spc="-1" strike="noStrike">
                          <a:solidFill>
                            <a:srgbClr val="000000"/>
                          </a:solidFill>
                          <a:latin typeface="Calibri"/>
                        </a:rPr>
                        <a:t>Programming and Development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provides a robust environment for developers, offering tools and platforms for software development, testing, and deployment.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295280">
                <a:tc>
                  <a:txBody>
                    <a:bodyPr lIns="36000" rIns="36000" anchor="ctr">
                      <a:noAutofit/>
                    </a:bodyPr>
                    <a:p>
                      <a:pPr algn="ctr">
                        <a:lnSpc>
                          <a:spcPct val="100000"/>
                        </a:lnSpc>
                      </a:pPr>
                      <a:r>
                        <a:rPr b="0" lang="en-GB" sz="1600" spc="-1" strike="noStrike">
                          <a:solidFill>
                            <a:srgbClr val="000000"/>
                          </a:solidFill>
                          <a:latin typeface="Calibri"/>
                        </a:rPr>
                        <a:t>Educational and Research Environments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Linux is popular in academic and research settings, offering cost-effective and flexible solutions for computer labs and experiments.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0" lang="en-GB" sz="1600" spc="-1" strike="noStrike">
                          <a:solidFill>
                            <a:srgbClr val="000000"/>
                          </a:solidFill>
                          <a:latin typeface="Calibri"/>
                        </a:rPr>
                        <a:t>Gaming</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With the rise of platforms like SteamOS (based on Linux), gaming on Linux has become more accessible and widely adopted.</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20"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21"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22"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23"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Popular Variants of Linux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25"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26"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27"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28"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Popular Variants of Linux:</a:t>
            </a:r>
            <a:endParaRPr b="0" lang="en-GB" sz="2000" spc="-1" strike="noStrike">
              <a:solidFill>
                <a:srgbClr val="000000"/>
              </a:solidFill>
              <a:latin typeface="Arial"/>
            </a:endParaRPr>
          </a:p>
        </p:txBody>
      </p:sp>
      <p:sp>
        <p:nvSpPr>
          <p:cNvPr id="229"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30"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31" name=""/>
          <p:cNvSpPr/>
          <p:nvPr/>
        </p:nvSpPr>
        <p:spPr>
          <a:xfrm>
            <a:off x="1214640" y="1779840"/>
            <a:ext cx="8323200" cy="2828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Linux has numerous variants, or distributions, tailored to different user needs. These distributions package the Linux kernel with system utilities, libraries, and applications, providing a complete operating system experience. A few examples are: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Ubuntu</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Kali Linux</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Fedora</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Linux Mint</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Debian</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Red Hat Enterprise Linux (RHEL)</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CentOS</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OpenSUSE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Arch Linux</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33"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34"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35"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36"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What is Kernel?</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38"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39"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40"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41"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What is Kernel?</a:t>
            </a:r>
            <a:endParaRPr b="0" lang="en-GB" sz="2000" spc="-1" strike="noStrike">
              <a:solidFill>
                <a:srgbClr val="000000"/>
              </a:solidFill>
              <a:latin typeface="Arial"/>
            </a:endParaRPr>
          </a:p>
        </p:txBody>
      </p:sp>
      <p:sp>
        <p:nvSpPr>
          <p:cNvPr id="242"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43"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44" name=""/>
          <p:cNvSpPr/>
          <p:nvPr/>
        </p:nvSpPr>
        <p:spPr>
          <a:xfrm>
            <a:off x="1214640" y="1432440"/>
            <a:ext cx="8323200" cy="373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The kernel is the core and foundational component of the Linux operating system.</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It acts as a bridge between software applications and the hardware of a computer, ensuring smooth communication and efficient resource management.</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Functions of the Kernel:</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Resource Management: Manages CPU, memory, and storage, allocating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them to different processes as needed.</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Hardware Interaction: Acts as an intermediary between hardware devices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and software applications.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Process Control: Handles the execution of processes, multitasking, and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scheduling.</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System Security: Protects data and ensures secure communication within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the system.</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46"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47"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48"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49"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What is a Linux Shell?</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51"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52"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53"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54"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What is a Linux Shell?</a:t>
            </a:r>
            <a:endParaRPr b="0" lang="en-GB" sz="2000" spc="-1" strike="noStrike">
              <a:solidFill>
                <a:srgbClr val="000000"/>
              </a:solidFill>
              <a:latin typeface="Arial"/>
            </a:endParaRPr>
          </a:p>
        </p:txBody>
      </p:sp>
      <p:sp>
        <p:nvSpPr>
          <p:cNvPr id="255"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56"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57" name=""/>
          <p:cNvSpPr/>
          <p:nvPr/>
        </p:nvSpPr>
        <p:spPr>
          <a:xfrm>
            <a:off x="1214640" y="1477440"/>
            <a:ext cx="8323200" cy="3433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A Linux Shell is a command-line interface that acts as an intermediary between the user and the Linux operating system.</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It allows users to interact with the system by entering commands, which the shell interprets and passes to the kernel for execution.</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Key Features of a Linux Shell:</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Command Interpretation.</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Scripting Capabilities.</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Customizability.</a:t>
            </a:r>
            <a:endParaRPr b="0" lang="en-GB" sz="1800" spc="-1" strike="noStrike">
              <a:solidFill>
                <a:srgbClr val="000000"/>
              </a:solidFill>
              <a:latin typeface="Arial"/>
            </a:endParaRPr>
          </a:p>
          <a:p>
            <a:pPr>
              <a:lnSpc>
                <a:spcPct val="100000"/>
              </a:lnSpc>
            </a:pP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59"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60"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61"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62"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What is a Linux Shell?</a:t>
            </a:r>
            <a:endParaRPr b="0" lang="en-GB" sz="2000" spc="-1" strike="noStrike">
              <a:solidFill>
                <a:srgbClr val="000000"/>
              </a:solidFill>
              <a:latin typeface="Arial"/>
            </a:endParaRPr>
          </a:p>
        </p:txBody>
      </p:sp>
      <p:sp>
        <p:nvSpPr>
          <p:cNvPr id="263"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64"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pic>
        <p:nvPicPr>
          <p:cNvPr id="265" name="" descr=""/>
          <p:cNvPicPr/>
          <p:nvPr/>
        </p:nvPicPr>
        <p:blipFill>
          <a:blip r:embed="rId1"/>
          <a:stretch/>
        </p:blipFill>
        <p:spPr>
          <a:xfrm>
            <a:off x="2207160" y="1340640"/>
            <a:ext cx="6611040" cy="400500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67"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68"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69"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70"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Architecture of Linux Operating System</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72"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73"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74"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75"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Architecture of Linux Operating System:</a:t>
            </a:r>
            <a:endParaRPr b="0" lang="en-GB" sz="2000" spc="-1" strike="noStrike">
              <a:solidFill>
                <a:srgbClr val="000000"/>
              </a:solidFill>
              <a:latin typeface="Arial"/>
            </a:endParaRPr>
          </a:p>
        </p:txBody>
      </p:sp>
      <p:sp>
        <p:nvSpPr>
          <p:cNvPr id="276"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77"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278" name=""/>
          <p:cNvGraphicFramePr/>
          <p:nvPr/>
        </p:nvGraphicFramePr>
        <p:xfrm>
          <a:off x="1259640" y="1259640"/>
          <a:ext cx="8638920" cy="4173120"/>
        </p:xfrm>
        <a:graphic>
          <a:graphicData uri="http://schemas.openxmlformats.org/drawingml/2006/table">
            <a:tbl>
              <a:tblPr/>
              <a:tblGrid>
                <a:gridCol w="3180960"/>
                <a:gridCol w="5457960"/>
              </a:tblGrid>
              <a:tr h="416160">
                <a:tc>
                  <a:txBody>
                    <a:bodyPr lIns="36000" rIns="36000" anchor="ctr">
                      <a:noAutofit/>
                    </a:bodyPr>
                    <a:p>
                      <a:pPr algn="ctr">
                        <a:lnSpc>
                          <a:spcPct val="100000"/>
                        </a:lnSpc>
                      </a:pPr>
                      <a:r>
                        <a:rPr b="1" lang="en-GB" sz="1600" spc="-1" strike="noStrike">
                          <a:solidFill>
                            <a:srgbClr val="000000"/>
                          </a:solidFill>
                          <a:latin typeface="Calibri"/>
                        </a:rPr>
                        <a:t>Layer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333800">
                <a:tc>
                  <a:txBody>
                    <a:bodyPr lIns="36000" rIns="36000" anchor="ctr">
                      <a:noAutofit/>
                    </a:bodyPr>
                    <a:p>
                      <a:pPr algn="ctr">
                        <a:lnSpc>
                          <a:spcPct val="100000"/>
                        </a:lnSpc>
                      </a:pPr>
                      <a:r>
                        <a:rPr b="0" lang="en-GB" sz="1600" spc="-1" strike="noStrike">
                          <a:solidFill>
                            <a:srgbClr val="000000"/>
                          </a:solidFill>
                          <a:latin typeface="Calibri"/>
                        </a:rPr>
                        <a:t>Hardware Layer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This is the physical layer that includes the computer's hardware components, such as the CPU, memory, and storage devices.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295280">
                <a:tc>
                  <a:txBody>
                    <a:bodyPr lIns="36000" rIns="36000" anchor="ctr">
                      <a:noAutofit/>
                    </a:bodyPr>
                    <a:p>
                      <a:pPr algn="ctr">
                        <a:lnSpc>
                          <a:spcPct val="100000"/>
                        </a:lnSpc>
                      </a:pPr>
                      <a:r>
                        <a:rPr b="0" lang="en-GB" sz="1600" spc="-1" strike="noStrike">
                          <a:solidFill>
                            <a:srgbClr val="000000"/>
                          </a:solidFill>
                          <a:latin typeface="Calibri"/>
                        </a:rPr>
                        <a:t>Kernel Layer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The core part of Linux, responsible for managing hardware and system resources.</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Functions: Process management, memory management, device control, and system security.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128240">
                <a:tc>
                  <a:txBody>
                    <a:bodyPr lIns="36000" rIns="36000" anchor="ctr">
                      <a:noAutofit/>
                    </a:bodyPr>
                    <a:p>
                      <a:pPr algn="ctr">
                        <a:lnSpc>
                          <a:spcPct val="100000"/>
                        </a:lnSpc>
                      </a:pPr>
                      <a:r>
                        <a:rPr b="0" lang="en-GB" sz="1600" spc="-1" strike="noStrike">
                          <a:solidFill>
                            <a:srgbClr val="000000"/>
                          </a:solidFill>
                          <a:latin typeface="Calibri"/>
                        </a:rPr>
                        <a:t>System Libraries Layer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Contains libraries that provide functionalities for software applications.</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Example: GNU C Library (glibc) enables interaction with the kernel.</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80"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81"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82"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83"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Architecture of Linux Operating System:</a:t>
            </a:r>
            <a:endParaRPr b="0" lang="en-GB" sz="2000" spc="-1" strike="noStrike">
              <a:solidFill>
                <a:srgbClr val="000000"/>
              </a:solidFill>
              <a:latin typeface="Arial"/>
            </a:endParaRPr>
          </a:p>
        </p:txBody>
      </p:sp>
      <p:sp>
        <p:nvSpPr>
          <p:cNvPr id="284"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85"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286" name=""/>
          <p:cNvGraphicFramePr/>
          <p:nvPr/>
        </p:nvGraphicFramePr>
        <p:xfrm>
          <a:off x="1259640" y="1672200"/>
          <a:ext cx="8638920" cy="3044880"/>
        </p:xfrm>
        <a:graphic>
          <a:graphicData uri="http://schemas.openxmlformats.org/drawingml/2006/table">
            <a:tbl>
              <a:tblPr/>
              <a:tblGrid>
                <a:gridCol w="3180960"/>
                <a:gridCol w="5457960"/>
              </a:tblGrid>
              <a:tr h="416160">
                <a:tc>
                  <a:txBody>
                    <a:bodyPr lIns="36000" rIns="36000" anchor="ctr">
                      <a:noAutofit/>
                    </a:bodyPr>
                    <a:p>
                      <a:pPr algn="ctr">
                        <a:lnSpc>
                          <a:spcPct val="100000"/>
                        </a:lnSpc>
                      </a:pPr>
                      <a:r>
                        <a:rPr b="1" lang="en-GB" sz="1600" spc="-1" strike="noStrike">
                          <a:solidFill>
                            <a:srgbClr val="000000"/>
                          </a:solidFill>
                          <a:latin typeface="Calibri"/>
                        </a:rPr>
                        <a:t>Layer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Description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333800">
                <a:tc>
                  <a:txBody>
                    <a:bodyPr lIns="36000" rIns="36000" anchor="ctr">
                      <a:noAutofit/>
                    </a:bodyPr>
                    <a:p>
                      <a:pPr algn="ctr">
                        <a:lnSpc>
                          <a:spcPct val="100000"/>
                        </a:lnSpc>
                      </a:pPr>
                      <a:r>
                        <a:rPr b="0" lang="en-GB" sz="1600" spc="-1" strike="noStrike">
                          <a:solidFill>
                            <a:srgbClr val="000000"/>
                          </a:solidFill>
                          <a:latin typeface="Calibri"/>
                        </a:rPr>
                        <a:t>System Utilities Layer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Includes basic tools and programs that allow users to perform system-related operations, such as file management and process control.</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294920">
                <a:tc>
                  <a:txBody>
                    <a:bodyPr lIns="36000" rIns="36000" anchor="ctr">
                      <a:noAutofit/>
                    </a:bodyPr>
                    <a:p>
                      <a:pPr algn="ctr">
                        <a:lnSpc>
                          <a:spcPct val="100000"/>
                        </a:lnSpc>
                      </a:pPr>
                      <a:r>
                        <a:rPr b="0" lang="en-GB" sz="1600" spc="-1" strike="noStrike">
                          <a:solidFill>
                            <a:srgbClr val="000000"/>
                          </a:solidFill>
                          <a:latin typeface="Calibri"/>
                        </a:rPr>
                        <a:t>User Space Layer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Includes all applications and programs run by users.</a:t>
                      </a:r>
                      <a:endParaRPr b="0" lang="en-GB" sz="1600" spc="-1" strike="noStrike">
                        <a:solidFill>
                          <a:srgbClr val="000000"/>
                        </a:solidFill>
                        <a:latin typeface="Calibri"/>
                      </a:endParaRPr>
                    </a:p>
                    <a:p>
                      <a:pPr>
                        <a:lnSpc>
                          <a:spcPct val="100000"/>
                        </a:lnSpc>
                      </a:pPr>
                      <a:endParaRPr b="0" lang="en-GB" sz="1600" spc="-1" strike="noStrike">
                        <a:solidFill>
                          <a:srgbClr val="000000"/>
                        </a:solidFill>
                        <a:latin typeface="Calibri"/>
                      </a:endParaRPr>
                    </a:p>
                    <a:p>
                      <a:pPr>
                        <a:lnSpc>
                          <a:spcPct val="100000"/>
                        </a:lnSpc>
                      </a:pPr>
                      <a:r>
                        <a:rPr b="0" lang="en-GB" sz="1600" spc="-1" strike="noStrike">
                          <a:solidFill>
                            <a:srgbClr val="000000"/>
                          </a:solidFill>
                          <a:latin typeface="Calibri"/>
                        </a:rPr>
                        <a:t>Provides an environment for user interfaces, graphical user interfaces (GUIs), and shell interactions.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88"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89"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90"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91"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User Space and Kernel Space</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93"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94"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295"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296"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User Space and Kernel Space:</a:t>
            </a:r>
            <a:endParaRPr b="0" lang="en-GB" sz="2000" spc="-1" strike="noStrike">
              <a:solidFill>
                <a:srgbClr val="000000"/>
              </a:solidFill>
              <a:latin typeface="Arial"/>
            </a:endParaRPr>
          </a:p>
        </p:txBody>
      </p:sp>
      <p:sp>
        <p:nvSpPr>
          <p:cNvPr id="297"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298"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299" name=""/>
          <p:cNvGraphicFramePr/>
          <p:nvPr/>
        </p:nvGraphicFramePr>
        <p:xfrm>
          <a:off x="1259640" y="1259640"/>
          <a:ext cx="8606880" cy="4130640"/>
        </p:xfrm>
        <a:graphic>
          <a:graphicData uri="http://schemas.openxmlformats.org/drawingml/2006/table">
            <a:tbl>
              <a:tblPr/>
              <a:tblGrid>
                <a:gridCol w="1664280"/>
                <a:gridCol w="3161880"/>
                <a:gridCol w="3780720"/>
              </a:tblGrid>
              <a:tr h="416160">
                <a:tc>
                  <a:txBody>
                    <a:bodyPr lIns="36000" rIns="36000" anchor="ctr">
                      <a:noAutofit/>
                    </a:bodyPr>
                    <a:p>
                      <a:pPr algn="ctr">
                        <a:lnSpc>
                          <a:spcPct val="100000"/>
                        </a:lnSpc>
                      </a:pPr>
                      <a:r>
                        <a:rPr b="1" lang="en-GB" sz="1600" spc="-1" strike="noStrike">
                          <a:solidFill>
                            <a:srgbClr val="000000"/>
                          </a:solidFill>
                          <a:latin typeface="Calibri"/>
                        </a:rPr>
                        <a:t>Aspect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Kernel Space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User Space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67240">
                <a:tc>
                  <a:txBody>
                    <a:bodyPr lIns="36000" rIns="36000" anchor="ctr">
                      <a:noAutofit/>
                    </a:bodyPr>
                    <a:p>
                      <a:pPr algn="ctr">
                        <a:lnSpc>
                          <a:spcPct val="100000"/>
                        </a:lnSpc>
                      </a:pPr>
                      <a:r>
                        <a:rPr b="1" lang="en-GB" sz="1600" spc="-1" strike="noStrike">
                          <a:solidFill>
                            <a:srgbClr val="000000"/>
                          </a:solidFill>
                          <a:latin typeface="Calibri"/>
                        </a:rPr>
                        <a:t>Definition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The memory space where the core of the operating system (kernel) operates.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The memory space where user applications and processes run.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752400">
                <a:tc>
                  <a:txBody>
                    <a:bodyPr lIns="36000" rIns="36000" anchor="ctr">
                      <a:noAutofit/>
                    </a:bodyPr>
                    <a:p>
                      <a:pPr algn="ctr">
                        <a:lnSpc>
                          <a:spcPct val="100000"/>
                        </a:lnSpc>
                      </a:pPr>
                      <a:r>
                        <a:rPr b="1" lang="en-GB" sz="1600" spc="-1" strike="noStrike">
                          <a:solidFill>
                            <a:srgbClr val="000000"/>
                          </a:solidFill>
                          <a:latin typeface="Calibri"/>
                        </a:rPr>
                        <a:t>Access Level</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ea typeface="Microsoft YaHei"/>
                        </a:rPr>
                        <a:t>Limited access, restricted to ensure system security and stability.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Has privileged access to all hardware resources and system processes. </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600">
                <a:tc>
                  <a:txBody>
                    <a:bodyPr lIns="36000" rIns="36000" anchor="ctr">
                      <a:noAutofit/>
                    </a:bodyPr>
                    <a:p>
                      <a:pPr algn="ctr">
                        <a:lnSpc>
                          <a:spcPct val="100000"/>
                        </a:lnSpc>
                      </a:pPr>
                      <a:r>
                        <a:rPr b="1" lang="en-GB" sz="1600" spc="-1" strike="noStrike">
                          <a:solidFill>
                            <a:srgbClr val="000000"/>
                          </a:solidFill>
                          <a:latin typeface="Calibri"/>
                        </a:rPr>
                        <a:t>Operations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Executes high-level tasks such as running applications and user programs.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Performs low-level operations such as device management and system calls.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1" lang="en-GB" sz="1600" spc="-1" strike="noStrike">
                          <a:solidFill>
                            <a:srgbClr val="000000"/>
                          </a:solidFill>
                          <a:latin typeface="Calibri"/>
                        </a:rPr>
                        <a:t>Memory Protection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ea typeface="Microsoft YaHei"/>
                        </a:rPr>
                        <a:t>Isolated from kernel space to avoid interference with critical functions.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Protected from unauthorized access, ensuring stability and preventing errors.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01"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02"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03"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04"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User Space and Kernel Space:</a:t>
            </a:r>
            <a:endParaRPr b="0" lang="en-GB" sz="2000" spc="-1" strike="noStrike">
              <a:solidFill>
                <a:srgbClr val="000000"/>
              </a:solidFill>
              <a:latin typeface="Arial"/>
            </a:endParaRPr>
          </a:p>
        </p:txBody>
      </p:sp>
      <p:sp>
        <p:nvSpPr>
          <p:cNvPr id="305"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06"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307" name=""/>
          <p:cNvGraphicFramePr/>
          <p:nvPr/>
        </p:nvGraphicFramePr>
        <p:xfrm>
          <a:off x="1259640" y="1259640"/>
          <a:ext cx="8606880" cy="4130640"/>
        </p:xfrm>
        <a:graphic>
          <a:graphicData uri="http://schemas.openxmlformats.org/drawingml/2006/table">
            <a:tbl>
              <a:tblPr/>
              <a:tblGrid>
                <a:gridCol w="1664280"/>
                <a:gridCol w="3161880"/>
                <a:gridCol w="3780720"/>
              </a:tblGrid>
              <a:tr h="416160">
                <a:tc>
                  <a:txBody>
                    <a:bodyPr lIns="36000" rIns="36000" anchor="ctr">
                      <a:noAutofit/>
                    </a:bodyPr>
                    <a:p>
                      <a:pPr algn="ctr">
                        <a:lnSpc>
                          <a:spcPct val="100000"/>
                        </a:lnSpc>
                      </a:pPr>
                      <a:r>
                        <a:rPr b="1" lang="en-GB" sz="1600" spc="-1" strike="noStrike">
                          <a:solidFill>
                            <a:srgbClr val="000000"/>
                          </a:solidFill>
                          <a:latin typeface="Calibri"/>
                        </a:rPr>
                        <a:t>Aspect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Kernel Space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User Space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67240">
                <a:tc>
                  <a:txBody>
                    <a:bodyPr lIns="36000" rIns="36000" anchor="ctr">
                      <a:noAutofit/>
                    </a:bodyPr>
                    <a:p>
                      <a:pPr algn="ctr">
                        <a:lnSpc>
                          <a:spcPct val="100000"/>
                        </a:lnSpc>
                      </a:pPr>
                      <a:r>
                        <a:rPr b="1" lang="en-GB" sz="1600" spc="-1" strike="noStrike">
                          <a:solidFill>
                            <a:srgbClr val="000000"/>
                          </a:solidFill>
                          <a:latin typeface="Calibri"/>
                        </a:rPr>
                        <a:t>Examples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Device drivers, process scheduler, memory manager.</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Applications like web browsers, media players, and user-created scripts.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752400">
                <a:tc>
                  <a:txBody>
                    <a:bodyPr lIns="36000" rIns="36000" anchor="ctr">
                      <a:noAutofit/>
                    </a:bodyPr>
                    <a:p>
                      <a:pPr algn="ctr">
                        <a:lnSpc>
                          <a:spcPct val="100000"/>
                        </a:lnSpc>
                      </a:pPr>
                      <a:r>
                        <a:rPr b="1" lang="en-GB" sz="1600" spc="-1" strike="noStrike">
                          <a:solidFill>
                            <a:srgbClr val="000000"/>
                          </a:solidFill>
                          <a:latin typeface="Calibri"/>
                        </a:rPr>
                        <a:t>Interaction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Communicates with User Space via system calls (e.g., file operations).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Relies on system calls to interact with Kernel Space (e.g., accessing hardware).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600">
                <a:tc>
                  <a:txBody>
                    <a:bodyPr lIns="36000" rIns="36000" anchor="ctr">
                      <a:noAutofit/>
                    </a:bodyPr>
                    <a:p>
                      <a:pPr algn="ctr">
                        <a:lnSpc>
                          <a:spcPct val="100000"/>
                        </a:lnSpc>
                      </a:pPr>
                      <a:r>
                        <a:rPr b="1" lang="en-GB" sz="1600" spc="-1" strike="noStrike">
                          <a:solidFill>
                            <a:srgbClr val="000000"/>
                          </a:solidFill>
                          <a:latin typeface="Calibri"/>
                        </a:rPr>
                        <a:t>Data Handling</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Directly manages hardware-level data such as I/O and memory allocation. </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Handles user data and interacts with files or network resources indirectly.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1" lang="en-GB" sz="1600" spc="-1" strike="noStrike">
                          <a:solidFill>
                            <a:srgbClr val="000000"/>
                          </a:solidFill>
                          <a:latin typeface="Calibri"/>
                        </a:rPr>
                        <a:t>Crash Impact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Errors in Kernel Space can lead to system-wide crashes.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Errors in User Space generally affect only the specific application or process.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09"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10"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11"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12"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Advantages of Linux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14"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15"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16"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17"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Advantages of Linux:</a:t>
            </a:r>
            <a:endParaRPr b="0" lang="en-GB" sz="2000" spc="-1" strike="noStrike">
              <a:solidFill>
                <a:srgbClr val="000000"/>
              </a:solidFill>
              <a:latin typeface="Arial"/>
            </a:endParaRPr>
          </a:p>
        </p:txBody>
      </p:sp>
      <p:sp>
        <p:nvSpPr>
          <p:cNvPr id="318"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19"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20" name=""/>
          <p:cNvSpPr/>
          <p:nvPr/>
        </p:nvSpPr>
        <p:spPr>
          <a:xfrm>
            <a:off x="1214640" y="1706040"/>
            <a:ext cx="8323200" cy="297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Open Source.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Low Cost.</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Stability and Reliability.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Security.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Performance.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Customizability.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Versatility.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Hardware Compatibility.</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22"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23"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24"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25"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Features of Linux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27"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28"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29"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30" name=""/>
          <p:cNvSpPr/>
          <p:nvPr/>
        </p:nvSpPr>
        <p:spPr>
          <a:xfrm>
            <a:off x="1079640" y="395640"/>
            <a:ext cx="305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Features of Linux:</a:t>
            </a:r>
            <a:endParaRPr b="0" lang="en-GB" sz="2000" spc="-1" strike="noStrike">
              <a:solidFill>
                <a:srgbClr val="000000"/>
              </a:solidFill>
              <a:latin typeface="Arial"/>
            </a:endParaRPr>
          </a:p>
        </p:txBody>
      </p:sp>
      <p:sp>
        <p:nvSpPr>
          <p:cNvPr id="331"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32"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33" name=""/>
          <p:cNvSpPr/>
          <p:nvPr/>
        </p:nvSpPr>
        <p:spPr>
          <a:xfrm>
            <a:off x="1214640" y="1706040"/>
            <a:ext cx="8323200" cy="373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Open Source.</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Performance Optimization.</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Multi-User Support.</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Software Repository.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Multi-Tasking.</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Virtualization.</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Portability.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Security.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Stability.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Shell Interface.</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Hardware Compatibility.</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File System Support.</a:t>
            </a:r>
            <a:endParaRPr b="0" lang="en-GB" sz="1800" spc="-1" strike="noStrike">
              <a:solidFill>
                <a:srgbClr val="000000"/>
              </a:solidFill>
              <a:latin typeface="Arial"/>
            </a:endParaRPr>
          </a:p>
          <a:p>
            <a:pPr>
              <a:lnSpc>
                <a:spcPct val="100000"/>
              </a:lnSpc>
            </a:pPr>
            <a:r>
              <a:rPr b="0" lang="en-GB" sz="1800" spc="-1" strike="noStrike">
                <a:solidFill>
                  <a:srgbClr val="000000"/>
                </a:solidFill>
                <a:latin typeface="MS PGothic"/>
                <a:ea typeface="DejaVu Sans"/>
              </a:rPr>
              <a:t>	</a:t>
            </a:r>
            <a:r>
              <a:rPr b="0" lang="en-GB" sz="1800" spc="-1" strike="noStrike">
                <a:solidFill>
                  <a:srgbClr val="000000"/>
                </a:solidFill>
                <a:latin typeface="MS PGothic"/>
                <a:ea typeface="DejaVu Sans"/>
              </a:rPr>
              <a:t>Modularity</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35"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36"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37"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38"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Linux VS Windows</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40"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41"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42"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43"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Linux vs Windows:</a:t>
            </a:r>
            <a:endParaRPr b="0" lang="en-GB" sz="2000" spc="-1" strike="noStrike">
              <a:solidFill>
                <a:srgbClr val="000000"/>
              </a:solidFill>
              <a:latin typeface="Arial"/>
            </a:endParaRPr>
          </a:p>
        </p:txBody>
      </p:sp>
      <p:sp>
        <p:nvSpPr>
          <p:cNvPr id="344"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45"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346" name=""/>
          <p:cNvGraphicFramePr/>
          <p:nvPr/>
        </p:nvGraphicFramePr>
        <p:xfrm>
          <a:off x="1259640" y="1259640"/>
          <a:ext cx="8606880" cy="4130640"/>
        </p:xfrm>
        <a:graphic>
          <a:graphicData uri="http://schemas.openxmlformats.org/drawingml/2006/table">
            <a:tbl>
              <a:tblPr/>
              <a:tblGrid>
                <a:gridCol w="1664280"/>
                <a:gridCol w="3161880"/>
                <a:gridCol w="3780720"/>
              </a:tblGrid>
              <a:tr h="416160">
                <a:tc>
                  <a:txBody>
                    <a:bodyPr lIns="36000" rIns="36000" anchor="ctr">
                      <a:noAutofit/>
                    </a:bodyPr>
                    <a:p>
                      <a:pPr algn="ctr">
                        <a:lnSpc>
                          <a:spcPct val="100000"/>
                        </a:lnSpc>
                      </a:pPr>
                      <a:r>
                        <a:rPr b="1" lang="en-GB" sz="1600" spc="-1" strike="noStrike">
                          <a:solidFill>
                            <a:srgbClr val="000000"/>
                          </a:solidFill>
                          <a:latin typeface="Calibri"/>
                        </a:rPr>
                        <a:t>Aspect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Windows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67240">
                <a:tc>
                  <a:txBody>
                    <a:bodyPr lIns="36000" rIns="36000" anchor="ctr">
                      <a:noAutofit/>
                    </a:bodyPr>
                    <a:p>
                      <a:pPr algn="ctr">
                        <a:lnSpc>
                          <a:spcPct val="100000"/>
                        </a:lnSpc>
                      </a:pPr>
                      <a:r>
                        <a:rPr b="1" lang="en-GB" sz="1600" spc="-1" strike="noStrike">
                          <a:solidFill>
                            <a:srgbClr val="000000"/>
                          </a:solidFill>
                          <a:latin typeface="Calibri"/>
                        </a:rPr>
                        <a:t>Source Code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Open-source: Source code is publicly available and modifiable.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Closed-source: Proprietary code owned by Microsoft.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752400">
                <a:tc>
                  <a:txBody>
                    <a:bodyPr lIns="36000" rIns="36000" anchor="ctr">
                      <a:noAutofit/>
                    </a:bodyPr>
                    <a:p>
                      <a:pPr algn="ctr">
                        <a:lnSpc>
                          <a:spcPct val="100000"/>
                        </a:lnSpc>
                      </a:pPr>
                      <a:r>
                        <a:rPr b="1" lang="en-GB" sz="1600" spc="-1" strike="noStrike">
                          <a:solidFill>
                            <a:srgbClr val="000000"/>
                          </a:solidFill>
                          <a:latin typeface="Calibri"/>
                        </a:rPr>
                        <a:t>Cost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Free (most distributions) or minimal costs for enterprise versions.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Generally requires a purchased license for use.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600">
                <a:tc>
                  <a:txBody>
                    <a:bodyPr lIns="36000" rIns="36000" anchor="ctr">
                      <a:noAutofit/>
                    </a:bodyPr>
                    <a:p>
                      <a:pPr algn="ctr">
                        <a:lnSpc>
                          <a:spcPct val="100000"/>
                        </a:lnSpc>
                      </a:pPr>
                      <a:r>
                        <a:rPr b="1" lang="en-GB" sz="1600" spc="-1" strike="noStrike">
                          <a:solidFill>
                            <a:srgbClr val="000000"/>
                          </a:solidFill>
                          <a:latin typeface="Calibri"/>
                        </a:rPr>
                        <a:t>Customizability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Highly customizable: Users can modify the OS and its appearance.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Limited customization options compared to 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1" lang="en-GB" sz="1600" spc="-1" strike="noStrike">
                          <a:solidFill>
                            <a:srgbClr val="000000"/>
                          </a:solidFill>
                          <a:latin typeface="Calibri"/>
                        </a:rPr>
                        <a:t>User Interface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Offers both GUI and CLI (e.g., GNOME, KDE, terminal).</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Primarily GUI, with some CLI options via Command Prompt or Power-Shell.</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48"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49"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50"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51"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Linux vs Windows:</a:t>
            </a:r>
            <a:endParaRPr b="0" lang="en-GB" sz="2000" spc="-1" strike="noStrike">
              <a:solidFill>
                <a:srgbClr val="000000"/>
              </a:solidFill>
              <a:latin typeface="Arial"/>
            </a:endParaRPr>
          </a:p>
        </p:txBody>
      </p:sp>
      <p:sp>
        <p:nvSpPr>
          <p:cNvPr id="352"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53"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354" name=""/>
          <p:cNvGraphicFramePr/>
          <p:nvPr/>
        </p:nvGraphicFramePr>
        <p:xfrm>
          <a:off x="1259640" y="1259640"/>
          <a:ext cx="8606880" cy="4130640"/>
        </p:xfrm>
        <a:graphic>
          <a:graphicData uri="http://schemas.openxmlformats.org/drawingml/2006/table">
            <a:tbl>
              <a:tblPr/>
              <a:tblGrid>
                <a:gridCol w="1664280"/>
                <a:gridCol w="3161880"/>
                <a:gridCol w="3780720"/>
              </a:tblGrid>
              <a:tr h="416160">
                <a:tc>
                  <a:txBody>
                    <a:bodyPr lIns="36000" rIns="36000" anchor="ctr">
                      <a:noAutofit/>
                    </a:bodyPr>
                    <a:p>
                      <a:pPr algn="ctr">
                        <a:lnSpc>
                          <a:spcPct val="100000"/>
                        </a:lnSpc>
                      </a:pPr>
                      <a:r>
                        <a:rPr b="1" lang="en-GB" sz="1600" spc="-1" strike="noStrike">
                          <a:solidFill>
                            <a:srgbClr val="000000"/>
                          </a:solidFill>
                          <a:latin typeface="Calibri"/>
                        </a:rPr>
                        <a:t>Aspect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Windows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67240">
                <a:tc>
                  <a:txBody>
                    <a:bodyPr lIns="36000" rIns="36000" anchor="ctr">
                      <a:noAutofit/>
                    </a:bodyPr>
                    <a:p>
                      <a:pPr algn="ctr">
                        <a:lnSpc>
                          <a:spcPct val="100000"/>
                        </a:lnSpc>
                      </a:pPr>
                      <a:r>
                        <a:rPr b="1" lang="en-GB" sz="1600" spc="-1" strike="noStrike">
                          <a:solidFill>
                            <a:srgbClr val="000000"/>
                          </a:solidFill>
                          <a:latin typeface="Calibri"/>
                        </a:rPr>
                        <a:t>Security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More secure due to user permissions and open-source scrutiny.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Regularly targeted by malware and viruses; requires antivirus software.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752400">
                <a:tc>
                  <a:txBody>
                    <a:bodyPr lIns="36000" rIns="36000" anchor="ctr">
                      <a:noAutofit/>
                    </a:bodyPr>
                    <a:p>
                      <a:pPr algn="ctr">
                        <a:lnSpc>
                          <a:spcPct val="100000"/>
                        </a:lnSpc>
                      </a:pPr>
                      <a:r>
                        <a:rPr b="1" lang="en-GB" sz="1600" spc="-1" strike="noStrike">
                          <a:solidFill>
                            <a:srgbClr val="000000"/>
                          </a:solidFill>
                          <a:latin typeface="Calibri"/>
                        </a:rPr>
                        <a:t>Performance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Lightweight; efficient even on older hardware.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Heavier resource usage, especially in newer versions.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600">
                <a:tc>
                  <a:txBody>
                    <a:bodyPr lIns="36000" rIns="36000" anchor="ctr">
                      <a:noAutofit/>
                    </a:bodyPr>
                    <a:p>
                      <a:pPr algn="ctr">
                        <a:lnSpc>
                          <a:spcPct val="100000"/>
                        </a:lnSpc>
                      </a:pPr>
                      <a:r>
                        <a:rPr b="1" lang="en-GB" sz="1600" spc="-1" strike="noStrike">
                          <a:solidFill>
                            <a:srgbClr val="000000"/>
                          </a:solidFill>
                          <a:latin typeface="Calibri"/>
                        </a:rPr>
                        <a:t>File Systems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Supports Ext2/Ext3/Ext4, Btrfs, XFS, etc.</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Uses NTFS, FAT32, and exFAT.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1" lang="en-GB" sz="1600" spc="-1" strike="noStrike">
                          <a:solidFill>
                            <a:srgbClr val="000000"/>
                          </a:solidFill>
                          <a:latin typeface="Calibri"/>
                        </a:rPr>
                        <a:t>Software Compatibility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Supports open-source applications; limited for some proprietary software.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Supports a wide range of proprietary software and applications.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56"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57"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58"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59"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Linux vs Windows:</a:t>
            </a:r>
            <a:endParaRPr b="0" lang="en-GB" sz="2000" spc="-1" strike="noStrike">
              <a:solidFill>
                <a:srgbClr val="000000"/>
              </a:solidFill>
              <a:latin typeface="Arial"/>
            </a:endParaRPr>
          </a:p>
        </p:txBody>
      </p:sp>
      <p:sp>
        <p:nvSpPr>
          <p:cNvPr id="360"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61"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362" name=""/>
          <p:cNvGraphicFramePr/>
          <p:nvPr/>
        </p:nvGraphicFramePr>
        <p:xfrm>
          <a:off x="1259640" y="1259640"/>
          <a:ext cx="8606880" cy="4130640"/>
        </p:xfrm>
        <a:graphic>
          <a:graphicData uri="http://schemas.openxmlformats.org/drawingml/2006/table">
            <a:tbl>
              <a:tblPr/>
              <a:tblGrid>
                <a:gridCol w="1664280"/>
                <a:gridCol w="3161880"/>
                <a:gridCol w="3780720"/>
              </a:tblGrid>
              <a:tr h="416160">
                <a:tc>
                  <a:txBody>
                    <a:bodyPr lIns="36000" rIns="36000" anchor="ctr">
                      <a:noAutofit/>
                    </a:bodyPr>
                    <a:p>
                      <a:pPr algn="ctr">
                        <a:lnSpc>
                          <a:spcPct val="100000"/>
                        </a:lnSpc>
                      </a:pPr>
                      <a:r>
                        <a:rPr b="1" lang="en-GB" sz="1600" spc="-1" strike="noStrike">
                          <a:solidFill>
                            <a:srgbClr val="000000"/>
                          </a:solidFill>
                          <a:latin typeface="Calibri"/>
                        </a:rPr>
                        <a:t>Aspect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Windows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67240">
                <a:tc>
                  <a:txBody>
                    <a:bodyPr lIns="36000" rIns="36000" anchor="ctr">
                      <a:noAutofit/>
                    </a:bodyPr>
                    <a:p>
                      <a:pPr algn="ctr">
                        <a:lnSpc>
                          <a:spcPct val="100000"/>
                        </a:lnSpc>
                      </a:pPr>
                      <a:r>
                        <a:rPr b="1" lang="en-GB" sz="1600" spc="-1" strike="noStrike">
                          <a:solidFill>
                            <a:srgbClr val="000000"/>
                          </a:solidFill>
                          <a:latin typeface="Calibri"/>
                        </a:rPr>
                        <a:t>Stability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Extremely stable, especially for servers and long-term use.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Stable, but can experience issues with updates or resource-heavy applications.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752400">
                <a:tc>
                  <a:txBody>
                    <a:bodyPr lIns="36000" rIns="36000" anchor="ctr">
                      <a:noAutofit/>
                    </a:bodyPr>
                    <a:p>
                      <a:pPr algn="ctr">
                        <a:lnSpc>
                          <a:spcPct val="100000"/>
                        </a:lnSpc>
                      </a:pPr>
                      <a:r>
                        <a:rPr b="1" lang="en-GB" sz="1600" spc="-1" strike="noStrike">
                          <a:solidFill>
                            <a:srgbClr val="000000"/>
                          </a:solidFill>
                          <a:latin typeface="Calibri"/>
                        </a:rPr>
                        <a:t>Community Support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Strong online communities and forums for troubleshooting.</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Official support via Microsoft and third-party services.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600">
                <a:tc>
                  <a:txBody>
                    <a:bodyPr lIns="36000" rIns="36000" anchor="ctr">
                      <a:noAutofit/>
                    </a:bodyPr>
                    <a:p>
                      <a:pPr algn="ctr">
                        <a:lnSpc>
                          <a:spcPct val="100000"/>
                        </a:lnSpc>
                      </a:pPr>
                      <a:r>
                        <a:rPr b="1" lang="en-GB" sz="1600" spc="-1" strike="noStrike">
                          <a:solidFill>
                            <a:srgbClr val="000000"/>
                          </a:solidFill>
                          <a:latin typeface="Calibri"/>
                        </a:rPr>
                        <a:t>Learning Curve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Steeper for beginners; requires familiarity with command-line tools.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Easier for beginners, with a user-friendly GUI interface.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1" lang="en-GB" sz="1600" spc="-1" strike="noStrike">
                          <a:solidFill>
                            <a:srgbClr val="000000"/>
                          </a:solidFill>
                          <a:latin typeface="Calibri"/>
                        </a:rPr>
                        <a:t>Use Cases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Ideal for servers, programming, embedded systems, and advanced users.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Preferred for gaming, business applications, and personal desktops.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64"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65"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66"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67" name=""/>
          <p:cNvSpPr/>
          <p:nvPr/>
        </p:nvSpPr>
        <p:spPr>
          <a:xfrm>
            <a:off x="2114640" y="2624040"/>
            <a:ext cx="5983560" cy="4201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2600" spc="-1" strike="noStrike">
                <a:solidFill>
                  <a:srgbClr val="000000"/>
                </a:solidFill>
                <a:latin typeface="MS PGothic"/>
                <a:ea typeface="DejaVu Sans"/>
              </a:rPr>
              <a:t>Linux VS Unix</a:t>
            </a:r>
            <a:endParaRPr b="0" lang="en-GB"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69"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70"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71"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72"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Linux vs Unix:</a:t>
            </a:r>
            <a:endParaRPr b="0" lang="en-GB" sz="2000" spc="-1" strike="noStrike">
              <a:solidFill>
                <a:srgbClr val="000000"/>
              </a:solidFill>
              <a:latin typeface="Arial"/>
            </a:endParaRPr>
          </a:p>
        </p:txBody>
      </p:sp>
      <p:sp>
        <p:nvSpPr>
          <p:cNvPr id="373"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74"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375" name=""/>
          <p:cNvGraphicFramePr/>
          <p:nvPr/>
        </p:nvGraphicFramePr>
        <p:xfrm>
          <a:off x="1259640" y="1259640"/>
          <a:ext cx="8606880" cy="4130640"/>
        </p:xfrm>
        <a:graphic>
          <a:graphicData uri="http://schemas.openxmlformats.org/drawingml/2006/table">
            <a:tbl>
              <a:tblPr/>
              <a:tblGrid>
                <a:gridCol w="1664280"/>
                <a:gridCol w="3161880"/>
                <a:gridCol w="3780720"/>
              </a:tblGrid>
              <a:tr h="416160">
                <a:tc>
                  <a:txBody>
                    <a:bodyPr lIns="36000" rIns="36000" anchor="ctr">
                      <a:noAutofit/>
                    </a:bodyPr>
                    <a:p>
                      <a:pPr algn="ctr">
                        <a:lnSpc>
                          <a:spcPct val="100000"/>
                        </a:lnSpc>
                      </a:pPr>
                      <a:r>
                        <a:rPr b="1" lang="en-GB" sz="1600" spc="-1" strike="noStrike">
                          <a:solidFill>
                            <a:srgbClr val="000000"/>
                          </a:solidFill>
                          <a:latin typeface="Calibri"/>
                        </a:rPr>
                        <a:t>Aspect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Unix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67240">
                <a:tc>
                  <a:txBody>
                    <a:bodyPr lIns="36000" rIns="36000" anchor="ctr">
                      <a:noAutofit/>
                    </a:bodyPr>
                    <a:p>
                      <a:pPr algn="ctr">
                        <a:lnSpc>
                          <a:spcPct val="100000"/>
                        </a:lnSpc>
                      </a:pPr>
                      <a:r>
                        <a:rPr b="1" lang="en-GB" sz="1600" spc="-1" strike="noStrike">
                          <a:solidFill>
                            <a:srgbClr val="000000"/>
                          </a:solidFill>
                          <a:latin typeface="Calibri"/>
                        </a:rPr>
                        <a:t>Source Code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Open-source: Source code is publicly available and modifiable.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Closed-source; proprietary versions exist (e.g., IBM AIX, HP-UX, Solaris).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752400">
                <a:tc>
                  <a:txBody>
                    <a:bodyPr lIns="36000" rIns="36000" anchor="ctr">
                      <a:noAutofit/>
                    </a:bodyPr>
                    <a:p>
                      <a:pPr algn="ctr">
                        <a:lnSpc>
                          <a:spcPct val="100000"/>
                        </a:lnSpc>
                      </a:pPr>
                      <a:r>
                        <a:rPr b="1" lang="en-GB" sz="1600" spc="-1" strike="noStrike">
                          <a:solidFill>
                            <a:srgbClr val="000000"/>
                          </a:solidFill>
                          <a:latin typeface="Calibri"/>
                        </a:rPr>
                        <a:t>Cost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Free (most distributions) or minimal costs for enterprise versions.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Expensive; licensing fees apply for proprietary Unix versions.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600">
                <a:tc>
                  <a:txBody>
                    <a:bodyPr lIns="36000" rIns="36000" anchor="ctr">
                      <a:noAutofit/>
                    </a:bodyPr>
                    <a:p>
                      <a:pPr algn="ctr">
                        <a:lnSpc>
                          <a:spcPct val="100000"/>
                        </a:lnSpc>
                      </a:pPr>
                      <a:r>
                        <a:rPr b="1" lang="en-GB" sz="1600" spc="-1" strike="noStrike">
                          <a:solidFill>
                            <a:srgbClr val="000000"/>
                          </a:solidFill>
                          <a:latin typeface="Calibri"/>
                        </a:rPr>
                        <a:t>Customizability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Highly customizable: Users can modify the OS and its appearance.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Limited customizability; source code is often not available for modification.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1" lang="en-GB" sz="1600" spc="-1" strike="noStrike">
                          <a:solidFill>
                            <a:srgbClr val="000000"/>
                          </a:solidFill>
                          <a:latin typeface="Calibri"/>
                        </a:rPr>
                        <a:t>Origin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Created by Linus Torvalds in 1991.   </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Developed in the 1970s at AT&amp;T Bell Labs by Ken Thompson, Dennis Ritchie, and others. </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
          <p:cNvSpPr/>
          <p:nvPr/>
        </p:nvSpPr>
        <p:spPr>
          <a:xfrm>
            <a:off x="539640" y="360"/>
            <a:ext cx="358920" cy="5668200"/>
          </a:xfrm>
          <a:prstGeom prst="rect">
            <a:avLst/>
          </a:prstGeom>
          <a:solidFill>
            <a:srgbClr val="8c76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77" name=""/>
          <p:cNvSpPr/>
          <p:nvPr/>
        </p:nvSpPr>
        <p:spPr>
          <a:xfrm>
            <a:off x="359640" y="360"/>
            <a:ext cx="358920" cy="5668200"/>
          </a:xfrm>
          <a:prstGeom prst="rect">
            <a:avLst/>
          </a:prstGeom>
          <a:solidFill>
            <a:srgbClr val="7c4f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78" name=""/>
          <p:cNvSpPr/>
          <p:nvPr/>
        </p:nvSpPr>
        <p:spPr>
          <a:xfrm>
            <a:off x="179640" y="360"/>
            <a:ext cx="358920" cy="5668200"/>
          </a:xfrm>
          <a:prstGeom prst="rect">
            <a:avLst/>
          </a:prstGeom>
          <a:solidFill>
            <a:srgbClr val="6b27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baseline="-8000">
              <a:solidFill>
                <a:srgbClr val="ffffff"/>
              </a:solidFill>
              <a:latin typeface="Arial"/>
              <a:ea typeface="DejaVu Sans"/>
            </a:endParaRPr>
          </a:p>
        </p:txBody>
      </p:sp>
      <p:sp>
        <p:nvSpPr>
          <p:cNvPr id="379" name=""/>
          <p:cNvSpPr/>
          <p:nvPr/>
        </p:nvSpPr>
        <p:spPr>
          <a:xfrm>
            <a:off x="360" y="360"/>
            <a:ext cx="358920" cy="5668200"/>
          </a:xfrm>
          <a:prstGeom prst="rect">
            <a:avLst/>
          </a:prstGeom>
          <a:solidFill>
            <a:srgbClr val="5a009d"/>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pc="-1" strike="noStrike">
              <a:solidFill>
                <a:srgbClr val="ffffff"/>
              </a:solidFill>
              <a:latin typeface="Arial"/>
              <a:ea typeface="DejaVu Sans"/>
            </a:endParaRPr>
          </a:p>
        </p:txBody>
      </p:sp>
      <p:sp>
        <p:nvSpPr>
          <p:cNvPr id="380" name=""/>
          <p:cNvSpPr/>
          <p:nvPr/>
        </p:nvSpPr>
        <p:spPr>
          <a:xfrm>
            <a:off x="1079640" y="395640"/>
            <a:ext cx="44985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GB" sz="2000" spc="-1" strike="noStrike">
                <a:solidFill>
                  <a:srgbClr val="000000"/>
                </a:solidFill>
                <a:latin typeface="MS PGothic"/>
                <a:ea typeface="DejaVu Sans"/>
              </a:rPr>
              <a:t>Linux vs Unix:</a:t>
            </a:r>
            <a:endParaRPr b="0" lang="en-GB" sz="2000" spc="-1" strike="noStrike">
              <a:solidFill>
                <a:srgbClr val="000000"/>
              </a:solidFill>
              <a:latin typeface="Arial"/>
            </a:endParaRPr>
          </a:p>
        </p:txBody>
      </p:sp>
      <p:sp>
        <p:nvSpPr>
          <p:cNvPr id="381" name=""/>
          <p:cNvSpPr/>
          <p:nvPr/>
        </p:nvSpPr>
        <p:spPr>
          <a:xfrm>
            <a:off x="899640" y="1043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sp>
        <p:nvSpPr>
          <p:cNvPr id="382" name=""/>
          <p:cNvSpPr/>
          <p:nvPr/>
        </p:nvSpPr>
        <p:spPr>
          <a:xfrm>
            <a:off x="899640" y="971640"/>
            <a:ext cx="9179280" cy="360"/>
          </a:xfrm>
          <a:prstGeom prst="line">
            <a:avLst/>
          </a:prstGeom>
          <a:ln cap="rnd" w="36000">
            <a:solidFill>
              <a:srgbClr val="8c769d"/>
            </a:solidFill>
            <a:round/>
          </a:ln>
        </p:spPr>
        <p:style>
          <a:lnRef idx="0"/>
          <a:fillRef idx="0"/>
          <a:effectRef idx="0"/>
          <a:fontRef idx="minor"/>
        </p:style>
        <p:txBody>
          <a:bodyPr lIns="108000" rIns="108000" tIns="-63000" bIns="-63000" anchor="ctr">
            <a:noAutofit/>
          </a:bodyPr>
          <a:p>
            <a:endParaRPr b="0" lang="en-GB" sz="1800" spc="-1" strike="noStrike">
              <a:solidFill>
                <a:srgbClr val="000000"/>
              </a:solidFill>
              <a:latin typeface="Arial"/>
              <a:ea typeface="DejaVu Sans"/>
            </a:endParaRPr>
          </a:p>
        </p:txBody>
      </p:sp>
      <p:graphicFrame>
        <p:nvGraphicFramePr>
          <p:cNvPr id="383" name=""/>
          <p:cNvGraphicFramePr/>
          <p:nvPr/>
        </p:nvGraphicFramePr>
        <p:xfrm>
          <a:off x="1259640" y="1259640"/>
          <a:ext cx="8606880" cy="4130640"/>
        </p:xfrm>
        <a:graphic>
          <a:graphicData uri="http://schemas.openxmlformats.org/drawingml/2006/table">
            <a:tbl>
              <a:tblPr/>
              <a:tblGrid>
                <a:gridCol w="1664280"/>
                <a:gridCol w="3161880"/>
                <a:gridCol w="3780720"/>
              </a:tblGrid>
              <a:tr h="416160">
                <a:tc>
                  <a:txBody>
                    <a:bodyPr lIns="36000" rIns="36000" anchor="ctr">
                      <a:noAutofit/>
                    </a:bodyPr>
                    <a:p>
                      <a:pPr algn="ctr">
                        <a:lnSpc>
                          <a:spcPct val="100000"/>
                        </a:lnSpc>
                      </a:pPr>
                      <a:r>
                        <a:rPr b="1" lang="en-GB" sz="1600" spc="-1" strike="noStrike">
                          <a:solidFill>
                            <a:srgbClr val="000000"/>
                          </a:solidFill>
                          <a:latin typeface="Calibri"/>
                        </a:rPr>
                        <a:t>Aspect</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Linux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gn="ctr">
                        <a:lnSpc>
                          <a:spcPct val="100000"/>
                        </a:lnSpc>
                      </a:pPr>
                      <a:r>
                        <a:rPr b="1" lang="en-GB" sz="1600" spc="-1" strike="noStrike">
                          <a:solidFill>
                            <a:srgbClr val="000000"/>
                          </a:solidFill>
                          <a:latin typeface="Calibri"/>
                        </a:rPr>
                        <a:t>Unix</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867240">
                <a:tc>
                  <a:txBody>
                    <a:bodyPr lIns="36000" rIns="36000" anchor="ctr">
                      <a:noAutofit/>
                    </a:bodyPr>
                    <a:p>
                      <a:pPr algn="ctr">
                        <a:lnSpc>
                          <a:spcPct val="100000"/>
                        </a:lnSpc>
                      </a:pPr>
                      <a:r>
                        <a:rPr b="1" lang="en-GB" sz="1600" spc="-1" strike="noStrike">
                          <a:solidFill>
                            <a:srgbClr val="000000"/>
                          </a:solidFill>
                          <a:latin typeface="Calibri"/>
                        </a:rPr>
                        <a:t>Security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More secure due to user permissions and open-source scrutiny.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Secure, but often reliant on proprietary updates and patches.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752400">
                <a:tc>
                  <a:txBody>
                    <a:bodyPr lIns="36000" rIns="36000" anchor="ctr">
                      <a:noAutofit/>
                    </a:bodyPr>
                    <a:p>
                      <a:pPr algn="ctr">
                        <a:lnSpc>
                          <a:spcPct val="100000"/>
                        </a:lnSpc>
                      </a:pPr>
                      <a:r>
                        <a:rPr b="1" lang="en-GB" sz="1600" spc="-1" strike="noStrike">
                          <a:solidFill>
                            <a:srgbClr val="000000"/>
                          </a:solidFill>
                          <a:latin typeface="Calibri"/>
                        </a:rPr>
                        <a:t>Performance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Lightweight; efficient even on older hardware.</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Optimized for stability and performance in large-scale server and enterprise environments.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600">
                <a:tc>
                  <a:txBody>
                    <a:bodyPr lIns="36000" rIns="36000" anchor="ctr">
                      <a:noAutofit/>
                    </a:bodyPr>
                    <a:p>
                      <a:pPr algn="ctr">
                        <a:lnSpc>
                          <a:spcPct val="100000"/>
                        </a:lnSpc>
                      </a:pPr>
                      <a:r>
                        <a:rPr b="1" lang="en-GB" sz="1600" spc="-1" strike="noStrike">
                          <a:solidFill>
                            <a:srgbClr val="000000"/>
                          </a:solidFill>
                          <a:latin typeface="Calibri"/>
                        </a:rPr>
                        <a:t>File Systems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Supports Ext2/Ext3/Ext4, Btrfs, XFS, etc.</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Supports fewer file systems, usually those specific to the Unix version.</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047240">
                <a:tc>
                  <a:txBody>
                    <a:bodyPr lIns="36000" rIns="36000" anchor="ctr">
                      <a:noAutofit/>
                    </a:bodyPr>
                    <a:p>
                      <a:pPr algn="ctr">
                        <a:lnSpc>
                          <a:spcPct val="100000"/>
                        </a:lnSpc>
                      </a:pPr>
                      <a:r>
                        <a:rPr b="1" lang="en-GB" sz="1600" spc="-1" strike="noStrike">
                          <a:solidFill>
                            <a:srgbClr val="000000"/>
                          </a:solidFill>
                          <a:latin typeface="Calibri"/>
                        </a:rPr>
                        <a:t>Compatibility</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Runs on a wide variety of hardware, from personal computers to servers and embedded systems.</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ctr">
                      <a:noAutofit/>
                    </a:bodyPr>
                    <a:p>
                      <a:pPr>
                        <a:lnSpc>
                          <a:spcPct val="100000"/>
                        </a:lnSpc>
                      </a:pPr>
                      <a:r>
                        <a:rPr b="0" lang="en-GB" sz="1600" spc="-1" strike="noStrike">
                          <a:solidFill>
                            <a:srgbClr val="000000"/>
                          </a:solidFill>
                          <a:latin typeface="Calibri"/>
                        </a:rPr>
                        <a:t>Primarily designed for servers and high-end systems; hardware-specific.</a:t>
                      </a:r>
                      <a:endParaRPr b="0" lang="en-GB" sz="1600" spc="-1" strike="noStrike">
                        <a:solidFill>
                          <a:srgbClr val="000000"/>
                        </a:solidFill>
                        <a:latin typeface="Calibri"/>
                      </a:endParaRPr>
                    </a:p>
                  </a:txBody>
                  <a:tcPr anchor="ct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84" name="PlaceHolder 1"/>
          <p:cNvSpPr>
            <a:spLocks noGrp="1"/>
          </p:cNvSpPr>
          <p:nvPr>
            <p:ph type="title"/>
          </p:nvPr>
        </p:nvSpPr>
        <p:spPr>
          <a:xfrm>
            <a:off x="3983040" y="2166840"/>
            <a:ext cx="5590440" cy="807840"/>
          </a:xfrm>
          <a:prstGeom prst="rect">
            <a:avLst/>
          </a:prstGeom>
          <a:noFill/>
          <a:ln w="0">
            <a:noFill/>
          </a:ln>
        </p:spPr>
        <p:txBody>
          <a:bodyPr lIns="0" rIns="0" tIns="0" bIns="0" anchor="t">
            <a:noAutofit/>
          </a:bodyPr>
          <a:p>
            <a:pPr indent="0">
              <a:lnSpc>
                <a:spcPct val="100000"/>
              </a:lnSpc>
              <a:buNone/>
              <a:tabLst>
                <a:tab algn="l" pos="0"/>
              </a:tabLst>
            </a:pPr>
            <a:r>
              <a:rPr b="1" lang="en" sz="4400" spc="-1" strike="noStrike">
                <a:solidFill>
                  <a:schemeClr val="accent1"/>
                </a:solidFill>
                <a:latin typeface="Calibri"/>
                <a:ea typeface="Calibri"/>
              </a:rPr>
              <a:t>Linux Q&amp;A</a:t>
            </a:r>
            <a:endParaRPr b="0" lang="en-GB" sz="4400" spc="-1" strike="noStrike">
              <a:solidFill>
                <a:srgbClr val="000000"/>
              </a:solidFill>
              <a:latin typeface="Arial"/>
            </a:endParaRPr>
          </a:p>
        </p:txBody>
      </p:sp>
      <p:sp>
        <p:nvSpPr>
          <p:cNvPr id="385" name="PlaceHolder 2"/>
          <p:cNvSpPr>
            <a:spLocks noGrp="1"/>
          </p:cNvSpPr>
          <p:nvPr>
            <p:ph type="subTitle"/>
          </p:nvPr>
        </p:nvSpPr>
        <p:spPr>
          <a:xfrm>
            <a:off x="3974400" y="2975400"/>
            <a:ext cx="5547960" cy="357120"/>
          </a:xfrm>
          <a:prstGeom prst="rect">
            <a:avLst/>
          </a:prstGeom>
          <a:noFill/>
          <a:ln w="0">
            <a:noFill/>
          </a:ln>
        </p:spPr>
        <p:txBody>
          <a:bodyPr lIns="0" rIns="0" tIns="0" bIns="0" anchor="t">
            <a:noAutofit/>
          </a:bodyPr>
          <a:p>
            <a:pPr indent="0">
              <a:lnSpc>
                <a:spcPct val="100000"/>
              </a:lnSpc>
              <a:buNone/>
              <a:tabLst>
                <a:tab algn="l" pos="0"/>
              </a:tabLst>
            </a:pPr>
            <a:r>
              <a:rPr b="0" lang="en" sz="1800" spc="-1" strike="noStrike">
                <a:solidFill>
                  <a:srgbClr val="000000"/>
                </a:solidFill>
                <a:latin typeface="Calibri"/>
                <a:ea typeface="Calibri"/>
              </a:rPr>
              <a:t>A list of Linux related Q&amp;As.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title"/>
          </p:nvPr>
        </p:nvSpPr>
        <p:spPr>
          <a:xfrm>
            <a:off x="503640" y="1179360"/>
            <a:ext cx="5255280" cy="2814480"/>
          </a:xfrm>
          <a:prstGeom prst="rect">
            <a:avLst/>
          </a:prstGeom>
          <a:noFill/>
          <a:ln w="0">
            <a:noFill/>
          </a:ln>
        </p:spPr>
        <p:txBody>
          <a:bodyPr lIns="0" rIns="0" tIns="0" bIns="0" anchor="t">
            <a:noAutofit/>
          </a:bodyPr>
          <a:p>
            <a:pPr indent="0">
              <a:lnSpc>
                <a:spcPct val="100000"/>
              </a:lnSpc>
              <a:buNone/>
              <a:tabLst>
                <a:tab algn="l" pos="0"/>
              </a:tabLst>
            </a:pPr>
            <a:r>
              <a:rPr b="0" lang="en" sz="4000" spc="-1" strike="noStrike">
                <a:solidFill>
                  <a:schemeClr val="accent1"/>
                </a:solidFill>
                <a:latin typeface="Calibri"/>
                <a:ea typeface="Calibri"/>
              </a:rPr>
              <a:t>FAQs of Linux!</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517320" y="316440"/>
            <a:ext cx="9055800" cy="68940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388" name="Google Shape;138;p 2"/>
          <p:cNvSpPr/>
          <p:nvPr/>
        </p:nvSpPr>
        <p:spPr>
          <a:xfrm>
            <a:off x="502200" y="996120"/>
            <a:ext cx="4408920" cy="3272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How to Login to Linux Operating System? </a:t>
            </a:r>
            <a:endParaRPr b="0" lang="en-GB" sz="1800" spc="-1" strike="noStrike">
              <a:solidFill>
                <a:srgbClr val="000000"/>
              </a:solidFill>
              <a:latin typeface="Arial"/>
            </a:endParaRPr>
          </a:p>
        </p:txBody>
      </p:sp>
      <p:sp>
        <p:nvSpPr>
          <p:cNvPr id="389" name="Google Shape;139;p 2"/>
          <p:cNvSpPr/>
          <p:nvPr/>
        </p:nvSpPr>
        <p:spPr>
          <a:xfrm>
            <a:off x="504720" y="1424520"/>
            <a:ext cx="4245120" cy="3193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To log in to a Linux operating system, boot the system and wait for the login prompt.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If using a graphical user interface (GUI), enter the username and password in the provided fields.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In a command-line interface (CLI) environment, type the username and press Enter, then type the password and press Enter again.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If logging in remotely, use SSH by executing `ssh username@hostname` from another machine. </a:t>
            </a:r>
            <a:endParaRPr b="0" lang="en-GB" sz="1200" spc="-1" strike="noStrike">
              <a:solidFill>
                <a:srgbClr val="000000"/>
              </a:solidFill>
              <a:latin typeface="Arial"/>
            </a:endParaRPr>
          </a:p>
        </p:txBody>
      </p:sp>
      <p:sp>
        <p:nvSpPr>
          <p:cNvPr id="390" name="Google Shape;140;p 2"/>
          <p:cNvSpPr/>
          <p:nvPr/>
        </p:nvSpPr>
        <p:spPr>
          <a:xfrm>
            <a:off x="5337720" y="102456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How to Implement Linux OS?</a:t>
            </a:r>
            <a:endParaRPr b="0" lang="en-GB" sz="1800" spc="-1" strike="noStrike">
              <a:solidFill>
                <a:srgbClr val="000000"/>
              </a:solidFill>
              <a:latin typeface="Arial"/>
            </a:endParaRPr>
          </a:p>
        </p:txBody>
      </p:sp>
      <p:sp>
        <p:nvSpPr>
          <p:cNvPr id="391" name="Google Shape;141;p 2"/>
          <p:cNvSpPr/>
          <p:nvPr/>
        </p:nvSpPr>
        <p:spPr>
          <a:xfrm>
            <a:off x="5331600" y="1421640"/>
            <a:ext cx="4157280" cy="34149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Implementing Linux involves downloading a distribution such as Ubuntu, Fedora, or Debian and installing it on a machine.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The process includes creating a bootable USB drive using software like Rufus or Balena Etcher, configuring the BIOS/UEFI settings to boot from USB, and following the installation wizard. </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a:solidFill>
                  <a:schemeClr val="dk1"/>
                </a:solidFill>
                <a:latin typeface="Calibri"/>
                <a:ea typeface="Arial"/>
              </a:rPr>
              <a:t>Post-installation steps include setting up user accounts, updating packages, and configuring system preferences. </a:t>
            </a:r>
            <a:endParaRPr b="0" lang="en-GB" sz="1200" spc="-1" strike="noStrike">
              <a:solidFill>
                <a:srgbClr val="000000"/>
              </a:solidFill>
              <a:latin typeface="Arial"/>
            </a:endParaRPr>
          </a:p>
        </p:txBody>
      </p:sp>
      <p:sp>
        <p:nvSpPr>
          <p:cNvPr id="392" name="PlaceHolder 2"/>
          <p:cNvSpPr>
            <a:spLocks noGrp="1"/>
          </p:cNvSpPr>
          <p:nvPr>
            <p:ph type="sldNum" idx="6"/>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E43704F-151A-44F6-B07D-92CA8337368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3" name="" descr=""/>
          <p:cNvPicPr/>
          <p:nvPr/>
        </p:nvPicPr>
        <p:blipFill>
          <a:blip r:embed="rId1"/>
          <a:srcRect l="0" t="0" r="59685" b="-341"/>
          <a:stretch/>
        </p:blipFill>
        <p:spPr>
          <a:xfrm>
            <a:off x="5503680" y="-1800"/>
            <a:ext cx="4579560" cy="5702040"/>
          </a:xfrm>
          <a:prstGeom prst="rect">
            <a:avLst/>
          </a:prstGeom>
          <a:ln w="0">
            <a:noFill/>
          </a:ln>
        </p:spPr>
      </p:pic>
      <p:pic>
        <p:nvPicPr>
          <p:cNvPr id="394" name="Picture 1" descr=""/>
          <p:cNvPicPr/>
          <p:nvPr/>
        </p:nvPicPr>
        <p:blipFill>
          <a:blip r:embed="rId2"/>
          <a:stretch/>
        </p:blipFill>
        <p:spPr>
          <a:xfrm rot="16200000">
            <a:off x="7065360" y="2643480"/>
            <a:ext cx="1483200" cy="4629960"/>
          </a:xfrm>
          <a:prstGeom prst="rect">
            <a:avLst/>
          </a:prstGeom>
          <a:ln w="0">
            <a:noFill/>
          </a:ln>
        </p:spPr>
      </p:pic>
      <p:sp>
        <p:nvSpPr>
          <p:cNvPr id="395" name="PlaceHolder 1"/>
          <p:cNvSpPr>
            <a:spLocks noGrp="1"/>
          </p:cNvSpPr>
          <p:nvPr>
            <p:ph type="sldNum" idx="7"/>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EB870D4-A5C8-4306-9D54-EEA4BA8C01C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9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397" name="Google Shape;158;p 2"/>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Password?</a:t>
            </a:r>
            <a:endParaRPr b="0" lang="en-GB" sz="1600" spc="-1" strike="noStrike">
              <a:solidFill>
                <a:srgbClr val="000000"/>
              </a:solidFill>
              <a:latin typeface="Arial"/>
            </a:endParaRPr>
          </a:p>
        </p:txBody>
      </p:sp>
      <p:sp>
        <p:nvSpPr>
          <p:cNvPr id="398" name="Google Shape;159;p 2"/>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change the password, use the `passwd` command in the terminal.</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Type `passwd`, press Enter, and provide the current password followed by the new password twice. </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For changing another user’s password, use `sudo passwd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Num" idx="8"/>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04B21C8-A1EF-460B-9E64-74B58B41679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00"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01" name="Google Shape;158;p 1"/>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We Are Listing Directories and Files?</a:t>
            </a:r>
            <a:endParaRPr b="0" lang="en-GB" sz="1600" spc="-1" strike="noStrike">
              <a:solidFill>
                <a:srgbClr val="000000"/>
              </a:solidFill>
              <a:latin typeface="Arial"/>
            </a:endParaRPr>
          </a:p>
        </p:txBody>
      </p:sp>
      <p:sp>
        <p:nvSpPr>
          <p:cNvPr id="402" name="Google Shape;159;p 1"/>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Files and directories can be listed using the `ls` command.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Running `ls` displays non-hidden files, while `ls -l` provides detailed information.</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To include hidden files, use `ls -la`.</a:t>
            </a:r>
            <a:endParaRPr b="0" lang="en-GB" sz="1200" spc="-1" strike="noStrike">
              <a:solidFill>
                <a:srgbClr val="000000"/>
              </a:solidFill>
              <a:latin typeface="Arial"/>
            </a:endParaRPr>
          </a:p>
        </p:txBody>
      </p:sp>
      <p:pic>
        <p:nvPicPr>
          <p:cNvPr id="403" name="" descr=""/>
          <p:cNvPicPr/>
          <p:nvPr/>
        </p:nvPicPr>
        <p:blipFill>
          <a:blip r:embed="rId1"/>
          <a:stretch/>
        </p:blipFill>
        <p:spPr>
          <a:xfrm>
            <a:off x="4890240" y="1291320"/>
            <a:ext cx="5020560" cy="3085200"/>
          </a:xfrm>
          <a:prstGeom prst="rect">
            <a:avLst/>
          </a:prstGeom>
          <a:ln w="0">
            <a:noFill/>
          </a:ln>
        </p:spPr>
      </p:pic>
      <p:pic>
        <p:nvPicPr>
          <p:cNvPr id="404" name="Picture 3" descr=""/>
          <p:cNvPicPr/>
          <p:nvPr/>
        </p:nvPicPr>
        <p:blipFill>
          <a:blip r:embed="rId2"/>
          <a:stretch/>
        </p:blipFill>
        <p:spPr>
          <a:xfrm rot="16200000">
            <a:off x="6659640" y="1124280"/>
            <a:ext cx="1483200" cy="502236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5" name="" descr=""/>
          <p:cNvPicPr/>
          <p:nvPr/>
        </p:nvPicPr>
        <p:blipFill>
          <a:blip r:embed="rId1"/>
          <a:srcRect l="0" t="0" r="59623" b="-340"/>
          <a:stretch/>
        </p:blipFill>
        <p:spPr>
          <a:xfrm>
            <a:off x="5503680" y="-1800"/>
            <a:ext cx="4579560" cy="5702040"/>
          </a:xfrm>
          <a:prstGeom prst="rect">
            <a:avLst/>
          </a:prstGeom>
          <a:ln w="0">
            <a:noFill/>
          </a:ln>
        </p:spPr>
      </p:pic>
      <p:pic>
        <p:nvPicPr>
          <p:cNvPr id="406" name="Picture 2" descr=""/>
          <p:cNvPicPr/>
          <p:nvPr/>
        </p:nvPicPr>
        <p:blipFill>
          <a:blip r:embed="rId2"/>
          <a:stretch/>
        </p:blipFill>
        <p:spPr>
          <a:xfrm rot="16200000">
            <a:off x="7065360" y="2643480"/>
            <a:ext cx="1483200" cy="4629960"/>
          </a:xfrm>
          <a:prstGeom prst="rect">
            <a:avLst/>
          </a:prstGeom>
          <a:ln w="0">
            <a:noFill/>
          </a:ln>
        </p:spPr>
      </p:pic>
      <p:sp>
        <p:nvSpPr>
          <p:cNvPr id="407" name="PlaceHolder 1"/>
          <p:cNvSpPr>
            <a:spLocks noGrp="1"/>
          </p:cNvSpPr>
          <p:nvPr>
            <p:ph type="sldNum" idx="9"/>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9E21490-448C-4F7F-8B61-CA02548C08A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08"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09" name="Google Shape;158;p 4"/>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Directories?</a:t>
            </a:r>
            <a:endParaRPr b="0" lang="en-GB" sz="1600" spc="-1" strike="noStrike">
              <a:solidFill>
                <a:srgbClr val="000000"/>
              </a:solidFill>
              <a:latin typeface="Arial"/>
            </a:endParaRPr>
          </a:p>
        </p:txBody>
      </p:sp>
      <p:sp>
        <p:nvSpPr>
          <p:cNvPr id="410" name="Google Shape;159;p 4"/>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navigate directories, use the `cd` command followed by the directory name.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For example, `cd Documents` moves to the Documents directory. </a:t>
            </a: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To return to the home directory, use `cd ~`, and to go up one level, use `cd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1" name="" descr=""/>
          <p:cNvPicPr/>
          <p:nvPr/>
        </p:nvPicPr>
        <p:blipFill>
          <a:blip r:embed="rId1"/>
          <a:srcRect l="0" t="0" r="59623" b="-340"/>
          <a:stretch/>
        </p:blipFill>
        <p:spPr>
          <a:xfrm>
            <a:off x="5503680" y="-1800"/>
            <a:ext cx="4579560" cy="5702040"/>
          </a:xfrm>
          <a:prstGeom prst="rect">
            <a:avLst/>
          </a:prstGeom>
          <a:ln w="0">
            <a:noFill/>
          </a:ln>
        </p:spPr>
      </p:pic>
      <p:pic>
        <p:nvPicPr>
          <p:cNvPr id="412" name="Picture 4" descr=""/>
          <p:cNvPicPr/>
          <p:nvPr/>
        </p:nvPicPr>
        <p:blipFill>
          <a:blip r:embed="rId2"/>
          <a:stretch/>
        </p:blipFill>
        <p:spPr>
          <a:xfrm rot="16200000">
            <a:off x="7065360" y="2643480"/>
            <a:ext cx="1483200" cy="4629960"/>
          </a:xfrm>
          <a:prstGeom prst="rect">
            <a:avLst/>
          </a:prstGeom>
          <a:ln w="0">
            <a:noFill/>
          </a:ln>
        </p:spPr>
      </p:pic>
      <p:sp>
        <p:nvSpPr>
          <p:cNvPr id="413" name="PlaceHolder 1"/>
          <p:cNvSpPr>
            <a:spLocks noGrp="1"/>
          </p:cNvSpPr>
          <p:nvPr>
            <p:ph type="sldNum" idx="10"/>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271E3FC-5423-47BC-A788-DF299CA2781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14"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15" name="Google Shape;158;p 3"/>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Who Are You?</a:t>
            </a:r>
            <a:endParaRPr b="0" lang="en-GB" sz="1600" spc="-1" strike="noStrike">
              <a:solidFill>
                <a:srgbClr val="000000"/>
              </a:solidFill>
              <a:latin typeface="Arial"/>
            </a:endParaRPr>
          </a:p>
        </p:txBody>
      </p:sp>
      <p:sp>
        <p:nvSpPr>
          <p:cNvPr id="416" name="Google Shape;159;p 3"/>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identify the logged-in user, run the `whoami` command. This command prints the username currently in use.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7" name="" descr=""/>
          <p:cNvPicPr/>
          <p:nvPr/>
        </p:nvPicPr>
        <p:blipFill>
          <a:blip r:embed="rId1"/>
          <a:srcRect l="0" t="0" r="59623" b="-342"/>
          <a:stretch/>
        </p:blipFill>
        <p:spPr>
          <a:xfrm>
            <a:off x="5503680" y="-1800"/>
            <a:ext cx="4579560" cy="5702040"/>
          </a:xfrm>
          <a:prstGeom prst="rect">
            <a:avLst/>
          </a:prstGeom>
          <a:ln w="0">
            <a:noFill/>
          </a:ln>
        </p:spPr>
      </p:pic>
      <p:pic>
        <p:nvPicPr>
          <p:cNvPr id="418" name="Picture 5" descr=""/>
          <p:cNvPicPr/>
          <p:nvPr/>
        </p:nvPicPr>
        <p:blipFill>
          <a:blip r:embed="rId2"/>
          <a:stretch/>
        </p:blipFill>
        <p:spPr>
          <a:xfrm rot="16200000">
            <a:off x="7065360" y="2643480"/>
            <a:ext cx="1483200" cy="4629960"/>
          </a:xfrm>
          <a:prstGeom prst="rect">
            <a:avLst/>
          </a:prstGeom>
          <a:ln w="0">
            <a:noFill/>
          </a:ln>
        </p:spPr>
      </p:pic>
      <p:sp>
        <p:nvSpPr>
          <p:cNvPr id="419" name="PlaceHolder 1"/>
          <p:cNvSpPr>
            <a:spLocks noGrp="1"/>
          </p:cNvSpPr>
          <p:nvPr>
            <p:ph type="sldNum" idx="11"/>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53246F5-5C43-4C39-8933-C9888F0CCA5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20"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21" name="Google Shape;158;p 6"/>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Who is Logged in?</a:t>
            </a:r>
            <a:endParaRPr b="0" lang="en-GB" sz="1600" spc="-1" strike="noStrike">
              <a:solidFill>
                <a:srgbClr val="000000"/>
              </a:solidFill>
              <a:latin typeface="Arial"/>
            </a:endParaRPr>
          </a:p>
        </p:txBody>
      </p:sp>
      <p:sp>
        <p:nvSpPr>
          <p:cNvPr id="422" name="Google Shape;159;p 6"/>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see all logged-in users, use the `who` command, which lists active sessions along with login times and originating terminals.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3" name="" descr=""/>
          <p:cNvPicPr/>
          <p:nvPr/>
        </p:nvPicPr>
        <p:blipFill>
          <a:blip r:embed="rId1"/>
          <a:srcRect l="0" t="0" r="59685" b="-341"/>
          <a:stretch/>
        </p:blipFill>
        <p:spPr>
          <a:xfrm>
            <a:off x="5503680" y="-1800"/>
            <a:ext cx="4579560" cy="5702040"/>
          </a:xfrm>
          <a:prstGeom prst="rect">
            <a:avLst/>
          </a:prstGeom>
          <a:ln w="0">
            <a:noFill/>
          </a:ln>
        </p:spPr>
      </p:pic>
      <p:pic>
        <p:nvPicPr>
          <p:cNvPr id="424" name="Picture 6" descr=""/>
          <p:cNvPicPr/>
          <p:nvPr/>
        </p:nvPicPr>
        <p:blipFill>
          <a:blip r:embed="rId2"/>
          <a:stretch/>
        </p:blipFill>
        <p:spPr>
          <a:xfrm rot="16200000">
            <a:off x="7065360" y="2643480"/>
            <a:ext cx="1483200" cy="4629960"/>
          </a:xfrm>
          <a:prstGeom prst="rect">
            <a:avLst/>
          </a:prstGeom>
          <a:ln w="0">
            <a:noFill/>
          </a:ln>
        </p:spPr>
      </p:pic>
      <p:sp>
        <p:nvSpPr>
          <p:cNvPr id="425" name="PlaceHolder 1"/>
          <p:cNvSpPr>
            <a:spLocks noGrp="1"/>
          </p:cNvSpPr>
          <p:nvPr>
            <p:ph type="sldNum" idx="12"/>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65041F7-1BF2-4084-AB96-5741825CE6E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2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27" name="Google Shape;158;p 5"/>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List Hidden or Invisible Files?</a:t>
            </a:r>
            <a:endParaRPr b="0" lang="en-GB" sz="1600" spc="-1" strike="noStrike">
              <a:solidFill>
                <a:srgbClr val="000000"/>
              </a:solidFill>
              <a:latin typeface="Arial"/>
            </a:endParaRPr>
          </a:p>
        </p:txBody>
      </p:sp>
      <p:sp>
        <p:nvSpPr>
          <p:cNvPr id="428" name="Google Shape;159;p 5"/>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Hidden files in Linus environments begin with a dot (`.`) and can be displayed using `ls -la`.</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9" name="" descr=""/>
          <p:cNvPicPr/>
          <p:nvPr/>
        </p:nvPicPr>
        <p:blipFill>
          <a:blip r:embed="rId1"/>
          <a:srcRect l="0" t="0" r="50768" b="-341"/>
          <a:stretch/>
        </p:blipFill>
        <p:spPr>
          <a:xfrm>
            <a:off x="4495680" y="-1800"/>
            <a:ext cx="5583960" cy="5702040"/>
          </a:xfrm>
          <a:prstGeom prst="rect">
            <a:avLst/>
          </a:prstGeom>
          <a:ln w="0">
            <a:noFill/>
          </a:ln>
        </p:spPr>
      </p:pic>
      <p:pic>
        <p:nvPicPr>
          <p:cNvPr id="430" name="Picture 7" descr=""/>
          <p:cNvPicPr/>
          <p:nvPr/>
        </p:nvPicPr>
        <p:blipFill>
          <a:blip r:embed="rId2"/>
          <a:stretch/>
        </p:blipFill>
        <p:spPr>
          <a:xfrm rot="16200000">
            <a:off x="6567120" y="2145240"/>
            <a:ext cx="1483200" cy="5626440"/>
          </a:xfrm>
          <a:prstGeom prst="rect">
            <a:avLst/>
          </a:prstGeom>
          <a:ln w="0">
            <a:noFill/>
          </a:ln>
        </p:spPr>
      </p:pic>
      <p:sp>
        <p:nvSpPr>
          <p:cNvPr id="431" name="PlaceHolder 1"/>
          <p:cNvSpPr>
            <a:spLocks noGrp="1"/>
          </p:cNvSpPr>
          <p:nvPr>
            <p:ph type="sldNum" idx="13"/>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251E221-FBF6-404F-B0AC-1D554FFE9CA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32"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33" name="Google Shape;158;p 8"/>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List Directories?</a:t>
            </a:r>
            <a:endParaRPr b="0" lang="en-GB" sz="1600" spc="-1" strike="noStrike">
              <a:solidFill>
                <a:srgbClr val="000000"/>
              </a:solidFill>
              <a:latin typeface="Arial"/>
            </a:endParaRPr>
          </a:p>
        </p:txBody>
      </p:sp>
      <p:sp>
        <p:nvSpPr>
          <p:cNvPr id="434" name="Google Shape;159;p 8"/>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list only directories, use `ls -d */` or `ls -l | grep "^d"`.</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5" name="" descr=""/>
          <p:cNvPicPr/>
          <p:nvPr/>
        </p:nvPicPr>
        <p:blipFill>
          <a:blip r:embed="rId1"/>
          <a:srcRect l="0" t="0" r="59745" b="-340"/>
          <a:stretch/>
        </p:blipFill>
        <p:spPr>
          <a:xfrm>
            <a:off x="5503680" y="-1800"/>
            <a:ext cx="4579560" cy="5702040"/>
          </a:xfrm>
          <a:prstGeom prst="rect">
            <a:avLst/>
          </a:prstGeom>
          <a:ln w="0">
            <a:noFill/>
          </a:ln>
        </p:spPr>
      </p:pic>
      <p:pic>
        <p:nvPicPr>
          <p:cNvPr id="436" name="Picture 8" descr=""/>
          <p:cNvPicPr/>
          <p:nvPr/>
        </p:nvPicPr>
        <p:blipFill>
          <a:blip r:embed="rId2"/>
          <a:stretch/>
        </p:blipFill>
        <p:spPr>
          <a:xfrm rot="16200000">
            <a:off x="7065360" y="2643480"/>
            <a:ext cx="1483200" cy="4629960"/>
          </a:xfrm>
          <a:prstGeom prst="rect">
            <a:avLst/>
          </a:prstGeom>
          <a:ln w="0">
            <a:noFill/>
          </a:ln>
        </p:spPr>
      </p:pic>
      <p:sp>
        <p:nvSpPr>
          <p:cNvPr id="437" name="PlaceHolder 1"/>
          <p:cNvSpPr>
            <a:spLocks noGrp="1"/>
          </p:cNvSpPr>
          <p:nvPr>
            <p:ph type="sldNum" idx="14"/>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7D5B04C-D5EA-44FC-AB42-F08A467578B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38"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39" name="Google Shape;158;p 7"/>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Remove Directories?</a:t>
            </a:r>
            <a:endParaRPr b="0" lang="en-GB" sz="1600" spc="-1" strike="noStrike">
              <a:solidFill>
                <a:srgbClr val="000000"/>
              </a:solidFill>
              <a:latin typeface="Arial"/>
            </a:endParaRPr>
          </a:p>
        </p:txBody>
      </p:sp>
      <p:sp>
        <p:nvSpPr>
          <p:cNvPr id="440" name="Google Shape;159;p 7"/>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To delete empty directories, use `rmdir directory_name`. To remove directories and their contents, use `rm -r directory_name`.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1" name="" descr=""/>
          <p:cNvPicPr/>
          <p:nvPr/>
        </p:nvPicPr>
        <p:blipFill>
          <a:blip r:embed="rId1"/>
          <a:srcRect l="0" t="0" r="59563" b="-342"/>
          <a:stretch/>
        </p:blipFill>
        <p:spPr>
          <a:xfrm>
            <a:off x="5503680" y="-1800"/>
            <a:ext cx="4579560" cy="5702040"/>
          </a:xfrm>
          <a:prstGeom prst="rect">
            <a:avLst/>
          </a:prstGeom>
          <a:ln w="0">
            <a:noFill/>
          </a:ln>
        </p:spPr>
      </p:pic>
      <p:pic>
        <p:nvPicPr>
          <p:cNvPr id="442" name="Picture 9" descr=""/>
          <p:cNvPicPr/>
          <p:nvPr/>
        </p:nvPicPr>
        <p:blipFill>
          <a:blip r:embed="rId2"/>
          <a:stretch/>
        </p:blipFill>
        <p:spPr>
          <a:xfrm rot="16200000">
            <a:off x="7065360" y="2643480"/>
            <a:ext cx="1483200" cy="4629960"/>
          </a:xfrm>
          <a:prstGeom prst="rect">
            <a:avLst/>
          </a:prstGeom>
          <a:ln w="0">
            <a:noFill/>
          </a:ln>
        </p:spPr>
      </p:pic>
      <p:sp>
        <p:nvSpPr>
          <p:cNvPr id="443" name="PlaceHolder 1"/>
          <p:cNvSpPr>
            <a:spLocks noGrp="1"/>
          </p:cNvSpPr>
          <p:nvPr>
            <p:ph type="sldNum" idx="15"/>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060C5A8-0A53-4A1B-BC9A-8E54FD575C9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44"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45" name="Google Shape;158;p 10"/>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Rename Directories?</a:t>
            </a:r>
            <a:endParaRPr b="0" lang="en-GB" sz="1600" spc="-1" strike="noStrike">
              <a:solidFill>
                <a:srgbClr val="000000"/>
              </a:solidFill>
              <a:latin typeface="Arial"/>
            </a:endParaRPr>
          </a:p>
        </p:txBody>
      </p:sp>
      <p:sp>
        <p:nvSpPr>
          <p:cNvPr id="446" name="Google Shape;159;p 10"/>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Renaming directories is done with the `mv` command: `mv old_directory_name new_directory_name`.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517320" y="316440"/>
            <a:ext cx="9055800" cy="68940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48" name="Google Shape;138;p 1"/>
          <p:cNvSpPr/>
          <p:nvPr/>
        </p:nvSpPr>
        <p:spPr>
          <a:xfrm>
            <a:off x="502200" y="996120"/>
            <a:ext cx="4408920" cy="32724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How to Download Ubuntu OS?</a:t>
            </a:r>
            <a:endParaRPr b="0" lang="en-GB" sz="1800" spc="-1" strike="noStrike">
              <a:solidFill>
                <a:srgbClr val="000000"/>
              </a:solidFill>
              <a:latin typeface="Arial"/>
            </a:endParaRPr>
          </a:p>
        </p:txBody>
      </p:sp>
      <p:sp>
        <p:nvSpPr>
          <p:cNvPr id="449" name="Google Shape;139;p 1"/>
          <p:cNvSpPr/>
          <p:nvPr/>
        </p:nvSpPr>
        <p:spPr>
          <a:xfrm>
            <a:off x="504720" y="1424520"/>
            <a:ext cx="4245120" cy="31935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To download the Ubuntu operating system, visit the Ubuntu website and choose the "Download Desktop" option, then select the latest LTS version to download the ISO file, which you'll then use to create a bootable USB drive for installation.</a:t>
            </a:r>
            <a:endParaRPr b="0" lang="en-GB" sz="1200" spc="-1" strike="noStrike">
              <a:solidFill>
                <a:srgbClr val="000000"/>
              </a:solidFill>
              <a:latin typeface="Arial"/>
            </a:endParaRPr>
          </a:p>
          <a:p>
            <a:pPr>
              <a:lnSpc>
                <a:spcPct val="100000"/>
              </a:lnSpc>
              <a:spcBef>
                <a:spcPts val="1191"/>
              </a:spcBef>
              <a:spcAft>
                <a:spcPts val="992"/>
              </a:spcAft>
            </a:pPr>
            <a:r>
              <a:rPr b="0" lang="en-US" sz="1200" spc="-1" strike="noStrike" u="sng">
                <a:solidFill>
                  <a:schemeClr val="dk1"/>
                </a:solidFill>
                <a:uFillTx/>
                <a:latin typeface="Calibri"/>
                <a:ea typeface="Arial"/>
                <a:hlinkClick r:id="rId1"/>
              </a:rPr>
              <a:t>Install Ubuntu Desktop</a:t>
            </a:r>
            <a:r>
              <a:rPr b="0" lang="en-US" sz="1200" spc="-1" strike="noStrike" u="sng">
                <a:solidFill>
                  <a:schemeClr val="dk1"/>
                </a:solidFill>
                <a:uFillTx/>
                <a:latin typeface="Calibri"/>
                <a:ea typeface="Arial"/>
              </a:rPr>
              <a:t> </a:t>
            </a:r>
            <a:endParaRPr b="0" lang="en-GB" sz="1200" spc="-1" strike="noStrike">
              <a:solidFill>
                <a:srgbClr val="000000"/>
              </a:solidFill>
              <a:latin typeface="Arial"/>
            </a:endParaRPr>
          </a:p>
        </p:txBody>
      </p:sp>
      <p:sp>
        <p:nvSpPr>
          <p:cNvPr id="450" name="Google Shape;140;p 1"/>
          <p:cNvSpPr/>
          <p:nvPr/>
        </p:nvSpPr>
        <p:spPr>
          <a:xfrm>
            <a:off x="5337720" y="102456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How to Install Ubuntu OS?</a:t>
            </a:r>
            <a:endParaRPr b="0" lang="en-GB" sz="1800" spc="-1" strike="noStrike">
              <a:solidFill>
                <a:srgbClr val="000000"/>
              </a:solidFill>
              <a:latin typeface="Arial"/>
            </a:endParaRPr>
          </a:p>
        </p:txBody>
      </p:sp>
      <p:sp>
        <p:nvSpPr>
          <p:cNvPr id="451" name="Google Shape;141;p 1"/>
          <p:cNvSpPr/>
          <p:nvPr/>
        </p:nvSpPr>
        <p:spPr>
          <a:xfrm>
            <a:off x="5331600" y="1421640"/>
            <a:ext cx="4157280" cy="34149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0" lang="en-US" sz="1200" spc="-1" strike="noStrike">
                <a:solidFill>
                  <a:schemeClr val="dk1"/>
                </a:solidFill>
                <a:latin typeface="Calibri"/>
                <a:ea typeface="Arial"/>
              </a:rPr>
              <a:t>Create a bootable USB, configure boot settings, and follow the installation prompts, setting up partitions and user accounts.</a:t>
            </a:r>
            <a:endParaRPr b="0" lang="en-GB" sz="1200" spc="-1" strike="noStrike">
              <a:solidFill>
                <a:srgbClr val="000000"/>
              </a:solidFill>
              <a:latin typeface="Arial"/>
            </a:endParaRPr>
          </a:p>
        </p:txBody>
      </p:sp>
      <p:sp>
        <p:nvSpPr>
          <p:cNvPr id="452" name="PlaceHolder 2"/>
          <p:cNvSpPr>
            <a:spLocks noGrp="1"/>
          </p:cNvSpPr>
          <p:nvPr>
            <p:ph type="sldNum" idx="16"/>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51979EF-B07F-4BC5-860A-42BA9259957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3" name="" descr=""/>
          <p:cNvPicPr/>
          <p:nvPr/>
        </p:nvPicPr>
        <p:blipFill>
          <a:blip r:embed="rId1"/>
          <a:srcRect l="0" t="0" r="59502" b="-342"/>
          <a:stretch/>
        </p:blipFill>
        <p:spPr>
          <a:xfrm>
            <a:off x="5503680" y="-1800"/>
            <a:ext cx="4579560" cy="5702040"/>
          </a:xfrm>
          <a:prstGeom prst="rect">
            <a:avLst/>
          </a:prstGeom>
          <a:ln w="0">
            <a:noFill/>
          </a:ln>
        </p:spPr>
      </p:pic>
      <p:pic>
        <p:nvPicPr>
          <p:cNvPr id="454" name="Picture 10" descr=""/>
          <p:cNvPicPr/>
          <p:nvPr/>
        </p:nvPicPr>
        <p:blipFill>
          <a:blip r:embed="rId2"/>
          <a:stretch/>
        </p:blipFill>
        <p:spPr>
          <a:xfrm rot="16200000">
            <a:off x="7065360" y="2643480"/>
            <a:ext cx="1483200" cy="4629960"/>
          </a:xfrm>
          <a:prstGeom prst="rect">
            <a:avLst/>
          </a:prstGeom>
          <a:ln w="0">
            <a:noFill/>
          </a:ln>
        </p:spPr>
      </p:pic>
      <p:sp>
        <p:nvSpPr>
          <p:cNvPr id="455" name="PlaceHolder 1"/>
          <p:cNvSpPr>
            <a:spLocks noGrp="1"/>
          </p:cNvSpPr>
          <p:nvPr>
            <p:ph type="sldNum" idx="17"/>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52B5246-9499-4C41-8256-EAA1F63F160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5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57" name="Google Shape;158;p 9"/>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Install Software on Ubuntu?</a:t>
            </a:r>
            <a:endParaRPr b="0" lang="en-GB" sz="1600" spc="-1" strike="noStrike">
              <a:solidFill>
                <a:srgbClr val="000000"/>
              </a:solidFill>
              <a:latin typeface="Arial"/>
            </a:endParaRPr>
          </a:p>
        </p:txBody>
      </p:sp>
      <p:sp>
        <p:nvSpPr>
          <p:cNvPr id="458" name="Google Shape;159;p 9"/>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`sudo apt install package_name` for APT-based distributions or `sudo dnf install package_name` for Fedora.</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9" name="" descr=""/>
          <p:cNvPicPr/>
          <p:nvPr/>
        </p:nvPicPr>
        <p:blipFill>
          <a:blip r:embed="rId1"/>
          <a:srcRect l="0" t="0" r="59380" b="-341"/>
          <a:stretch/>
        </p:blipFill>
        <p:spPr>
          <a:xfrm>
            <a:off x="5503680" y="-1800"/>
            <a:ext cx="4579560" cy="5702040"/>
          </a:xfrm>
          <a:prstGeom prst="rect">
            <a:avLst/>
          </a:prstGeom>
          <a:ln w="0">
            <a:noFill/>
          </a:ln>
        </p:spPr>
      </p:pic>
      <p:pic>
        <p:nvPicPr>
          <p:cNvPr id="460" name="Picture 11" descr=""/>
          <p:cNvPicPr/>
          <p:nvPr/>
        </p:nvPicPr>
        <p:blipFill>
          <a:blip r:embed="rId2"/>
          <a:stretch/>
        </p:blipFill>
        <p:spPr>
          <a:xfrm rot="16200000">
            <a:off x="7065360" y="2643480"/>
            <a:ext cx="1483200" cy="4629960"/>
          </a:xfrm>
          <a:prstGeom prst="rect">
            <a:avLst/>
          </a:prstGeom>
          <a:ln w="0">
            <a:noFill/>
          </a:ln>
        </p:spPr>
      </p:pic>
      <p:sp>
        <p:nvSpPr>
          <p:cNvPr id="461" name="PlaceHolder 1"/>
          <p:cNvSpPr>
            <a:spLocks noGrp="1"/>
          </p:cNvSpPr>
          <p:nvPr>
            <p:ph type="sldNum" idx="18"/>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B2EC809-3F37-4640-A8C8-5CB4A001C37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62"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63" name="Google Shape;158;p 12"/>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Install Linux on Windows with WSL?</a:t>
            </a:r>
            <a:endParaRPr b="0" lang="en-GB" sz="1600" spc="-1" strike="noStrike">
              <a:solidFill>
                <a:srgbClr val="000000"/>
              </a:solidFill>
              <a:latin typeface="Arial"/>
            </a:endParaRPr>
          </a:p>
        </p:txBody>
      </p:sp>
      <p:sp>
        <p:nvSpPr>
          <p:cNvPr id="464" name="Google Shape;159;p 12"/>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Enable WSL using `wsl --install` in PowerShell. Install a distribution via the Microsoft Store and set up the environment.</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5" name="" descr=""/>
          <p:cNvPicPr/>
          <p:nvPr/>
        </p:nvPicPr>
        <p:blipFill>
          <a:blip r:embed="rId1"/>
          <a:srcRect l="0" t="0" r="59623" b="-342"/>
          <a:stretch/>
        </p:blipFill>
        <p:spPr>
          <a:xfrm>
            <a:off x="5503680" y="-1800"/>
            <a:ext cx="4579560" cy="5702040"/>
          </a:xfrm>
          <a:prstGeom prst="rect">
            <a:avLst/>
          </a:prstGeom>
          <a:ln w="0">
            <a:noFill/>
          </a:ln>
        </p:spPr>
      </p:pic>
      <p:pic>
        <p:nvPicPr>
          <p:cNvPr id="466" name="Picture 12" descr=""/>
          <p:cNvPicPr/>
          <p:nvPr/>
        </p:nvPicPr>
        <p:blipFill>
          <a:blip r:embed="rId2"/>
          <a:stretch/>
        </p:blipFill>
        <p:spPr>
          <a:xfrm rot="16200000">
            <a:off x="7065360" y="2643480"/>
            <a:ext cx="1483200" cy="4629960"/>
          </a:xfrm>
          <a:prstGeom prst="rect">
            <a:avLst/>
          </a:prstGeom>
          <a:ln w="0">
            <a:noFill/>
          </a:ln>
        </p:spPr>
      </p:pic>
      <p:sp>
        <p:nvSpPr>
          <p:cNvPr id="467" name="PlaceHolder 1"/>
          <p:cNvSpPr>
            <a:spLocks noGrp="1"/>
          </p:cNvSpPr>
          <p:nvPr>
            <p:ph type="sldNum" idx="19"/>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A0BBAD9-5A98-489D-A2D3-0A5C17E8060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68"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69" name="Google Shape;158;p 11"/>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Update and Upgrade Packages Using WSL?</a:t>
            </a:r>
            <a:endParaRPr b="0" lang="en-GB" sz="1600" spc="-1" strike="noStrike">
              <a:solidFill>
                <a:srgbClr val="000000"/>
              </a:solidFill>
              <a:latin typeface="Arial"/>
            </a:endParaRPr>
          </a:p>
        </p:txBody>
      </p:sp>
      <p:sp>
        <p:nvSpPr>
          <p:cNvPr id="470" name="Google Shape;159;p 11"/>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Run `sudo apt update &amp;&amp; sudo apt upgrade` to update package lists and install upgrades.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1" name="" descr=""/>
          <p:cNvPicPr/>
          <p:nvPr/>
        </p:nvPicPr>
        <p:blipFill>
          <a:blip r:embed="rId1"/>
          <a:srcRect l="0" t="0" r="59745" b="-341"/>
          <a:stretch/>
        </p:blipFill>
        <p:spPr>
          <a:xfrm>
            <a:off x="5503680" y="-1800"/>
            <a:ext cx="4579560" cy="5702040"/>
          </a:xfrm>
          <a:prstGeom prst="rect">
            <a:avLst/>
          </a:prstGeom>
          <a:ln w="0">
            <a:noFill/>
          </a:ln>
        </p:spPr>
      </p:pic>
      <p:pic>
        <p:nvPicPr>
          <p:cNvPr id="472" name="Picture 13" descr=""/>
          <p:cNvPicPr/>
          <p:nvPr/>
        </p:nvPicPr>
        <p:blipFill>
          <a:blip r:embed="rId2"/>
          <a:stretch/>
        </p:blipFill>
        <p:spPr>
          <a:xfrm rot="16200000">
            <a:off x="7065360" y="2643480"/>
            <a:ext cx="1483200" cy="4629960"/>
          </a:xfrm>
          <a:prstGeom prst="rect">
            <a:avLst/>
          </a:prstGeom>
          <a:ln w="0">
            <a:noFill/>
          </a:ln>
        </p:spPr>
      </p:pic>
      <p:sp>
        <p:nvSpPr>
          <p:cNvPr id="473" name="PlaceHolder 1"/>
          <p:cNvSpPr>
            <a:spLocks noGrp="1"/>
          </p:cNvSpPr>
          <p:nvPr>
            <p:ph type="sldNum" idx="20"/>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2E58183-8B03-456F-9518-185B47FB5F0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74"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75" name="Google Shape;158;p 14"/>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Update Your Linux Distribution?</a:t>
            </a:r>
            <a:endParaRPr b="0" lang="en-GB" sz="1600" spc="-1" strike="noStrike">
              <a:solidFill>
                <a:srgbClr val="000000"/>
              </a:solidFill>
              <a:latin typeface="Arial"/>
            </a:endParaRPr>
          </a:p>
        </p:txBody>
      </p:sp>
      <p:sp>
        <p:nvSpPr>
          <p:cNvPr id="476" name="Google Shape;159;p 14"/>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`sudo apt update &amp;&amp; sudo apt full-upgrade` for Debian-based systems.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7" name="" descr=""/>
          <p:cNvPicPr/>
          <p:nvPr/>
        </p:nvPicPr>
        <p:blipFill>
          <a:blip r:embed="rId1"/>
          <a:srcRect l="12075" t="0" r="50373" b="-384"/>
          <a:stretch/>
        </p:blipFill>
        <p:spPr>
          <a:xfrm>
            <a:off x="5476320" y="-1800"/>
            <a:ext cx="4600800" cy="5702040"/>
          </a:xfrm>
          <a:prstGeom prst="rect">
            <a:avLst/>
          </a:prstGeom>
          <a:ln w="0">
            <a:noFill/>
          </a:ln>
        </p:spPr>
      </p:pic>
      <p:pic>
        <p:nvPicPr>
          <p:cNvPr id="478" name="Picture 14" descr=""/>
          <p:cNvPicPr/>
          <p:nvPr/>
        </p:nvPicPr>
        <p:blipFill>
          <a:blip r:embed="rId2"/>
          <a:stretch/>
        </p:blipFill>
        <p:spPr>
          <a:xfrm rot="16200000">
            <a:off x="7065360" y="2643480"/>
            <a:ext cx="1483200" cy="4629960"/>
          </a:xfrm>
          <a:prstGeom prst="rect">
            <a:avLst/>
          </a:prstGeom>
          <a:ln w="0">
            <a:noFill/>
          </a:ln>
        </p:spPr>
      </p:pic>
      <p:sp>
        <p:nvSpPr>
          <p:cNvPr id="479" name="PlaceHolder 1"/>
          <p:cNvSpPr>
            <a:spLocks noGrp="1"/>
          </p:cNvSpPr>
          <p:nvPr>
            <p:ph type="sldNum" idx="21"/>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8AC1966-939C-4784-9107-B2E3908F5AA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80"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81" name="Google Shape;158;p 13"/>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Work with Remote Development in WSL?</a:t>
            </a:r>
            <a:endParaRPr b="0" lang="en-GB" sz="1600" spc="-1" strike="noStrike">
              <a:solidFill>
                <a:srgbClr val="000000"/>
              </a:solidFill>
              <a:latin typeface="Arial"/>
            </a:endParaRPr>
          </a:p>
        </p:txBody>
      </p:sp>
      <p:sp>
        <p:nvSpPr>
          <p:cNvPr id="482" name="Google Shape;159;p 13"/>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VS Code with the Remote WSL extension or SSH to connect to remote servers.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3" name="" descr=""/>
          <p:cNvPicPr/>
          <p:nvPr/>
        </p:nvPicPr>
        <p:blipFill>
          <a:blip r:embed="rId1"/>
          <a:srcRect l="0" t="0" r="59195" b="-340"/>
          <a:stretch/>
        </p:blipFill>
        <p:spPr>
          <a:xfrm>
            <a:off x="5481360" y="-1800"/>
            <a:ext cx="4629240" cy="5702040"/>
          </a:xfrm>
          <a:prstGeom prst="rect">
            <a:avLst/>
          </a:prstGeom>
          <a:ln w="0">
            <a:noFill/>
          </a:ln>
        </p:spPr>
      </p:pic>
      <p:pic>
        <p:nvPicPr>
          <p:cNvPr id="484" name="Picture 15" descr=""/>
          <p:cNvPicPr/>
          <p:nvPr/>
        </p:nvPicPr>
        <p:blipFill>
          <a:blip r:embed="rId2"/>
          <a:stretch/>
        </p:blipFill>
        <p:spPr>
          <a:xfrm rot="16200000">
            <a:off x="7065360" y="2643480"/>
            <a:ext cx="1483200" cy="4629960"/>
          </a:xfrm>
          <a:prstGeom prst="rect">
            <a:avLst/>
          </a:prstGeom>
          <a:ln w="0">
            <a:noFill/>
          </a:ln>
        </p:spPr>
      </p:pic>
      <p:sp>
        <p:nvSpPr>
          <p:cNvPr id="485" name="PlaceHolder 1"/>
          <p:cNvSpPr>
            <a:spLocks noGrp="1"/>
          </p:cNvSpPr>
          <p:nvPr>
            <p:ph type="sldNum" idx="22"/>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0385B80-CE3D-4183-A963-C73C442C3EE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8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87" name="Google Shape;158;p 16"/>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Find the Home Directory?</a:t>
            </a:r>
            <a:endParaRPr b="0" lang="en-GB" sz="1600" spc="-1" strike="noStrike">
              <a:solidFill>
                <a:srgbClr val="000000"/>
              </a:solidFill>
              <a:latin typeface="Arial"/>
            </a:endParaRPr>
          </a:p>
        </p:txBody>
      </p:sp>
      <p:sp>
        <p:nvSpPr>
          <p:cNvPr id="488" name="Google Shape;159;p 16"/>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Use `echo $HOME` or `cd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9" name="" descr=""/>
          <p:cNvPicPr/>
          <p:nvPr/>
        </p:nvPicPr>
        <p:blipFill>
          <a:blip r:embed="rId1"/>
          <a:srcRect l="0" t="0" r="59257" b="-342"/>
          <a:stretch/>
        </p:blipFill>
        <p:spPr>
          <a:xfrm>
            <a:off x="5481360" y="-1800"/>
            <a:ext cx="4629240" cy="5702040"/>
          </a:xfrm>
          <a:prstGeom prst="rect">
            <a:avLst/>
          </a:prstGeom>
          <a:ln w="0">
            <a:noFill/>
          </a:ln>
        </p:spPr>
      </p:pic>
      <p:pic>
        <p:nvPicPr>
          <p:cNvPr id="490" name="Picture 17" descr=""/>
          <p:cNvPicPr/>
          <p:nvPr/>
        </p:nvPicPr>
        <p:blipFill>
          <a:blip r:embed="rId2"/>
          <a:stretch/>
        </p:blipFill>
        <p:spPr>
          <a:xfrm rot="16200000">
            <a:off x="7065360" y="2643480"/>
            <a:ext cx="1483200" cy="4629960"/>
          </a:xfrm>
          <a:prstGeom prst="rect">
            <a:avLst/>
          </a:prstGeom>
          <a:ln w="0">
            <a:noFill/>
          </a:ln>
        </p:spPr>
      </p:pic>
      <p:sp>
        <p:nvSpPr>
          <p:cNvPr id="491" name="PlaceHolder 1"/>
          <p:cNvSpPr>
            <a:spLocks noGrp="1"/>
          </p:cNvSpPr>
          <p:nvPr>
            <p:ph type="sldNum" idx="23"/>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576683F-9154-4978-94D1-9EE0AAFF125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92"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93" name="Google Shape;158;p 15"/>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Find CPU Architecture Using lscpu?</a:t>
            </a:r>
            <a:endParaRPr b="0" lang="en-GB" sz="1600" spc="-1" strike="noStrike">
              <a:solidFill>
                <a:srgbClr val="000000"/>
              </a:solidFill>
              <a:latin typeface="Arial"/>
            </a:endParaRPr>
          </a:p>
        </p:txBody>
      </p:sp>
      <p:sp>
        <p:nvSpPr>
          <p:cNvPr id="494" name="Google Shape;159;p 15"/>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Run `lscpu` to display CPU details.</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Num" idx="24"/>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26DF246-596E-4644-879B-D9D00CBB9A7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49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497" name="Google Shape;158;p 17"/>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Create and Execute Bash Scripts? </a:t>
            </a:r>
            <a:endParaRPr b="0" lang="en-GB" sz="1600" spc="-1" strike="noStrike">
              <a:solidFill>
                <a:srgbClr val="000000"/>
              </a:solidFill>
              <a:latin typeface="Arial"/>
            </a:endParaRPr>
          </a:p>
        </p:txBody>
      </p:sp>
      <p:sp>
        <p:nvSpPr>
          <p:cNvPr id="498" name="Google Shape;159;p 17"/>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Create a script with `nano script.sh`, add `#!/bin/bash`, write commands, save, and execute using `chmod +x script.sh &amp;&amp; ./script.sh`.</a:t>
            </a:r>
            <a:endParaRPr b="0" lang="en-GB" sz="1200" spc="-1" strike="noStrike">
              <a:solidFill>
                <a:srgbClr val="000000"/>
              </a:solidFill>
              <a:latin typeface="Arial"/>
            </a:endParaRPr>
          </a:p>
        </p:txBody>
      </p:sp>
      <p:pic>
        <p:nvPicPr>
          <p:cNvPr id="499" name="" descr=""/>
          <p:cNvPicPr/>
          <p:nvPr/>
        </p:nvPicPr>
        <p:blipFill>
          <a:blip r:embed="rId1"/>
          <a:srcRect l="0" t="0" r="51980" b="54680"/>
          <a:stretch/>
        </p:blipFill>
        <p:spPr>
          <a:xfrm>
            <a:off x="5063400" y="366480"/>
            <a:ext cx="4837320" cy="2386440"/>
          </a:xfrm>
          <a:prstGeom prst="rect">
            <a:avLst/>
          </a:prstGeom>
          <a:ln w="0">
            <a:noFill/>
          </a:ln>
        </p:spPr>
      </p:pic>
      <p:pic>
        <p:nvPicPr>
          <p:cNvPr id="500" name="Picture 16" descr=""/>
          <p:cNvPicPr/>
          <p:nvPr/>
        </p:nvPicPr>
        <p:blipFill>
          <a:blip r:embed="rId2"/>
          <a:stretch/>
        </p:blipFill>
        <p:spPr>
          <a:xfrm rot="16200000">
            <a:off x="6922800" y="-207000"/>
            <a:ext cx="1107720" cy="4848840"/>
          </a:xfrm>
          <a:prstGeom prst="rect">
            <a:avLst/>
          </a:prstGeom>
          <a:ln w="0">
            <a:noFill/>
          </a:ln>
        </p:spPr>
      </p:pic>
      <p:pic>
        <p:nvPicPr>
          <p:cNvPr id="501" name="" descr=""/>
          <p:cNvPicPr/>
          <p:nvPr/>
        </p:nvPicPr>
        <p:blipFill>
          <a:blip r:embed="rId3"/>
          <a:srcRect l="0" t="0" r="51661" b="62898"/>
          <a:stretch/>
        </p:blipFill>
        <p:spPr>
          <a:xfrm>
            <a:off x="5032080" y="2923920"/>
            <a:ext cx="4870440" cy="1953360"/>
          </a:xfrm>
          <a:prstGeom prst="rect">
            <a:avLst/>
          </a:prstGeom>
          <a:ln w="0">
            <a:noFill/>
          </a:ln>
        </p:spPr>
      </p:pic>
      <p:pic>
        <p:nvPicPr>
          <p:cNvPr id="502" name="Picture 18" descr=""/>
          <p:cNvPicPr/>
          <p:nvPr/>
        </p:nvPicPr>
        <p:blipFill>
          <a:blip r:embed="rId4"/>
          <a:stretch/>
        </p:blipFill>
        <p:spPr>
          <a:xfrm rot="16200000">
            <a:off x="6922800" y="1894680"/>
            <a:ext cx="1107720" cy="4848840"/>
          </a:xfrm>
          <a:prstGeom prst="rect">
            <a:avLst/>
          </a:prstGeom>
          <a:ln w="0">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3" name="" descr=""/>
          <p:cNvPicPr/>
          <p:nvPr/>
        </p:nvPicPr>
        <p:blipFill>
          <a:blip r:embed="rId1"/>
          <a:srcRect l="0" t="0" r="59257" b="-341"/>
          <a:stretch/>
        </p:blipFill>
        <p:spPr>
          <a:xfrm>
            <a:off x="5481360" y="-1800"/>
            <a:ext cx="4629240" cy="5702040"/>
          </a:xfrm>
          <a:prstGeom prst="rect">
            <a:avLst/>
          </a:prstGeom>
          <a:ln w="0">
            <a:noFill/>
          </a:ln>
        </p:spPr>
      </p:pic>
      <p:pic>
        <p:nvPicPr>
          <p:cNvPr id="504" name="Picture 19" descr=""/>
          <p:cNvPicPr/>
          <p:nvPr/>
        </p:nvPicPr>
        <p:blipFill>
          <a:blip r:embed="rId2"/>
          <a:stretch/>
        </p:blipFill>
        <p:spPr>
          <a:xfrm rot="16200000">
            <a:off x="7065360" y="2643480"/>
            <a:ext cx="1483200" cy="4629960"/>
          </a:xfrm>
          <a:prstGeom prst="rect">
            <a:avLst/>
          </a:prstGeom>
          <a:ln w="0">
            <a:noFill/>
          </a:ln>
        </p:spPr>
      </p:pic>
      <p:sp>
        <p:nvSpPr>
          <p:cNvPr id="505" name="PlaceHolder 1"/>
          <p:cNvSpPr>
            <a:spLocks noGrp="1"/>
          </p:cNvSpPr>
          <p:nvPr>
            <p:ph type="sldNum" idx="25"/>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E3ADAD6-FACC-4528-9D68-BF2AFD42FB1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0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07" name="Google Shape;158;p 18"/>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Permissions Using Absolute Mode?</a:t>
            </a:r>
            <a:endParaRPr b="0" lang="en-GB" sz="1600" spc="-1" strike="noStrike">
              <a:solidFill>
                <a:srgbClr val="000000"/>
              </a:solidFill>
              <a:latin typeface="Arial"/>
            </a:endParaRPr>
          </a:p>
        </p:txBody>
      </p:sp>
      <p:sp>
        <p:nvSpPr>
          <p:cNvPr id="508" name="Google Shape;159;p 18"/>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To change permissions using absolute mode, use the chmod command followed by a three-digit octal number and the filename or directory. </a:t>
            </a:r>
            <a:endParaRPr b="0" lang="en-GB" sz="1200" spc="-1" strike="noStrike">
              <a:solidFill>
                <a:srgbClr val="000000"/>
              </a:solidFill>
              <a:latin typeface="Arial"/>
            </a:endParaRPr>
          </a:p>
          <a:p>
            <a:pPr>
              <a:lnSpc>
                <a:spcPct val="100000"/>
              </a:lnSpc>
              <a:spcBef>
                <a:spcPts val="567"/>
              </a:spcBef>
            </a:pP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Example:</a:t>
            </a:r>
            <a:endParaRPr b="0" lang="en-GB" sz="1200" spc="-1" strike="noStrike">
              <a:solidFill>
                <a:srgbClr val="000000"/>
              </a:solidFill>
              <a:latin typeface="Arial"/>
            </a:endParaRPr>
          </a:p>
          <a:p>
            <a:pPr>
              <a:lnSpc>
                <a:spcPct val="100000"/>
              </a:lnSpc>
              <a:spcBef>
                <a:spcPts val="567"/>
              </a:spcBef>
            </a:pPr>
            <a:r>
              <a:rPr b="0" lang="en-US" sz="1200" spc="-1" strike="noStrike">
                <a:solidFill>
                  <a:schemeClr val="dk1"/>
                </a:solidFill>
                <a:latin typeface="Calibri"/>
                <a:ea typeface="Arial"/>
              </a:rPr>
              <a:t>chmod 755 filename would give the owner read, write, and execute permissions, while the group and others would have read and execute permissions.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9" name="" descr=""/>
          <p:cNvPicPr/>
          <p:nvPr/>
        </p:nvPicPr>
        <p:blipFill>
          <a:blip r:embed="rId1"/>
          <a:srcRect l="0" t="0" r="59257" b="-341"/>
          <a:stretch/>
        </p:blipFill>
        <p:spPr>
          <a:xfrm>
            <a:off x="5481360" y="-1800"/>
            <a:ext cx="4629240" cy="5702040"/>
          </a:xfrm>
          <a:prstGeom prst="rect">
            <a:avLst/>
          </a:prstGeom>
          <a:ln w="0">
            <a:noFill/>
          </a:ln>
        </p:spPr>
      </p:pic>
      <p:pic>
        <p:nvPicPr>
          <p:cNvPr id="510" name="Picture 20" descr=""/>
          <p:cNvPicPr/>
          <p:nvPr/>
        </p:nvPicPr>
        <p:blipFill>
          <a:blip r:embed="rId2"/>
          <a:stretch/>
        </p:blipFill>
        <p:spPr>
          <a:xfrm rot="16200000">
            <a:off x="7065360" y="2643480"/>
            <a:ext cx="1483200" cy="4629960"/>
          </a:xfrm>
          <a:prstGeom prst="rect">
            <a:avLst/>
          </a:prstGeom>
          <a:ln w="0">
            <a:noFill/>
          </a:ln>
        </p:spPr>
      </p:pic>
      <p:sp>
        <p:nvSpPr>
          <p:cNvPr id="511" name="PlaceHolder 1"/>
          <p:cNvSpPr>
            <a:spLocks noGrp="1"/>
          </p:cNvSpPr>
          <p:nvPr>
            <p:ph type="sldNum" idx="26"/>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9C526EA-A5B9-4DFB-BEF6-A4418149781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12"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13" name="Google Shape;158;p 20"/>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Permissions Using Absolute Mode?</a:t>
            </a:r>
            <a:endParaRPr b="0" lang="en-GB" sz="1600" spc="-1" strike="noStrike">
              <a:solidFill>
                <a:srgbClr val="000000"/>
              </a:solidFill>
              <a:latin typeface="Arial"/>
            </a:endParaRPr>
          </a:p>
        </p:txBody>
      </p:sp>
      <p:sp>
        <p:nvSpPr>
          <p:cNvPr id="514" name="Google Shape;159;p 20"/>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1" lang="en-US" sz="1200" spc="-1" strike="noStrike">
                <a:solidFill>
                  <a:schemeClr val="dk1"/>
                </a:solidFill>
                <a:latin typeface="Calibri"/>
                <a:ea typeface="Arial"/>
              </a:rPr>
              <a:t>Octal Numbers:</a:t>
            </a:r>
            <a:endParaRPr b="0" lang="en-GB" sz="1200" spc="-1" strike="noStrike">
              <a:solidFill>
                <a:srgbClr val="000000"/>
              </a:solidFill>
              <a:latin typeface="Arial"/>
            </a:endParaRPr>
          </a:p>
          <a:p>
            <a:pPr>
              <a:lnSpc>
                <a:spcPct val="100000"/>
              </a:lnSpc>
              <a:spcBef>
                <a:spcPts val="567"/>
              </a:spcBef>
            </a:pPr>
            <a:r>
              <a:rPr b="0" lang="en-US" sz="1200" spc="-1" strike="noStrike">
                <a:solidFill>
                  <a:schemeClr val="dk1"/>
                </a:solidFill>
                <a:latin typeface="Calibri"/>
                <a:ea typeface="Arial"/>
              </a:rPr>
              <a:t>Each digit in the octal number represents permissions for a specific user type (owner, group, others).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First digit: </a:t>
            </a:r>
            <a:r>
              <a:rPr b="0" lang="en-US" sz="1200" spc="-1" strike="noStrike">
                <a:solidFill>
                  <a:schemeClr val="dk1"/>
                </a:solidFill>
                <a:latin typeface="Calibri"/>
                <a:ea typeface="Arial"/>
              </a:rPr>
              <a:t>Represents permissions for the owner.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Second digit:</a:t>
            </a:r>
            <a:r>
              <a:rPr b="0" lang="en-US" sz="1200" spc="-1" strike="noStrike">
                <a:solidFill>
                  <a:schemeClr val="dk1"/>
                </a:solidFill>
                <a:latin typeface="Calibri"/>
                <a:ea typeface="Arial"/>
              </a:rPr>
              <a:t> Represents permissions for the group.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Third digit: </a:t>
            </a:r>
            <a:r>
              <a:rPr b="0" lang="en-US" sz="1200" spc="-1" strike="noStrike">
                <a:solidFill>
                  <a:schemeClr val="dk1"/>
                </a:solidFill>
                <a:latin typeface="Calibri"/>
                <a:ea typeface="Arial"/>
              </a:rPr>
              <a:t>Represents permissions for others (or world). </a:t>
            </a:r>
            <a:endParaRPr b="0" lang="en-GB" sz="1200" spc="-1" strike="noStrike">
              <a:solidFill>
                <a:srgbClr val="000000"/>
              </a:solidFill>
              <a:latin typeface="Arial"/>
            </a:endParaRPr>
          </a:p>
          <a:p>
            <a:pPr>
              <a:lnSpc>
                <a:spcPct val="100000"/>
              </a:lnSpc>
              <a:spcBef>
                <a:spcPts val="567"/>
              </a:spcBef>
            </a:pP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5" name="" descr=""/>
          <p:cNvPicPr/>
          <p:nvPr/>
        </p:nvPicPr>
        <p:blipFill>
          <a:blip r:embed="rId1"/>
          <a:srcRect l="0" t="0" r="59257" b="-341"/>
          <a:stretch/>
        </p:blipFill>
        <p:spPr>
          <a:xfrm>
            <a:off x="5481360" y="-1800"/>
            <a:ext cx="4629240" cy="5702040"/>
          </a:xfrm>
          <a:prstGeom prst="rect">
            <a:avLst/>
          </a:prstGeom>
          <a:ln w="0">
            <a:noFill/>
          </a:ln>
        </p:spPr>
      </p:pic>
      <p:pic>
        <p:nvPicPr>
          <p:cNvPr id="516" name="Picture 21" descr=""/>
          <p:cNvPicPr/>
          <p:nvPr/>
        </p:nvPicPr>
        <p:blipFill>
          <a:blip r:embed="rId2"/>
          <a:stretch/>
        </p:blipFill>
        <p:spPr>
          <a:xfrm rot="16200000">
            <a:off x="7065360" y="2643480"/>
            <a:ext cx="1483200" cy="4629960"/>
          </a:xfrm>
          <a:prstGeom prst="rect">
            <a:avLst/>
          </a:prstGeom>
          <a:ln w="0">
            <a:noFill/>
          </a:ln>
        </p:spPr>
      </p:pic>
      <p:sp>
        <p:nvSpPr>
          <p:cNvPr id="517" name="PlaceHolder 1"/>
          <p:cNvSpPr>
            <a:spLocks noGrp="1"/>
          </p:cNvSpPr>
          <p:nvPr>
            <p:ph type="sldNum" idx="27"/>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957095E-D00C-4E15-BCAB-D9541536B65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18"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19" name="Google Shape;158;p 19"/>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Permissions Using Absolute Mode?</a:t>
            </a:r>
            <a:endParaRPr b="0" lang="en-GB" sz="1600" spc="-1" strike="noStrike">
              <a:solidFill>
                <a:srgbClr val="000000"/>
              </a:solidFill>
              <a:latin typeface="Arial"/>
            </a:endParaRPr>
          </a:p>
        </p:txBody>
      </p:sp>
      <p:sp>
        <p:nvSpPr>
          <p:cNvPr id="520" name="Google Shape;159;p 19"/>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1" lang="en-US" sz="1200" spc="-1" strike="noStrike">
                <a:solidFill>
                  <a:schemeClr val="dk1"/>
                </a:solidFill>
                <a:latin typeface="Calibri"/>
                <a:ea typeface="Arial"/>
              </a:rPr>
              <a:t>Permissions:</a:t>
            </a:r>
            <a:endParaRPr b="0" lang="en-GB" sz="1200" spc="-1" strike="noStrike">
              <a:solidFill>
                <a:srgbClr val="000000"/>
              </a:solidFill>
              <a:latin typeface="Arial"/>
            </a:endParaRPr>
          </a:p>
          <a:p>
            <a:pPr>
              <a:lnSpc>
                <a:spcPct val="100000"/>
              </a:lnSpc>
              <a:spcBef>
                <a:spcPts val="567"/>
              </a:spcBef>
            </a:pPr>
            <a:r>
              <a:rPr b="0" lang="en-US" sz="1200" spc="-1" strike="noStrike">
                <a:solidFill>
                  <a:schemeClr val="dk1"/>
                </a:solidFill>
                <a:latin typeface="Calibri"/>
                <a:ea typeface="Arial"/>
              </a:rPr>
              <a:t>Each digit can be a number from 0 to 7, representing:</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0:</a:t>
            </a:r>
            <a:r>
              <a:rPr b="0" lang="en-US" sz="1200" spc="-1" strike="noStrike">
                <a:solidFill>
                  <a:schemeClr val="dk1"/>
                </a:solidFill>
                <a:latin typeface="Calibri"/>
                <a:ea typeface="Arial"/>
              </a:rPr>
              <a:t> No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1:</a:t>
            </a:r>
            <a:r>
              <a:rPr b="0" lang="en-US" sz="1200" spc="-1" strike="noStrike">
                <a:solidFill>
                  <a:schemeClr val="dk1"/>
                </a:solidFill>
                <a:latin typeface="Calibri"/>
                <a:ea typeface="Arial"/>
              </a:rPr>
              <a:t> Execute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2:</a:t>
            </a:r>
            <a:r>
              <a:rPr b="0" lang="en-US" sz="1200" spc="-1" strike="noStrike">
                <a:solidFill>
                  <a:schemeClr val="dk1"/>
                </a:solidFill>
                <a:latin typeface="Calibri"/>
                <a:ea typeface="Arial"/>
              </a:rPr>
              <a:t> Write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3:</a:t>
            </a:r>
            <a:r>
              <a:rPr b="0" lang="en-US" sz="1200" spc="-1" strike="noStrike">
                <a:solidFill>
                  <a:schemeClr val="dk1"/>
                </a:solidFill>
                <a:latin typeface="Calibri"/>
                <a:ea typeface="Arial"/>
              </a:rPr>
              <a:t> Write and Execute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4:</a:t>
            </a:r>
            <a:r>
              <a:rPr b="0" lang="en-US" sz="1200" spc="-1" strike="noStrike">
                <a:solidFill>
                  <a:schemeClr val="dk1"/>
                </a:solidFill>
                <a:latin typeface="Calibri"/>
                <a:ea typeface="Arial"/>
              </a:rPr>
              <a:t> Read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5:</a:t>
            </a:r>
            <a:r>
              <a:rPr b="0" lang="en-US" sz="1200" spc="-1" strike="noStrike">
                <a:solidFill>
                  <a:schemeClr val="dk1"/>
                </a:solidFill>
                <a:latin typeface="Calibri"/>
                <a:ea typeface="Arial"/>
              </a:rPr>
              <a:t> Read and Execute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6:</a:t>
            </a:r>
            <a:r>
              <a:rPr b="0" lang="en-US" sz="1200" spc="-1" strike="noStrike">
                <a:solidFill>
                  <a:schemeClr val="dk1"/>
                </a:solidFill>
                <a:latin typeface="Calibri"/>
                <a:ea typeface="Arial"/>
              </a:rPr>
              <a:t> Read and Write permission. </a:t>
            </a:r>
            <a:endParaRPr b="0" lang="en-GB" sz="1200" spc="-1" strike="noStrike">
              <a:solidFill>
                <a:srgbClr val="000000"/>
              </a:solidFill>
              <a:latin typeface="Arial"/>
            </a:endParaRPr>
          </a:p>
          <a:p>
            <a:pPr>
              <a:lnSpc>
                <a:spcPct val="100000"/>
              </a:lnSpc>
              <a:spcBef>
                <a:spcPts val="567"/>
              </a:spcBef>
            </a:pPr>
            <a:r>
              <a:rPr b="1" lang="en-US" sz="1200" spc="-1" strike="noStrike">
                <a:solidFill>
                  <a:schemeClr val="dk1"/>
                </a:solidFill>
                <a:latin typeface="Calibri"/>
                <a:ea typeface="Arial"/>
              </a:rPr>
              <a:t>7:</a:t>
            </a:r>
            <a:r>
              <a:rPr b="0" lang="en-US" sz="1200" spc="-1" strike="noStrike">
                <a:solidFill>
                  <a:schemeClr val="dk1"/>
                </a:solidFill>
                <a:latin typeface="Calibri"/>
                <a:ea typeface="Arial"/>
              </a:rPr>
              <a:t> Read, Write, and Execute permission. </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1" name="" descr=""/>
          <p:cNvPicPr/>
          <p:nvPr/>
        </p:nvPicPr>
        <p:blipFill>
          <a:blip r:embed="rId1"/>
          <a:srcRect l="0" t="0" r="47247" b="-339"/>
          <a:stretch/>
        </p:blipFill>
        <p:spPr>
          <a:xfrm>
            <a:off x="4132440" y="-1800"/>
            <a:ext cx="5976720" cy="5702040"/>
          </a:xfrm>
          <a:prstGeom prst="rect">
            <a:avLst/>
          </a:prstGeom>
          <a:ln w="0">
            <a:noFill/>
          </a:ln>
        </p:spPr>
      </p:pic>
      <p:pic>
        <p:nvPicPr>
          <p:cNvPr id="522" name="Picture 22" descr=""/>
          <p:cNvPicPr/>
          <p:nvPr/>
        </p:nvPicPr>
        <p:blipFill>
          <a:blip r:embed="rId2"/>
          <a:stretch/>
        </p:blipFill>
        <p:spPr>
          <a:xfrm rot="16200000">
            <a:off x="6386040" y="1963800"/>
            <a:ext cx="1483200" cy="5989320"/>
          </a:xfrm>
          <a:prstGeom prst="rect">
            <a:avLst/>
          </a:prstGeom>
          <a:ln w="0">
            <a:noFill/>
          </a:ln>
        </p:spPr>
      </p:pic>
      <p:sp>
        <p:nvSpPr>
          <p:cNvPr id="523" name="PlaceHolder 1"/>
          <p:cNvSpPr>
            <a:spLocks noGrp="1"/>
          </p:cNvSpPr>
          <p:nvPr>
            <p:ph type="sldNum" idx="28"/>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4C709B1-C9B3-42B1-BC6E-99273DA17D3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24"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25" name="Google Shape;158;p 22"/>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Change Ownership?</a:t>
            </a:r>
            <a:endParaRPr b="0" lang="en-GB" sz="1600" spc="-1" strike="noStrike">
              <a:solidFill>
                <a:srgbClr val="000000"/>
              </a:solidFill>
              <a:latin typeface="Arial"/>
            </a:endParaRPr>
          </a:p>
        </p:txBody>
      </p:sp>
      <p:sp>
        <p:nvSpPr>
          <p:cNvPr id="526" name="Google Shape;159;p 22"/>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`chown new_owner filename`.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7" name="" descr=""/>
          <p:cNvPicPr/>
          <p:nvPr/>
        </p:nvPicPr>
        <p:blipFill>
          <a:blip r:embed="rId1"/>
          <a:srcRect l="0" t="0" r="59316" b="-341"/>
          <a:stretch/>
        </p:blipFill>
        <p:spPr>
          <a:xfrm>
            <a:off x="5481360" y="-1800"/>
            <a:ext cx="4629240" cy="5702040"/>
          </a:xfrm>
          <a:prstGeom prst="rect">
            <a:avLst/>
          </a:prstGeom>
          <a:ln w="0">
            <a:noFill/>
          </a:ln>
        </p:spPr>
      </p:pic>
      <p:pic>
        <p:nvPicPr>
          <p:cNvPr id="528" name="Picture 23" descr=""/>
          <p:cNvPicPr/>
          <p:nvPr/>
        </p:nvPicPr>
        <p:blipFill>
          <a:blip r:embed="rId2"/>
          <a:stretch/>
        </p:blipFill>
        <p:spPr>
          <a:xfrm rot="16200000">
            <a:off x="7065360" y="2643480"/>
            <a:ext cx="1483200" cy="4629960"/>
          </a:xfrm>
          <a:prstGeom prst="rect">
            <a:avLst/>
          </a:prstGeom>
          <a:ln w="0">
            <a:noFill/>
          </a:ln>
        </p:spPr>
      </p:pic>
      <p:sp>
        <p:nvSpPr>
          <p:cNvPr id="529" name="PlaceHolder 1"/>
          <p:cNvSpPr>
            <a:spLocks noGrp="1"/>
          </p:cNvSpPr>
          <p:nvPr>
            <p:ph type="sldNum" idx="29"/>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612AEB6-2DDD-4D7D-9249-9AC2E167F8F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30"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31" name="Google Shape;158;p 21"/>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00" spc="-1" strike="noStrike">
                <a:solidFill>
                  <a:schemeClr val="dk1"/>
                </a:solidFill>
                <a:latin typeface="Calibri"/>
                <a:ea typeface="Arial"/>
              </a:rPr>
              <a:t>How to Switch Between Users?</a:t>
            </a:r>
            <a:endParaRPr b="0" lang="en-GB" sz="1600" spc="-1" strike="noStrike">
              <a:solidFill>
                <a:srgbClr val="000000"/>
              </a:solidFill>
              <a:latin typeface="Arial"/>
            </a:endParaRPr>
          </a:p>
        </p:txBody>
      </p:sp>
      <p:sp>
        <p:nvSpPr>
          <p:cNvPr id="532" name="Google Shape;159;p 21"/>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 username` and enter the password.</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3" name="" descr=""/>
          <p:cNvPicPr/>
          <p:nvPr/>
        </p:nvPicPr>
        <p:blipFill>
          <a:blip r:embed="rId1"/>
          <a:srcRect l="0" t="0" r="59195" b="-340"/>
          <a:stretch/>
        </p:blipFill>
        <p:spPr>
          <a:xfrm>
            <a:off x="5481360" y="-1800"/>
            <a:ext cx="4629240" cy="5702040"/>
          </a:xfrm>
          <a:prstGeom prst="rect">
            <a:avLst/>
          </a:prstGeom>
          <a:ln w="0">
            <a:noFill/>
          </a:ln>
        </p:spPr>
      </p:pic>
      <p:pic>
        <p:nvPicPr>
          <p:cNvPr id="534" name="Picture 24" descr=""/>
          <p:cNvPicPr/>
          <p:nvPr/>
        </p:nvPicPr>
        <p:blipFill>
          <a:blip r:embed="rId2"/>
          <a:stretch/>
        </p:blipFill>
        <p:spPr>
          <a:xfrm rot="16200000">
            <a:off x="7065360" y="2643480"/>
            <a:ext cx="1483200" cy="4629960"/>
          </a:xfrm>
          <a:prstGeom prst="rect">
            <a:avLst/>
          </a:prstGeom>
          <a:ln w="0">
            <a:noFill/>
          </a:ln>
        </p:spPr>
      </p:pic>
      <p:sp>
        <p:nvSpPr>
          <p:cNvPr id="535" name="PlaceHolder 1"/>
          <p:cNvSpPr>
            <a:spLocks noGrp="1"/>
          </p:cNvSpPr>
          <p:nvPr>
            <p:ph type="sldNum" idx="30"/>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B65299E-0675-450C-BFF7-BCE3E389507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3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37" name="Google Shape;158;p 24"/>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Create Users from the Command Line? </a:t>
            </a:r>
            <a:endParaRPr b="0" lang="en-GB" sz="1600" spc="-1" strike="noStrike">
              <a:solidFill>
                <a:srgbClr val="000000"/>
              </a:solidFill>
              <a:latin typeface="Arial"/>
            </a:endParaRPr>
          </a:p>
        </p:txBody>
      </p:sp>
      <p:sp>
        <p:nvSpPr>
          <p:cNvPr id="538" name="Google Shape;159;p 24"/>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adduser new_username`.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9" name="" descr=""/>
          <p:cNvPicPr/>
          <p:nvPr/>
        </p:nvPicPr>
        <p:blipFill>
          <a:blip r:embed="rId1"/>
          <a:srcRect l="0" t="0" r="51169" b="-341"/>
          <a:stretch/>
        </p:blipFill>
        <p:spPr>
          <a:xfrm>
            <a:off x="4529160" y="-1800"/>
            <a:ext cx="5548680" cy="5702040"/>
          </a:xfrm>
          <a:prstGeom prst="rect">
            <a:avLst/>
          </a:prstGeom>
          <a:ln w="0">
            <a:noFill/>
          </a:ln>
        </p:spPr>
      </p:pic>
      <p:pic>
        <p:nvPicPr>
          <p:cNvPr id="540" name="Picture 25" descr=""/>
          <p:cNvPicPr/>
          <p:nvPr/>
        </p:nvPicPr>
        <p:blipFill>
          <a:blip r:embed="rId2"/>
          <a:stretch/>
        </p:blipFill>
        <p:spPr>
          <a:xfrm rot="16200000">
            <a:off x="6585120" y="2162880"/>
            <a:ext cx="1483200" cy="5591520"/>
          </a:xfrm>
          <a:prstGeom prst="rect">
            <a:avLst/>
          </a:prstGeom>
          <a:ln w="0">
            <a:noFill/>
          </a:ln>
        </p:spPr>
      </p:pic>
      <p:sp>
        <p:nvSpPr>
          <p:cNvPr id="541" name="PlaceHolder 1"/>
          <p:cNvSpPr>
            <a:spLocks noGrp="1"/>
          </p:cNvSpPr>
          <p:nvPr>
            <p:ph type="sldNum" idx="31"/>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5904B3B-AE04-46E6-963D-7ED6846C5CA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42"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43" name="Google Shape;158;p 23"/>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Login Name?</a:t>
            </a:r>
            <a:endParaRPr b="0" lang="en-GB" sz="1600" spc="-1" strike="noStrike">
              <a:solidFill>
                <a:srgbClr val="000000"/>
              </a:solidFill>
              <a:latin typeface="Arial"/>
            </a:endParaRPr>
          </a:p>
        </p:txBody>
      </p:sp>
      <p:sp>
        <p:nvSpPr>
          <p:cNvPr id="544" name="Google Shape;159;p 23"/>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usermod -l new_username old_username`.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5" name="" descr=""/>
          <p:cNvPicPr/>
          <p:nvPr/>
        </p:nvPicPr>
        <p:blipFill>
          <a:blip r:embed="rId1"/>
          <a:srcRect l="0" t="657" r="50840" b="-340"/>
          <a:stretch/>
        </p:blipFill>
        <p:spPr>
          <a:xfrm>
            <a:off x="4453920" y="0"/>
            <a:ext cx="5623920" cy="5700240"/>
          </a:xfrm>
          <a:prstGeom prst="rect">
            <a:avLst/>
          </a:prstGeom>
          <a:ln w="0">
            <a:noFill/>
          </a:ln>
        </p:spPr>
      </p:pic>
      <p:pic>
        <p:nvPicPr>
          <p:cNvPr id="546" name="Picture 26" descr=""/>
          <p:cNvPicPr/>
          <p:nvPr/>
        </p:nvPicPr>
        <p:blipFill>
          <a:blip r:embed="rId2"/>
          <a:stretch/>
        </p:blipFill>
        <p:spPr>
          <a:xfrm rot="16200000">
            <a:off x="6546600" y="2124360"/>
            <a:ext cx="1483200" cy="5668560"/>
          </a:xfrm>
          <a:prstGeom prst="rect">
            <a:avLst/>
          </a:prstGeom>
          <a:ln w="0">
            <a:noFill/>
          </a:ln>
        </p:spPr>
      </p:pic>
      <p:sp>
        <p:nvSpPr>
          <p:cNvPr id="547" name="PlaceHolder 1"/>
          <p:cNvSpPr>
            <a:spLocks noGrp="1"/>
          </p:cNvSpPr>
          <p:nvPr>
            <p:ph type="sldNum" idx="32"/>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82EDC8D-E6AC-431B-81C2-D353A25822CE}"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48"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49" name="Google Shape;158;p 26"/>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Home Directory?</a:t>
            </a:r>
            <a:endParaRPr b="0" lang="en-GB" sz="1600" spc="-1" strike="noStrike">
              <a:solidFill>
                <a:srgbClr val="000000"/>
              </a:solidFill>
              <a:latin typeface="Arial"/>
            </a:endParaRPr>
          </a:p>
        </p:txBody>
      </p:sp>
      <p:sp>
        <p:nvSpPr>
          <p:cNvPr id="550" name="Google Shape;159;p 26"/>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usermod -d /new/home/dir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1" name="" descr=""/>
          <p:cNvPicPr/>
          <p:nvPr/>
        </p:nvPicPr>
        <p:blipFill>
          <a:blip r:embed="rId1"/>
          <a:srcRect l="0" t="0" r="59135" b="-342"/>
          <a:stretch/>
        </p:blipFill>
        <p:spPr>
          <a:xfrm>
            <a:off x="5481360" y="-1800"/>
            <a:ext cx="4629240" cy="5702040"/>
          </a:xfrm>
          <a:prstGeom prst="rect">
            <a:avLst/>
          </a:prstGeom>
          <a:ln w="0">
            <a:noFill/>
          </a:ln>
        </p:spPr>
      </p:pic>
      <p:pic>
        <p:nvPicPr>
          <p:cNvPr id="552" name="Picture 27" descr=""/>
          <p:cNvPicPr/>
          <p:nvPr/>
        </p:nvPicPr>
        <p:blipFill>
          <a:blip r:embed="rId2"/>
          <a:stretch/>
        </p:blipFill>
        <p:spPr>
          <a:xfrm rot="16200000">
            <a:off x="7065360" y="2643480"/>
            <a:ext cx="1483200" cy="4629960"/>
          </a:xfrm>
          <a:prstGeom prst="rect">
            <a:avLst/>
          </a:prstGeom>
          <a:ln w="0">
            <a:noFill/>
          </a:ln>
        </p:spPr>
      </p:pic>
      <p:sp>
        <p:nvSpPr>
          <p:cNvPr id="553" name="PlaceHolder 1"/>
          <p:cNvSpPr>
            <a:spLocks noGrp="1"/>
          </p:cNvSpPr>
          <p:nvPr>
            <p:ph type="sldNum" idx="33"/>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1A0F67B-8DD9-43C3-AC56-84CB262B7F48}"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54"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55" name="Google Shape;158;p 25"/>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Add a User to a Supplementary Group?</a:t>
            </a:r>
            <a:endParaRPr b="0" lang="en-GB" sz="1600" spc="-1" strike="noStrike">
              <a:solidFill>
                <a:srgbClr val="000000"/>
              </a:solidFill>
              <a:latin typeface="Arial"/>
            </a:endParaRPr>
          </a:p>
        </p:txBody>
      </p:sp>
      <p:sp>
        <p:nvSpPr>
          <p:cNvPr id="556" name="Google Shape;159;p 25"/>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usermod -aG groupname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7" name="" descr=""/>
          <p:cNvPicPr/>
          <p:nvPr/>
        </p:nvPicPr>
        <p:blipFill>
          <a:blip r:embed="rId1"/>
          <a:srcRect l="0" t="0" r="59135" b="-342"/>
          <a:stretch/>
        </p:blipFill>
        <p:spPr>
          <a:xfrm>
            <a:off x="5481360" y="-1800"/>
            <a:ext cx="4629240" cy="5702040"/>
          </a:xfrm>
          <a:prstGeom prst="rect">
            <a:avLst/>
          </a:prstGeom>
          <a:ln w="0">
            <a:noFill/>
          </a:ln>
        </p:spPr>
      </p:pic>
      <p:pic>
        <p:nvPicPr>
          <p:cNvPr id="558" name="Picture 35" descr=""/>
          <p:cNvPicPr/>
          <p:nvPr/>
        </p:nvPicPr>
        <p:blipFill>
          <a:blip r:embed="rId2"/>
          <a:stretch/>
        </p:blipFill>
        <p:spPr>
          <a:xfrm rot="16200000">
            <a:off x="7065360" y="2643480"/>
            <a:ext cx="1483200" cy="4629960"/>
          </a:xfrm>
          <a:prstGeom prst="rect">
            <a:avLst/>
          </a:prstGeom>
          <a:ln w="0">
            <a:noFill/>
          </a:ln>
        </p:spPr>
      </p:pic>
      <p:sp>
        <p:nvSpPr>
          <p:cNvPr id="559" name="PlaceHolder 1"/>
          <p:cNvSpPr>
            <a:spLocks noGrp="1"/>
          </p:cNvSpPr>
          <p:nvPr>
            <p:ph type="sldNum" idx="34"/>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6DA44E2-D50D-4A4B-92B4-927E44276CB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60"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61" name="Google Shape;158;p 28"/>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Remove a User from a Supplementary Group?</a:t>
            </a:r>
            <a:endParaRPr b="0" lang="en-GB" sz="1600" spc="-1" strike="noStrike">
              <a:solidFill>
                <a:srgbClr val="000000"/>
              </a:solidFill>
              <a:latin typeface="Arial"/>
            </a:endParaRPr>
          </a:p>
        </p:txBody>
      </p:sp>
      <p:sp>
        <p:nvSpPr>
          <p:cNvPr id="562" name="Google Shape;159;p 28"/>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gpasswd -d username groupname`.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3" name="" descr=""/>
          <p:cNvPicPr/>
          <p:nvPr/>
        </p:nvPicPr>
        <p:blipFill>
          <a:blip r:embed="rId1"/>
          <a:srcRect l="0" t="0" r="59316" b="-340"/>
          <a:stretch/>
        </p:blipFill>
        <p:spPr>
          <a:xfrm>
            <a:off x="5481360" y="-1800"/>
            <a:ext cx="4629240" cy="5702040"/>
          </a:xfrm>
          <a:prstGeom prst="rect">
            <a:avLst/>
          </a:prstGeom>
          <a:ln w="0">
            <a:noFill/>
          </a:ln>
        </p:spPr>
      </p:pic>
      <p:pic>
        <p:nvPicPr>
          <p:cNvPr id="564" name="Picture 28" descr=""/>
          <p:cNvPicPr/>
          <p:nvPr/>
        </p:nvPicPr>
        <p:blipFill>
          <a:blip r:embed="rId2"/>
          <a:stretch/>
        </p:blipFill>
        <p:spPr>
          <a:xfrm rot="16200000">
            <a:off x="7065360" y="2643480"/>
            <a:ext cx="1483200" cy="4629960"/>
          </a:xfrm>
          <a:prstGeom prst="rect">
            <a:avLst/>
          </a:prstGeom>
          <a:ln w="0">
            <a:noFill/>
          </a:ln>
        </p:spPr>
      </p:pic>
      <p:sp>
        <p:nvSpPr>
          <p:cNvPr id="565" name="PlaceHolder 1"/>
          <p:cNvSpPr>
            <a:spLocks noGrp="1"/>
          </p:cNvSpPr>
          <p:nvPr>
            <p:ph type="sldNum" idx="35"/>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6CB98B5-6594-4F06-AA7D-D15390801E2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66"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67" name="Google Shape;158;p 27"/>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Shell?</a:t>
            </a:r>
            <a:endParaRPr b="0" lang="en-GB" sz="1600" spc="-1" strike="noStrike">
              <a:solidFill>
                <a:srgbClr val="000000"/>
              </a:solidFill>
              <a:latin typeface="Arial"/>
            </a:endParaRPr>
          </a:p>
        </p:txBody>
      </p:sp>
      <p:sp>
        <p:nvSpPr>
          <p:cNvPr id="568" name="Google Shape;159;p 27"/>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chsh -s /bin/bash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9" name="" descr=""/>
          <p:cNvPicPr/>
          <p:nvPr/>
        </p:nvPicPr>
        <p:blipFill>
          <a:blip r:embed="rId1"/>
          <a:srcRect l="0" t="0" r="59195" b="-340"/>
          <a:stretch/>
        </p:blipFill>
        <p:spPr>
          <a:xfrm>
            <a:off x="5481360" y="-1800"/>
            <a:ext cx="4629240" cy="5702040"/>
          </a:xfrm>
          <a:prstGeom prst="rect">
            <a:avLst/>
          </a:prstGeom>
          <a:ln w="0">
            <a:noFill/>
          </a:ln>
        </p:spPr>
      </p:pic>
      <p:pic>
        <p:nvPicPr>
          <p:cNvPr id="570" name="Picture 29" descr=""/>
          <p:cNvPicPr/>
          <p:nvPr/>
        </p:nvPicPr>
        <p:blipFill>
          <a:blip r:embed="rId2"/>
          <a:stretch/>
        </p:blipFill>
        <p:spPr>
          <a:xfrm rot="16200000">
            <a:off x="7065360" y="2643480"/>
            <a:ext cx="1483200" cy="4629960"/>
          </a:xfrm>
          <a:prstGeom prst="rect">
            <a:avLst/>
          </a:prstGeom>
          <a:ln w="0">
            <a:noFill/>
          </a:ln>
        </p:spPr>
      </p:pic>
      <p:sp>
        <p:nvSpPr>
          <p:cNvPr id="571" name="PlaceHolder 1"/>
          <p:cNvSpPr>
            <a:spLocks noGrp="1"/>
          </p:cNvSpPr>
          <p:nvPr>
            <p:ph type="sldNum" idx="36"/>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ADBCDFF-5ADE-442C-9D00-95C0C23534F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72"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73" name="Google Shape;158;p 29"/>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Lock a User's Account?</a:t>
            </a:r>
            <a:endParaRPr b="0" lang="en-GB" sz="1600" spc="-1" strike="noStrike">
              <a:solidFill>
                <a:srgbClr val="000000"/>
              </a:solidFill>
              <a:latin typeface="Arial"/>
            </a:endParaRPr>
          </a:p>
        </p:txBody>
      </p:sp>
      <p:sp>
        <p:nvSpPr>
          <p:cNvPr id="574" name="Google Shape;159;p 29"/>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passwd -l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5" name="" descr=""/>
          <p:cNvPicPr/>
          <p:nvPr/>
        </p:nvPicPr>
        <p:blipFill>
          <a:blip r:embed="rId1"/>
          <a:srcRect l="0" t="37" r="59195" b="-340"/>
          <a:stretch/>
        </p:blipFill>
        <p:spPr>
          <a:xfrm>
            <a:off x="5481360" y="0"/>
            <a:ext cx="4629240" cy="5699880"/>
          </a:xfrm>
          <a:prstGeom prst="rect">
            <a:avLst/>
          </a:prstGeom>
          <a:ln w="0">
            <a:noFill/>
          </a:ln>
        </p:spPr>
      </p:pic>
      <p:pic>
        <p:nvPicPr>
          <p:cNvPr id="576" name="Picture 30" descr=""/>
          <p:cNvPicPr/>
          <p:nvPr/>
        </p:nvPicPr>
        <p:blipFill>
          <a:blip r:embed="rId2"/>
          <a:stretch/>
        </p:blipFill>
        <p:spPr>
          <a:xfrm rot="16200000">
            <a:off x="7065360" y="2643480"/>
            <a:ext cx="1483200" cy="4629960"/>
          </a:xfrm>
          <a:prstGeom prst="rect">
            <a:avLst/>
          </a:prstGeom>
          <a:ln w="0">
            <a:noFill/>
          </a:ln>
        </p:spPr>
      </p:pic>
      <p:sp>
        <p:nvSpPr>
          <p:cNvPr id="577" name="PlaceHolder 1"/>
          <p:cNvSpPr>
            <a:spLocks noGrp="1"/>
          </p:cNvSpPr>
          <p:nvPr>
            <p:ph type="sldNum" idx="37"/>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23AA1FF-B785-4CB9-8184-E0080A07483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78"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79" name="Google Shape;158;p 30"/>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Unlock a User's Account?</a:t>
            </a:r>
            <a:endParaRPr b="0" lang="en-GB" sz="1600" spc="-1" strike="noStrike">
              <a:solidFill>
                <a:srgbClr val="000000"/>
              </a:solidFill>
              <a:latin typeface="Arial"/>
            </a:endParaRPr>
          </a:p>
        </p:txBody>
      </p:sp>
      <p:sp>
        <p:nvSpPr>
          <p:cNvPr id="580" name="Google Shape;159;p 30"/>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passwd -u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1" name="" descr=""/>
          <p:cNvPicPr/>
          <p:nvPr/>
        </p:nvPicPr>
        <p:blipFill>
          <a:blip r:embed="rId1"/>
          <a:srcRect l="223" t="650" r="40934" b="25871"/>
          <a:stretch/>
        </p:blipFill>
        <p:spPr>
          <a:xfrm>
            <a:off x="4448880" y="1126800"/>
            <a:ext cx="5492160" cy="3444840"/>
          </a:xfrm>
          <a:prstGeom prst="rect">
            <a:avLst/>
          </a:prstGeom>
          <a:ln w="0">
            <a:noFill/>
          </a:ln>
        </p:spPr>
      </p:pic>
      <p:pic>
        <p:nvPicPr>
          <p:cNvPr id="582" name="Picture 31" descr=""/>
          <p:cNvPicPr/>
          <p:nvPr/>
        </p:nvPicPr>
        <p:blipFill>
          <a:blip r:embed="rId2"/>
          <a:stretch/>
        </p:blipFill>
        <p:spPr>
          <a:xfrm rot="16200000">
            <a:off x="6461640" y="1112040"/>
            <a:ext cx="1483200" cy="5497200"/>
          </a:xfrm>
          <a:prstGeom prst="rect">
            <a:avLst/>
          </a:prstGeom>
          <a:ln w="0">
            <a:noFill/>
          </a:ln>
        </p:spPr>
      </p:pic>
      <p:sp>
        <p:nvSpPr>
          <p:cNvPr id="583" name="PlaceHolder 1"/>
          <p:cNvSpPr>
            <a:spLocks noGrp="1"/>
          </p:cNvSpPr>
          <p:nvPr>
            <p:ph type="sldNum" idx="38"/>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45BA149-BD8D-4C85-9FEE-6FC8BCC85DF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84"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85" name="Google Shape;158;p 31"/>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Set an Expiration Date for a User Account?</a:t>
            </a:r>
            <a:endParaRPr b="0" lang="en-GB" sz="1600" spc="-1" strike="noStrike">
              <a:solidFill>
                <a:srgbClr val="000000"/>
              </a:solidFill>
              <a:latin typeface="Arial"/>
            </a:endParaRPr>
          </a:p>
        </p:txBody>
      </p:sp>
      <p:sp>
        <p:nvSpPr>
          <p:cNvPr id="586" name="Google Shape;159;p 31"/>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chage -E YYYY-MM-DD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7" name="" descr=""/>
          <p:cNvPicPr/>
          <p:nvPr/>
        </p:nvPicPr>
        <p:blipFill>
          <a:blip r:embed="rId1"/>
          <a:srcRect l="0" t="429" r="59195" b="-340"/>
          <a:stretch/>
        </p:blipFill>
        <p:spPr>
          <a:xfrm>
            <a:off x="5481360" y="-16920"/>
            <a:ext cx="4629240" cy="5677200"/>
          </a:xfrm>
          <a:prstGeom prst="rect">
            <a:avLst/>
          </a:prstGeom>
          <a:ln w="0">
            <a:noFill/>
          </a:ln>
        </p:spPr>
      </p:pic>
      <p:pic>
        <p:nvPicPr>
          <p:cNvPr id="588" name="Picture 32" descr=""/>
          <p:cNvPicPr/>
          <p:nvPr/>
        </p:nvPicPr>
        <p:blipFill>
          <a:blip r:embed="rId2"/>
          <a:stretch/>
        </p:blipFill>
        <p:spPr>
          <a:xfrm rot="16200000">
            <a:off x="7065360" y="2643480"/>
            <a:ext cx="1483200" cy="4629960"/>
          </a:xfrm>
          <a:prstGeom prst="rect">
            <a:avLst/>
          </a:prstGeom>
          <a:ln w="0">
            <a:noFill/>
          </a:ln>
        </p:spPr>
      </p:pic>
      <p:sp>
        <p:nvSpPr>
          <p:cNvPr id="589" name="PlaceHolder 1"/>
          <p:cNvSpPr>
            <a:spLocks noGrp="1"/>
          </p:cNvSpPr>
          <p:nvPr>
            <p:ph type="sldNum" idx="39"/>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3ECED55-8F37-4CDE-8D0F-A51ED59D73F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90"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91" name="Google Shape;158;p 32"/>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Unlock a User's Account?</a:t>
            </a:r>
            <a:endParaRPr b="0" lang="en-GB" sz="1600" spc="-1" strike="noStrike">
              <a:solidFill>
                <a:srgbClr val="000000"/>
              </a:solidFill>
              <a:latin typeface="Arial"/>
            </a:endParaRPr>
          </a:p>
        </p:txBody>
      </p:sp>
      <p:sp>
        <p:nvSpPr>
          <p:cNvPr id="592" name="Google Shape;159;p 32"/>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passwd -u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Num" idx="40"/>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D760D79-95DE-402B-98F9-6D0E5504F29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94"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595" name="Google Shape;158;p 33"/>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User ID (UID)? </a:t>
            </a:r>
            <a:endParaRPr b="0" lang="en-GB" sz="1600" spc="-1" strike="noStrike">
              <a:solidFill>
                <a:srgbClr val="000000"/>
              </a:solidFill>
              <a:latin typeface="Arial"/>
            </a:endParaRPr>
          </a:p>
        </p:txBody>
      </p:sp>
      <p:sp>
        <p:nvSpPr>
          <p:cNvPr id="596" name="Google Shape;159;p 33"/>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Run `sudo usermod -u new_uid username`.</a:t>
            </a:r>
            <a:endParaRPr b="0" lang="en-GB" sz="1200" spc="-1" strike="noStrike">
              <a:solidFill>
                <a:srgbClr val="000000"/>
              </a:solidFill>
              <a:latin typeface="Arial"/>
            </a:endParaRPr>
          </a:p>
        </p:txBody>
      </p:sp>
      <p:pic>
        <p:nvPicPr>
          <p:cNvPr id="597" name="" descr=""/>
          <p:cNvPicPr/>
          <p:nvPr/>
        </p:nvPicPr>
        <p:blipFill>
          <a:blip r:embed="rId1"/>
          <a:stretch/>
        </p:blipFill>
        <p:spPr>
          <a:xfrm>
            <a:off x="4226400" y="1688760"/>
            <a:ext cx="5647680" cy="533880"/>
          </a:xfrm>
          <a:prstGeom prst="rect">
            <a:avLst/>
          </a:prstGeom>
          <a:ln w="0">
            <a:noFill/>
          </a:ln>
        </p:spPr>
      </p:pic>
      <p:pic>
        <p:nvPicPr>
          <p:cNvPr id="598" name="" descr=""/>
          <p:cNvPicPr/>
          <p:nvPr/>
        </p:nvPicPr>
        <p:blipFill>
          <a:blip r:embed="rId2"/>
          <a:srcRect l="0" t="0" r="15230" b="0"/>
          <a:stretch/>
        </p:blipFill>
        <p:spPr>
          <a:xfrm>
            <a:off x="4219920" y="2361960"/>
            <a:ext cx="5641200" cy="1425960"/>
          </a:xfrm>
          <a:prstGeom prst="rect">
            <a:avLst/>
          </a:prstGeom>
          <a:ln w="0">
            <a:noFill/>
          </a:ln>
        </p:spPr>
      </p:pic>
      <p:pic>
        <p:nvPicPr>
          <p:cNvPr id="599" name="Picture 33" descr=""/>
          <p:cNvPicPr/>
          <p:nvPr/>
        </p:nvPicPr>
        <p:blipFill>
          <a:blip r:embed="rId3"/>
          <a:stretch/>
        </p:blipFill>
        <p:spPr>
          <a:xfrm rot="16200000">
            <a:off x="6501240" y="429480"/>
            <a:ext cx="1088280" cy="5645520"/>
          </a:xfrm>
          <a:prstGeom prst="rect">
            <a:avLst/>
          </a:prstGeom>
          <a:ln w="0">
            <a:noFill/>
          </a:ln>
        </p:spPr>
      </p:pic>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0" name="" descr=""/>
          <p:cNvPicPr/>
          <p:nvPr/>
        </p:nvPicPr>
        <p:blipFill>
          <a:blip r:embed="rId1"/>
          <a:srcRect l="0" t="430" r="59257" b="-341"/>
          <a:stretch/>
        </p:blipFill>
        <p:spPr>
          <a:xfrm>
            <a:off x="5481360" y="-16920"/>
            <a:ext cx="4629240" cy="5677200"/>
          </a:xfrm>
          <a:prstGeom prst="rect">
            <a:avLst/>
          </a:prstGeom>
          <a:ln w="0">
            <a:noFill/>
          </a:ln>
        </p:spPr>
      </p:pic>
      <p:pic>
        <p:nvPicPr>
          <p:cNvPr id="601" name="Picture 34" descr=""/>
          <p:cNvPicPr/>
          <p:nvPr/>
        </p:nvPicPr>
        <p:blipFill>
          <a:blip r:embed="rId2"/>
          <a:stretch/>
        </p:blipFill>
        <p:spPr>
          <a:xfrm rot="16200000">
            <a:off x="7065360" y="2643480"/>
            <a:ext cx="1483200" cy="4629960"/>
          </a:xfrm>
          <a:prstGeom prst="rect">
            <a:avLst/>
          </a:prstGeom>
          <a:ln w="0">
            <a:noFill/>
          </a:ln>
        </p:spPr>
      </p:pic>
      <p:sp>
        <p:nvSpPr>
          <p:cNvPr id="602" name="PlaceHolder 1"/>
          <p:cNvSpPr>
            <a:spLocks noGrp="1"/>
          </p:cNvSpPr>
          <p:nvPr>
            <p:ph type="sldNum" idx="41"/>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8909055-6187-4447-96B3-6F129355D8D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03"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604" name="Google Shape;158;p 34"/>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Change a User's Primary Group?</a:t>
            </a:r>
            <a:endParaRPr b="0" lang="en-GB" sz="1600" spc="-1" strike="noStrike">
              <a:solidFill>
                <a:srgbClr val="000000"/>
              </a:solidFill>
              <a:latin typeface="Arial"/>
            </a:endParaRPr>
          </a:p>
        </p:txBody>
      </p:sp>
      <p:sp>
        <p:nvSpPr>
          <p:cNvPr id="605" name="Google Shape;159;p 34"/>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`sudo usermod -g groupname username`.</a:t>
            </a:r>
            <a:endParaRPr b="0" lang="en-GB"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Num" idx="42"/>
          </p:nvPr>
        </p:nvSpPr>
        <p:spPr>
          <a:xfrm>
            <a:off x="9339120" y="5194080"/>
            <a:ext cx="603000" cy="3049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71E59DF-DA0A-4F82-8450-BF575D28EAEB}"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07" name="PlaceHolder 2"/>
          <p:cNvSpPr>
            <a:spLocks noGrp="1"/>
          </p:cNvSpPr>
          <p:nvPr>
            <p:ph type="title"/>
          </p:nvPr>
        </p:nvSpPr>
        <p:spPr>
          <a:xfrm>
            <a:off x="517320" y="316440"/>
            <a:ext cx="4721040" cy="689400"/>
          </a:xfrm>
          <a:prstGeom prst="rect">
            <a:avLst/>
          </a:prstGeom>
          <a:noFill/>
          <a:ln w="0">
            <a:noFill/>
          </a:ln>
        </p:spPr>
        <p:txBody>
          <a:bodyPr lIns="0" rIns="0" tIns="0" bIns="0" anchor="ctr">
            <a:noAutofit/>
          </a:bodyPr>
          <a:p>
            <a:pPr indent="0">
              <a:lnSpc>
                <a:spcPct val="100000"/>
              </a:lnSpc>
              <a:buNone/>
              <a:tabLst>
                <a:tab algn="l" pos="0"/>
              </a:tabLst>
            </a:pPr>
            <a:r>
              <a:rPr b="1" lang="en-GB" sz="2400" spc="-1" strike="noStrike">
                <a:solidFill>
                  <a:schemeClr val="accent1"/>
                </a:solidFill>
                <a:latin typeface="Calibri"/>
                <a:ea typeface="Calibri"/>
              </a:rPr>
              <a:t>FAQs of Linux!</a:t>
            </a:r>
            <a:endParaRPr b="0" lang="en-GB" sz="2400" spc="-1" strike="noStrike">
              <a:solidFill>
                <a:srgbClr val="000000"/>
              </a:solidFill>
              <a:latin typeface="Arial"/>
            </a:endParaRPr>
          </a:p>
        </p:txBody>
      </p:sp>
      <p:sp>
        <p:nvSpPr>
          <p:cNvPr id="608" name="Google Shape;158;p 35"/>
          <p:cNvSpPr/>
          <p:nvPr/>
        </p:nvSpPr>
        <p:spPr>
          <a:xfrm>
            <a:off x="506520" y="1192320"/>
            <a:ext cx="4139640" cy="3049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600" spc="-1" strike="noStrike">
                <a:solidFill>
                  <a:schemeClr val="dk1"/>
                </a:solidFill>
                <a:latin typeface="Calibri"/>
                <a:ea typeface="Arial"/>
              </a:rPr>
              <a:t>How to Connect to a Remote Server Using SSH?</a:t>
            </a:r>
            <a:endParaRPr b="0" lang="en-GB" sz="1600" spc="-1" strike="noStrike">
              <a:solidFill>
                <a:srgbClr val="000000"/>
              </a:solidFill>
              <a:latin typeface="Arial"/>
            </a:endParaRPr>
          </a:p>
        </p:txBody>
      </p:sp>
      <p:sp>
        <p:nvSpPr>
          <p:cNvPr id="609" name="Google Shape;159;p 35"/>
          <p:cNvSpPr/>
          <p:nvPr/>
        </p:nvSpPr>
        <p:spPr>
          <a:xfrm>
            <a:off x="508680" y="1803600"/>
            <a:ext cx="4245120" cy="308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567"/>
              </a:spcBef>
            </a:pPr>
            <a:r>
              <a:rPr b="0" lang="en-US" sz="1200" spc="-1" strike="noStrike">
                <a:solidFill>
                  <a:schemeClr val="dk1"/>
                </a:solidFill>
                <a:latin typeface="Calibri"/>
                <a:ea typeface="Arial"/>
              </a:rPr>
              <a:t>Use `ssh username@remote_host`.</a:t>
            </a:r>
            <a:endParaRPr b="0" lang="en-GB" sz="1200" spc="-1" strike="noStrike">
              <a:solidFill>
                <a:srgbClr val="000000"/>
              </a:solidFill>
              <a:latin typeface="Arial"/>
            </a:endParaRPr>
          </a:p>
        </p:txBody>
      </p:sp>
      <p:pic>
        <p:nvPicPr>
          <p:cNvPr id="610" name="" descr=""/>
          <p:cNvPicPr/>
          <p:nvPr/>
        </p:nvPicPr>
        <p:blipFill>
          <a:blip r:embed="rId1"/>
          <a:stretch/>
        </p:blipFill>
        <p:spPr>
          <a:xfrm>
            <a:off x="4516560" y="1525320"/>
            <a:ext cx="5369760" cy="2616840"/>
          </a:xfrm>
          <a:prstGeom prst="rect">
            <a:avLst/>
          </a:prstGeom>
          <a:ln w="0">
            <a:noFill/>
          </a:ln>
        </p:spPr>
      </p:pic>
      <p:pic>
        <p:nvPicPr>
          <p:cNvPr id="611" name="Picture 36" descr=""/>
          <p:cNvPicPr/>
          <p:nvPr/>
        </p:nvPicPr>
        <p:blipFill>
          <a:blip r:embed="rId2"/>
          <a:stretch/>
        </p:blipFill>
        <p:spPr>
          <a:xfrm rot="16200000">
            <a:off x="6604200" y="888840"/>
            <a:ext cx="1168920" cy="5359320"/>
          </a:xfrm>
          <a:prstGeom prst="rect">
            <a:avLst/>
          </a:prstGeom>
          <a:ln w="0">
            <a:noFill/>
          </a:ln>
        </p:spPr>
      </p:pic>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ubTitle"/>
          </p:nvPr>
        </p:nvSpPr>
        <p:spPr>
          <a:xfrm>
            <a:off x="2387160" y="2541240"/>
            <a:ext cx="5809320" cy="351720"/>
          </a:xfrm>
          <a:prstGeom prst="rect">
            <a:avLst/>
          </a:prstGeom>
          <a:noFill/>
          <a:ln w="0">
            <a:noFill/>
          </a:ln>
        </p:spPr>
        <p:txBody>
          <a:bodyPr lIns="0" rIns="0" tIns="0" bIns="0" anchor="t">
            <a:noAutofit/>
          </a:bodyPr>
          <a:p>
            <a:pPr>
              <a:lnSpc>
                <a:spcPct val="100000"/>
              </a:lnSpc>
            </a:pPr>
            <a:r>
              <a:rPr b="0" lang="en-US" sz="1800" spc="-1" strike="noStrike">
                <a:solidFill>
                  <a:srgbClr val="000000"/>
                </a:solidFill>
                <a:latin typeface="Calibri"/>
                <a:ea typeface="Calibri"/>
              </a:rPr>
              <a:t>Nisanth Saravanan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395</TotalTime>
  <Application>LibreOffice/24.2.7.2$Windows_X86_64 LibreOffice_project/ee3885777aa7032db5a9b65deec9457448a91162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2025-03-06T14:11:15Z</dcterms:created>
  <dc:creator/>
  <dc:description/>
  <dc:language>en-GB</dc:language>
  <cp:lastModifiedBy/>
  <dcterms:modified xsi:type="dcterms:W3CDTF">2025-04-02T10:14:33Z</dcterms:modified>
  <cp:revision>87</cp:revision>
  <dc:subject/>
  <dc:title/>
</cp:coreProperties>
</file>

<file path=docProps/custom.xml><?xml version="1.0" encoding="utf-8"?>
<Properties xmlns="http://schemas.openxmlformats.org/officeDocument/2006/custom-properties" xmlns:vt="http://schemas.openxmlformats.org/officeDocument/2006/docPropsVTypes"/>
</file>