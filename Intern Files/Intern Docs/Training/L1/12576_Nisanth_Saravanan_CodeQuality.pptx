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8.xml" ContentType="application/vnd.openxmlformats-officedocument.presentationml.slideMaster+xml"/>
  <Override PartName="/ppt/slideMasters/slideMaster25.xml" ContentType="application/vnd.openxmlformats-officedocument.presentationml.slideMaster+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24.xml.rels" ContentType="application/vnd.openxmlformats-package.relationships+xml"/>
  <Override PartName="/ppt/slideMasters/_rels/slideMaster7.xml.rels" ContentType="application/vnd.openxmlformats-package.relationships+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slideMasters/_rels/slideMaster27.xml.rels" ContentType="application/vnd.openxmlformats-package.relationships+xml"/>
  <Override PartName="/ppt/slideMasters/_rels/slideMaster28.xml.rels" ContentType="application/vnd.openxmlformats-package.relationships+xml"/>
  <Override PartName="/ppt/theme/theme26.xml" ContentType="application/vnd.openxmlformats-officedocument.theme+xml"/>
  <Override PartName="/ppt/theme/theme1.xml" ContentType="application/vnd.openxmlformats-officedocument.theme+xml"/>
  <Override PartName="/ppt/theme/theme27.xml" ContentType="application/vnd.openxmlformats-officedocument.theme+xml"/>
  <Override PartName="/ppt/theme/theme2.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Lst>
  <p:sldIdLst>
    <p:sldId id="256" r:id="rId30"/>
    <p:sldId id="257" r:id="rId31"/>
    <p:sldId id="258" r:id="rId32"/>
    <p:sldId id="259" r:id="rId33"/>
    <p:sldId id="260" r:id="rId34"/>
    <p:sldId id="261"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1" r:id="rId55"/>
    <p:sldId id="282" r:id="rId56"/>
    <p:sldId id="283" r:id="rId57"/>
    <p:sldId id="284" r:id="rId58"/>
    <p:sldId id="285" r:id="rId59"/>
    <p:sldId id="286" r:id="rId60"/>
    <p:sldId id="287" r:id="rId61"/>
    <p:sldId id="288" r:id="rId62"/>
    <p:sldId id="289" r:id="rId63"/>
    <p:sldId id="290" r:id="rId64"/>
    <p:sldId id="291" r:id="rId65"/>
    <p:sldId id="292" r:id="rId66"/>
    <p:sldId id="293" r:id="rId67"/>
    <p:sldId id="294" r:id="rId68"/>
    <p:sldId id="295" r:id="rId69"/>
    <p:sldId id="296" r:id="rId70"/>
    <p:sldId id="297" r:id="rId71"/>
    <p:sldId id="298" r:id="rId72"/>
    <p:sldId id="299" r:id="rId73"/>
    <p:sldId id="300" r:id="rId74"/>
    <p:sldId id="301" r:id="rId75"/>
    <p:sldId id="302" r:id="rId76"/>
    <p:sldId id="303" r:id="rId77"/>
    <p:sldId id="304" r:id="rId78"/>
    <p:sldId id="305" r:id="rId79"/>
    <p:sldId id="306" r:id="rId80"/>
    <p:sldId id="307" r:id="rId81"/>
    <p:sldId id="308" r:id="rId82"/>
    <p:sldId id="309" r:id="rId83"/>
    <p:sldId id="310" r:id="rId84"/>
    <p:sldId id="311" r:id="rId85"/>
    <p:sldId id="312" r:id="rId86"/>
    <p:sldId id="313" r:id="rId87"/>
    <p:sldId id="314" r:id="rId88"/>
    <p:sldId id="315" r:id="rId89"/>
    <p:sldId id="316" r:id="rId90"/>
    <p:sldId id="317" r:id="rId91"/>
    <p:sldId id="318" r:id="rId92"/>
    <p:sldId id="319" r:id="rId93"/>
    <p:sldId id="320" r:id="rId94"/>
    <p:sldId id="321" r:id="rId95"/>
    <p:sldId id="322" r:id="rId96"/>
    <p:sldId id="323" r:id="rId97"/>
    <p:sldId id="324" r:id="rId98"/>
    <p:sldId id="325" r:id="rId99"/>
    <p:sldId id="326" r:id="rId100"/>
    <p:sldId id="327" r:id="rId101"/>
    <p:sldId id="328" r:id="rId102"/>
    <p:sldId id="329" r:id="rId103"/>
  </p:sldIdLst>
  <p:sldSz cx="9144000" cy="5145088"/>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7" Type="http://schemas.openxmlformats.org/officeDocument/2006/relationships/slide" Target="slides/slide28.xml"/><Relationship Id="rId58" Type="http://schemas.openxmlformats.org/officeDocument/2006/relationships/slide" Target="slides/slide29.xml"/><Relationship Id="rId59" Type="http://schemas.openxmlformats.org/officeDocument/2006/relationships/slide" Target="slides/slide30.xml"/><Relationship Id="rId60" Type="http://schemas.openxmlformats.org/officeDocument/2006/relationships/slide" Target="slides/slide31.xml"/><Relationship Id="rId61" Type="http://schemas.openxmlformats.org/officeDocument/2006/relationships/slide" Target="slides/slide32.xml"/><Relationship Id="rId62" Type="http://schemas.openxmlformats.org/officeDocument/2006/relationships/slide" Target="slides/slide33.xml"/><Relationship Id="rId63" Type="http://schemas.openxmlformats.org/officeDocument/2006/relationships/slide" Target="slides/slide34.xml"/><Relationship Id="rId64" Type="http://schemas.openxmlformats.org/officeDocument/2006/relationships/slide" Target="slides/slide35.xml"/><Relationship Id="rId65" Type="http://schemas.openxmlformats.org/officeDocument/2006/relationships/slide" Target="slides/slide36.xml"/><Relationship Id="rId66" Type="http://schemas.openxmlformats.org/officeDocument/2006/relationships/slide" Target="slides/slide37.xml"/><Relationship Id="rId67" Type="http://schemas.openxmlformats.org/officeDocument/2006/relationships/slide" Target="slides/slide38.xml"/><Relationship Id="rId68" Type="http://schemas.openxmlformats.org/officeDocument/2006/relationships/slide" Target="slides/slide39.xml"/><Relationship Id="rId69" Type="http://schemas.openxmlformats.org/officeDocument/2006/relationships/slide" Target="slides/slide40.xml"/><Relationship Id="rId70" Type="http://schemas.openxmlformats.org/officeDocument/2006/relationships/slide" Target="slides/slide41.xml"/><Relationship Id="rId71" Type="http://schemas.openxmlformats.org/officeDocument/2006/relationships/slide" Target="slides/slide42.xml"/><Relationship Id="rId72" Type="http://schemas.openxmlformats.org/officeDocument/2006/relationships/slide" Target="slides/slide43.xml"/><Relationship Id="rId73" Type="http://schemas.openxmlformats.org/officeDocument/2006/relationships/slide" Target="slides/slide44.xml"/><Relationship Id="rId74" Type="http://schemas.openxmlformats.org/officeDocument/2006/relationships/slide" Target="slides/slide45.xml"/><Relationship Id="rId75" Type="http://schemas.openxmlformats.org/officeDocument/2006/relationships/slide" Target="slides/slide46.xml"/><Relationship Id="rId76" Type="http://schemas.openxmlformats.org/officeDocument/2006/relationships/slide" Target="slides/slide47.xml"/><Relationship Id="rId77"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0" Type="http://schemas.openxmlformats.org/officeDocument/2006/relationships/slide" Target="slides/slide61.xml"/><Relationship Id="rId91" Type="http://schemas.openxmlformats.org/officeDocument/2006/relationships/slide" Target="slides/slide62.xml"/><Relationship Id="rId92" Type="http://schemas.openxmlformats.org/officeDocument/2006/relationships/slide" Target="slides/slide63.xml"/><Relationship Id="rId93" Type="http://schemas.openxmlformats.org/officeDocument/2006/relationships/slide" Target="slides/slide64.xml"/><Relationship Id="rId94" Type="http://schemas.openxmlformats.org/officeDocument/2006/relationships/slide" Target="slides/slide65.xml"/><Relationship Id="rId95" Type="http://schemas.openxmlformats.org/officeDocument/2006/relationships/slide" Target="slides/slide66.xml"/><Relationship Id="rId96" Type="http://schemas.openxmlformats.org/officeDocument/2006/relationships/slide" Target="slides/slide67.xml"/><Relationship Id="rId97" Type="http://schemas.openxmlformats.org/officeDocument/2006/relationships/slide" Target="slides/slide68.xml"/><Relationship Id="rId98" Type="http://schemas.openxmlformats.org/officeDocument/2006/relationships/slide" Target="slides/slide69.xml"/><Relationship Id="rId99" Type="http://schemas.openxmlformats.org/officeDocument/2006/relationships/slide" Target="slides/slide70.xml"/><Relationship Id="rId100" Type="http://schemas.openxmlformats.org/officeDocument/2006/relationships/slide" Target="slides/slide71.xml"/><Relationship Id="rId101" Type="http://schemas.openxmlformats.org/officeDocument/2006/relationships/slide" Target="slides/slide72.xml"/><Relationship Id="rId102" Type="http://schemas.openxmlformats.org/officeDocument/2006/relationships/slide" Target="slides/slide73.xml"/><Relationship Id="rId103" Type="http://schemas.openxmlformats.org/officeDocument/2006/relationships/slide" Target="slides/slide74.xml"/><Relationship Id="rId10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457200" y="1203840"/>
            <a:ext cx="8229240" cy="29836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62030704-C0DA-41AF-8521-311E01F72EC4}"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259B00CC-1870-46F0-8AAB-B05B213FE0AE}"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44708507-AA64-45E0-B308-50ED71B94692}"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ography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BA1A09C6-98EA-4179-ABA2-8BC13C07A8C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CFA1E325-B262-49E9-84D4-6A94112F347A}"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5A521A48-F0D4-4C62-802C-7573A8AD004B}"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1D4EBA85-AD2B-4FAB-A00F-C4DB802FDB93}"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_">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__">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___">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____">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________________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456840" y="494640"/>
            <a:ext cx="1773720" cy="412920"/>
          </a:xfrm>
          <a:prstGeom prst="rect">
            <a:avLst/>
          </a:prstGeom>
          <a:ln w="0">
            <a:noFill/>
          </a:ln>
        </p:spPr>
      </p:pic>
      <p:sp>
        <p:nvSpPr>
          <p:cNvPr id="1" name="Google Shape;10;p2"/>
          <p:cNvSpPr/>
          <p:nvPr/>
        </p:nvSpPr>
        <p:spPr>
          <a:xfrm>
            <a:off x="4288320" y="4549680"/>
            <a:ext cx="4427280" cy="30708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440360"/>
            <a:ext cx="3183120" cy="3701880"/>
          </a:xfrm>
          <a:prstGeom prst="rect">
            <a:avLst/>
          </a:prstGeom>
          <a:ln w="0">
            <a:noFill/>
          </a:ln>
        </p:spPr>
      </p:pic>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664560" y="4769640"/>
            <a:ext cx="857880" cy="163440"/>
          </a:xfrm>
          <a:prstGeom prst="rect">
            <a:avLst/>
          </a:prstGeom>
          <a:ln w="0">
            <a:noFill/>
          </a:ln>
        </p:spPr>
      </p:pic>
      <p:pic>
        <p:nvPicPr>
          <p:cNvPr id="8" name="Google Shape;19;p3" descr=""/>
          <p:cNvPicPr/>
          <p:nvPr/>
        </p:nvPicPr>
        <p:blipFill>
          <a:blip r:embed="rId3"/>
          <a:stretch/>
        </p:blipFill>
        <p:spPr>
          <a:xfrm>
            <a:off x="0" y="4689000"/>
            <a:ext cx="613440" cy="456120"/>
          </a:xfrm>
          <a:prstGeom prst="rect">
            <a:avLst/>
          </a:prstGeom>
          <a:ln w="0">
            <a:noFill/>
          </a:ln>
        </p:spPr>
      </p:pic>
      <p:sp>
        <p:nvSpPr>
          <p:cNvPr id="9"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36B12F7-BB38-413D-97B7-ED67524723C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25;p4" descr=""/>
          <p:cNvPicPr/>
          <p:nvPr/>
        </p:nvPicPr>
        <p:blipFill>
          <a:blip r:embed="rId2"/>
          <a:stretch/>
        </p:blipFill>
        <p:spPr>
          <a:xfrm>
            <a:off x="664560" y="4769640"/>
            <a:ext cx="857880" cy="163440"/>
          </a:xfrm>
          <a:prstGeom prst="rect">
            <a:avLst/>
          </a:prstGeom>
          <a:ln w="0">
            <a:noFill/>
          </a:ln>
        </p:spPr>
      </p:pic>
      <p:pic>
        <p:nvPicPr>
          <p:cNvPr id="14" name="Google Shape;28;p4" descr=""/>
          <p:cNvPicPr/>
          <p:nvPr/>
        </p:nvPicPr>
        <p:blipFill>
          <a:blip r:embed="rId3"/>
          <a:stretch/>
        </p:blipFill>
        <p:spPr>
          <a:xfrm>
            <a:off x="0" y="4689000"/>
            <a:ext cx="613440" cy="456120"/>
          </a:xfrm>
          <a:prstGeom prst="rect">
            <a:avLst/>
          </a:prstGeom>
          <a:ln w="0">
            <a:noFill/>
          </a:ln>
        </p:spPr>
      </p:pic>
      <p:sp>
        <p:nvSpPr>
          <p:cNvPr id="15"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17" name="PlaceHolder 1"/>
          <p:cNvSpPr>
            <a:spLocks noGrp="1"/>
          </p:cNvSpPr>
          <p:nvPr>
            <p:ph type="sldNum" idx="2"/>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2B6E8C9-02EC-4CD8-AC9C-8AB07D3C622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9"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oogle Shape;35;p5" descr=""/>
          <p:cNvPicPr/>
          <p:nvPr/>
        </p:nvPicPr>
        <p:blipFill>
          <a:blip r:embed="rId2"/>
          <a:stretch/>
        </p:blipFill>
        <p:spPr>
          <a:xfrm>
            <a:off x="664560" y="4769640"/>
            <a:ext cx="857880" cy="163440"/>
          </a:xfrm>
          <a:prstGeom prst="rect">
            <a:avLst/>
          </a:prstGeom>
          <a:ln w="0">
            <a:noFill/>
          </a:ln>
        </p:spPr>
      </p:pic>
      <p:pic>
        <p:nvPicPr>
          <p:cNvPr id="21" name="Google Shape;37;p5" descr=""/>
          <p:cNvPicPr/>
          <p:nvPr/>
        </p:nvPicPr>
        <p:blipFill>
          <a:blip r:embed="rId3"/>
          <a:stretch/>
        </p:blipFill>
        <p:spPr>
          <a:xfrm>
            <a:off x="0" y="4689000"/>
            <a:ext cx="613440" cy="456120"/>
          </a:xfrm>
          <a:prstGeom prst="rect">
            <a:avLst/>
          </a:prstGeom>
          <a:ln w="0">
            <a:noFill/>
          </a:ln>
        </p:spPr>
      </p:pic>
      <p:sp>
        <p:nvSpPr>
          <p:cNvPr id="22" name="Google Shape;33;p5"/>
          <p:cNvSpPr/>
          <p:nvPr/>
        </p:nvSpPr>
        <p:spPr>
          <a:xfrm>
            <a:off x="333756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23" name="PlaceHolder 1"/>
          <p:cNvSpPr>
            <a:spLocks noGrp="1"/>
          </p:cNvSpPr>
          <p:nvPr>
            <p:ph type="sldNum" idx="3"/>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4D04BB1-27C5-42B7-BBC6-0C1E0150DB7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41;p6"/>
          <p:cNvSpPr/>
          <p:nvPr/>
        </p:nvSpPr>
        <p:spPr>
          <a:xfrm>
            <a:off x="89568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7" name="Google Shape;44;p6"/>
          <p:cNvSpPr/>
          <p:nvPr/>
        </p:nvSpPr>
        <p:spPr>
          <a:xfrm>
            <a:off x="385884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8" name="Google Shape;47;p6"/>
          <p:cNvSpPr/>
          <p:nvPr/>
        </p:nvSpPr>
        <p:spPr>
          <a:xfrm>
            <a:off x="679356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pic>
        <p:nvPicPr>
          <p:cNvPr id="29" name="Google Shape;50;p6" descr=""/>
          <p:cNvPicPr/>
          <p:nvPr/>
        </p:nvPicPr>
        <p:blipFill>
          <a:blip r:embed="rId2"/>
          <a:stretch/>
        </p:blipFill>
        <p:spPr>
          <a:xfrm>
            <a:off x="664560" y="4769640"/>
            <a:ext cx="857880" cy="163440"/>
          </a:xfrm>
          <a:prstGeom prst="rect">
            <a:avLst/>
          </a:prstGeom>
          <a:ln w="0">
            <a:noFill/>
          </a:ln>
        </p:spPr>
      </p:pic>
      <p:pic>
        <p:nvPicPr>
          <p:cNvPr id="30" name="Google Shape;53;p6" descr=""/>
          <p:cNvPicPr/>
          <p:nvPr/>
        </p:nvPicPr>
        <p:blipFill>
          <a:blip r:embed="rId3"/>
          <a:stretch/>
        </p:blipFill>
        <p:spPr>
          <a:xfrm>
            <a:off x="0" y="4689000"/>
            <a:ext cx="613440" cy="456120"/>
          </a:xfrm>
          <a:prstGeom prst="rect">
            <a:avLst/>
          </a:prstGeom>
          <a:ln w="0">
            <a:noFill/>
          </a:ln>
        </p:spPr>
      </p:pic>
      <p:sp>
        <p:nvSpPr>
          <p:cNvPr id="31"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2" name="PlaceHolder 1"/>
          <p:cNvSpPr>
            <a:spLocks noGrp="1"/>
          </p:cNvSpPr>
          <p:nvPr>
            <p:ph type="sldNum" idx="4"/>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115F35A-2A6C-489B-A3BC-2F358EA3F8E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4"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36" name="Google Shape;59;p7" descr=""/>
          <p:cNvPicPr/>
          <p:nvPr/>
        </p:nvPicPr>
        <p:blipFill>
          <a:blip r:embed="rId2"/>
          <a:stretch/>
        </p:blipFill>
        <p:spPr>
          <a:xfrm>
            <a:off x="664560" y="4769640"/>
            <a:ext cx="857880" cy="163440"/>
          </a:xfrm>
          <a:prstGeom prst="rect">
            <a:avLst/>
          </a:prstGeom>
          <a:ln w="0">
            <a:noFill/>
          </a:ln>
        </p:spPr>
      </p:pic>
      <p:pic>
        <p:nvPicPr>
          <p:cNvPr id="37" name="Google Shape;60;p7" descr=""/>
          <p:cNvPicPr/>
          <p:nvPr/>
        </p:nvPicPr>
        <p:blipFill>
          <a:blip r:embed="rId3"/>
          <a:stretch/>
        </p:blipFill>
        <p:spPr>
          <a:xfrm>
            <a:off x="0" y="4689000"/>
            <a:ext cx="613440" cy="456120"/>
          </a:xfrm>
          <a:prstGeom prst="rect">
            <a:avLst/>
          </a:prstGeom>
          <a:ln w="0">
            <a:noFill/>
          </a:ln>
        </p:spPr>
      </p:pic>
      <p:grpSp>
        <p:nvGrpSpPr>
          <p:cNvPr id="38" name="Google Shape;61;p7"/>
          <p:cNvGrpSpPr/>
          <p:nvPr/>
        </p:nvGrpSpPr>
        <p:grpSpPr>
          <a:xfrm>
            <a:off x="6506280" y="720"/>
            <a:ext cx="2718360" cy="5019480"/>
            <a:chOff x="6506280" y="720"/>
            <a:chExt cx="2718360" cy="5019480"/>
          </a:xfrm>
        </p:grpSpPr>
        <p:sp>
          <p:nvSpPr>
            <p:cNvPr id="3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4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Google Shape;65;p8"/>
          <p:cNvSpPr/>
          <p:nvPr/>
        </p:nvSpPr>
        <p:spPr>
          <a:xfrm>
            <a:off x="2171880" y="1456560"/>
            <a:ext cx="5261040" cy="799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4" name="Google Shape;67;p8" descr=""/>
          <p:cNvPicPr/>
          <p:nvPr/>
        </p:nvPicPr>
        <p:blipFill>
          <a:blip r:embed="rId2"/>
          <a:srcRect l="75945" t="0" r="0" b="53046"/>
          <a:stretch/>
        </p:blipFill>
        <p:spPr>
          <a:xfrm>
            <a:off x="0" y="3412080"/>
            <a:ext cx="2048040" cy="1730520"/>
          </a:xfrm>
          <a:prstGeom prst="rect">
            <a:avLst/>
          </a:prstGeom>
          <a:ln w="0">
            <a:noFill/>
          </a:ln>
        </p:spPr>
      </p:pic>
      <p:sp>
        <p:nvSpPr>
          <p:cNvPr id="45" name="Google Shape;68;p8"/>
          <p:cNvSpPr/>
          <p:nvPr/>
        </p:nvSpPr>
        <p:spPr>
          <a:xfrm>
            <a:off x="2165400" y="3363120"/>
            <a:ext cx="6487920" cy="1188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6" name="Google Shape;69;p8"/>
          <p:cNvSpPr/>
          <p:nvPr/>
        </p:nvSpPr>
        <p:spPr>
          <a:xfrm>
            <a:off x="2165760" y="3057480"/>
            <a:ext cx="6491160" cy="2700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680" bIns="13680" anchor="ctr">
            <a:noAutofit/>
          </a:bodyPr>
          <a:p>
            <a:endParaRPr b="0" lang="en-GB" sz="1400" spc="-1" strike="noStrike">
              <a:solidFill>
                <a:srgbClr val="000000"/>
              </a:solidFill>
              <a:latin typeface="Calibri"/>
              <a:ea typeface="Proxima Nova"/>
            </a:endParaRPr>
          </a:p>
        </p:txBody>
      </p:sp>
      <p:pic>
        <p:nvPicPr>
          <p:cNvPr id="47" name="Google Shape;70;p8" descr=""/>
          <p:cNvPicPr/>
          <p:nvPr/>
        </p:nvPicPr>
        <p:blipFill>
          <a:blip r:embed="rId5"/>
          <a:stretch/>
        </p:blipFill>
        <p:spPr>
          <a:xfrm>
            <a:off x="6869160" y="422640"/>
            <a:ext cx="1784520" cy="414720"/>
          </a:xfrm>
          <a:prstGeom prst="rect">
            <a:avLst/>
          </a:prstGeom>
          <a:ln w="0">
            <a:noFill/>
          </a:ln>
        </p:spPr>
      </p:pic>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9"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0" name="Google Shape;16;p3" descr=""/>
          <p:cNvPicPr/>
          <p:nvPr/>
        </p:nvPicPr>
        <p:blipFill>
          <a:blip r:embed="rId2"/>
          <a:stretch/>
        </p:blipFill>
        <p:spPr>
          <a:xfrm>
            <a:off x="664560" y="4769640"/>
            <a:ext cx="857880" cy="163440"/>
          </a:xfrm>
          <a:prstGeom prst="rect">
            <a:avLst/>
          </a:prstGeom>
          <a:ln w="0">
            <a:noFill/>
          </a:ln>
        </p:spPr>
      </p:pic>
      <p:pic>
        <p:nvPicPr>
          <p:cNvPr id="51" name="Google Shape;19;p3" descr=""/>
          <p:cNvPicPr/>
          <p:nvPr/>
        </p:nvPicPr>
        <p:blipFill>
          <a:blip r:embed="rId3"/>
          <a:stretch/>
        </p:blipFill>
        <p:spPr>
          <a:xfrm>
            <a:off x="0" y="4689000"/>
            <a:ext cx="613440" cy="456120"/>
          </a:xfrm>
          <a:prstGeom prst="rect">
            <a:avLst/>
          </a:prstGeom>
          <a:ln w="0">
            <a:noFill/>
          </a:ln>
        </p:spPr>
      </p:pic>
      <p:sp>
        <p:nvSpPr>
          <p:cNvPr id="52"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3" name="PlaceHolder 1"/>
          <p:cNvSpPr>
            <a:spLocks noGrp="1"/>
          </p:cNvSpPr>
          <p:nvPr>
            <p:ph type="sldNum" idx="5"/>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27B8E52-A74B-4BD9-97FE-5F42E72E1E4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57" name="Google Shape;59;p7" descr=""/>
          <p:cNvPicPr/>
          <p:nvPr/>
        </p:nvPicPr>
        <p:blipFill>
          <a:blip r:embed="rId2"/>
          <a:stretch/>
        </p:blipFill>
        <p:spPr>
          <a:xfrm>
            <a:off x="664560" y="4769640"/>
            <a:ext cx="857880" cy="163440"/>
          </a:xfrm>
          <a:prstGeom prst="rect">
            <a:avLst/>
          </a:prstGeom>
          <a:ln w="0">
            <a:noFill/>
          </a:ln>
        </p:spPr>
      </p:pic>
      <p:pic>
        <p:nvPicPr>
          <p:cNvPr id="58" name="Google Shape;60;p7" descr=""/>
          <p:cNvPicPr/>
          <p:nvPr/>
        </p:nvPicPr>
        <p:blipFill>
          <a:blip r:embed="rId3"/>
          <a:stretch/>
        </p:blipFill>
        <p:spPr>
          <a:xfrm>
            <a:off x="0" y="4689000"/>
            <a:ext cx="613440" cy="456120"/>
          </a:xfrm>
          <a:prstGeom prst="rect">
            <a:avLst/>
          </a:prstGeom>
          <a:ln w="0">
            <a:noFill/>
          </a:ln>
        </p:spPr>
      </p:pic>
      <p:grpSp>
        <p:nvGrpSpPr>
          <p:cNvPr id="59" name="Google Shape;61;p7"/>
          <p:cNvGrpSpPr/>
          <p:nvPr/>
        </p:nvGrpSpPr>
        <p:grpSpPr>
          <a:xfrm>
            <a:off x="6506280" y="720"/>
            <a:ext cx="2718360" cy="5019480"/>
            <a:chOff x="6506280" y="720"/>
            <a:chExt cx="2718360" cy="5019480"/>
          </a:xfrm>
        </p:grpSpPr>
        <p:sp>
          <p:nvSpPr>
            <p:cNvPr id="60"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61"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3"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 name="Google Shape;35;p5" descr=""/>
          <p:cNvPicPr/>
          <p:nvPr/>
        </p:nvPicPr>
        <p:blipFill>
          <a:blip r:embed="rId2"/>
          <a:stretch/>
        </p:blipFill>
        <p:spPr>
          <a:xfrm>
            <a:off x="664560" y="4769640"/>
            <a:ext cx="857880" cy="163440"/>
          </a:xfrm>
          <a:prstGeom prst="rect">
            <a:avLst/>
          </a:prstGeom>
          <a:ln w="0">
            <a:noFill/>
          </a:ln>
        </p:spPr>
      </p:pic>
      <p:pic>
        <p:nvPicPr>
          <p:cNvPr id="65" name="Google Shape;37;p5" descr=""/>
          <p:cNvPicPr/>
          <p:nvPr/>
        </p:nvPicPr>
        <p:blipFill>
          <a:blip r:embed="rId3"/>
          <a:stretch/>
        </p:blipFill>
        <p:spPr>
          <a:xfrm>
            <a:off x="0" y="4689000"/>
            <a:ext cx="613440" cy="456120"/>
          </a:xfrm>
          <a:prstGeom prst="rect">
            <a:avLst/>
          </a:prstGeom>
          <a:ln w="0">
            <a:noFill/>
          </a:ln>
        </p:spPr>
      </p:pic>
      <p:sp>
        <p:nvSpPr>
          <p:cNvPr id="66" name="Google Shape;33;p5"/>
          <p:cNvSpPr/>
          <p:nvPr/>
        </p:nvSpPr>
        <p:spPr>
          <a:xfrm>
            <a:off x="333756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7" name="PlaceHolder 1"/>
          <p:cNvSpPr>
            <a:spLocks noGrp="1"/>
          </p:cNvSpPr>
          <p:nvPr>
            <p:ph type="sldNum" idx="6"/>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339F915-83D8-4B15-BF3C-8806660E719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9"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71" name="Google Shape;59;p7" descr=""/>
          <p:cNvPicPr/>
          <p:nvPr/>
        </p:nvPicPr>
        <p:blipFill>
          <a:blip r:embed="rId2"/>
          <a:stretch/>
        </p:blipFill>
        <p:spPr>
          <a:xfrm>
            <a:off x="664560" y="4769640"/>
            <a:ext cx="857880" cy="163440"/>
          </a:xfrm>
          <a:prstGeom prst="rect">
            <a:avLst/>
          </a:prstGeom>
          <a:ln w="0">
            <a:noFill/>
          </a:ln>
        </p:spPr>
      </p:pic>
      <p:pic>
        <p:nvPicPr>
          <p:cNvPr id="72" name="Google Shape;60;p7" descr=""/>
          <p:cNvPicPr/>
          <p:nvPr/>
        </p:nvPicPr>
        <p:blipFill>
          <a:blip r:embed="rId3"/>
          <a:stretch/>
        </p:blipFill>
        <p:spPr>
          <a:xfrm>
            <a:off x="0" y="4689000"/>
            <a:ext cx="613440" cy="456120"/>
          </a:xfrm>
          <a:prstGeom prst="rect">
            <a:avLst/>
          </a:prstGeom>
          <a:ln w="0">
            <a:noFill/>
          </a:ln>
        </p:spPr>
      </p:pic>
      <p:grpSp>
        <p:nvGrpSpPr>
          <p:cNvPr id="73" name="Google Shape;61;p7"/>
          <p:cNvGrpSpPr/>
          <p:nvPr/>
        </p:nvGrpSpPr>
        <p:grpSpPr>
          <a:xfrm>
            <a:off x="6506280" y="720"/>
            <a:ext cx="2718360" cy="5019480"/>
            <a:chOff x="6506280" y="720"/>
            <a:chExt cx="2718360" cy="5019480"/>
          </a:xfrm>
        </p:grpSpPr>
        <p:sp>
          <p:nvSpPr>
            <p:cNvPr id="74"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75"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77"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79" name="Google Shape;59;p7" descr=""/>
          <p:cNvPicPr/>
          <p:nvPr/>
        </p:nvPicPr>
        <p:blipFill>
          <a:blip r:embed="rId2"/>
          <a:stretch/>
        </p:blipFill>
        <p:spPr>
          <a:xfrm>
            <a:off x="664560" y="4769640"/>
            <a:ext cx="857880" cy="163440"/>
          </a:xfrm>
          <a:prstGeom prst="rect">
            <a:avLst/>
          </a:prstGeom>
          <a:ln w="0">
            <a:noFill/>
          </a:ln>
        </p:spPr>
      </p:pic>
      <p:pic>
        <p:nvPicPr>
          <p:cNvPr id="80" name="Google Shape;60;p7" descr=""/>
          <p:cNvPicPr/>
          <p:nvPr/>
        </p:nvPicPr>
        <p:blipFill>
          <a:blip r:embed="rId3"/>
          <a:stretch/>
        </p:blipFill>
        <p:spPr>
          <a:xfrm>
            <a:off x="0" y="4689000"/>
            <a:ext cx="613440" cy="456120"/>
          </a:xfrm>
          <a:prstGeom prst="rect">
            <a:avLst/>
          </a:prstGeom>
          <a:ln w="0">
            <a:noFill/>
          </a:ln>
        </p:spPr>
      </p:pic>
      <p:grpSp>
        <p:nvGrpSpPr>
          <p:cNvPr id="81" name="Google Shape;61;p7"/>
          <p:cNvGrpSpPr/>
          <p:nvPr/>
        </p:nvGrpSpPr>
        <p:grpSpPr>
          <a:xfrm>
            <a:off x="6506280" y="720"/>
            <a:ext cx="2718360" cy="5019480"/>
            <a:chOff x="6506280" y="720"/>
            <a:chExt cx="2718360" cy="5019480"/>
          </a:xfrm>
        </p:grpSpPr>
        <p:sp>
          <p:nvSpPr>
            <p:cNvPr id="82"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83"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85"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87" name="Google Shape;59;p7" descr=""/>
          <p:cNvPicPr/>
          <p:nvPr/>
        </p:nvPicPr>
        <p:blipFill>
          <a:blip r:embed="rId2"/>
          <a:stretch/>
        </p:blipFill>
        <p:spPr>
          <a:xfrm>
            <a:off x="664560" y="4769640"/>
            <a:ext cx="857880" cy="163440"/>
          </a:xfrm>
          <a:prstGeom prst="rect">
            <a:avLst/>
          </a:prstGeom>
          <a:ln w="0">
            <a:noFill/>
          </a:ln>
        </p:spPr>
      </p:pic>
      <p:pic>
        <p:nvPicPr>
          <p:cNvPr id="88" name="Google Shape;60;p7" descr=""/>
          <p:cNvPicPr/>
          <p:nvPr/>
        </p:nvPicPr>
        <p:blipFill>
          <a:blip r:embed="rId3"/>
          <a:stretch/>
        </p:blipFill>
        <p:spPr>
          <a:xfrm>
            <a:off x="0" y="4689000"/>
            <a:ext cx="613440" cy="456120"/>
          </a:xfrm>
          <a:prstGeom prst="rect">
            <a:avLst/>
          </a:prstGeom>
          <a:ln w="0">
            <a:noFill/>
          </a:ln>
        </p:spPr>
      </p:pic>
      <p:grpSp>
        <p:nvGrpSpPr>
          <p:cNvPr id="89" name="Google Shape;61;p7"/>
          <p:cNvGrpSpPr/>
          <p:nvPr/>
        </p:nvGrpSpPr>
        <p:grpSpPr>
          <a:xfrm>
            <a:off x="6506280" y="720"/>
            <a:ext cx="2718360" cy="5019480"/>
            <a:chOff x="6506280" y="720"/>
            <a:chExt cx="2718360" cy="5019480"/>
          </a:xfrm>
        </p:grpSpPr>
        <p:sp>
          <p:nvSpPr>
            <p:cNvPr id="90"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91"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93"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4" name="Google Shape;25;p4" descr=""/>
          <p:cNvPicPr/>
          <p:nvPr/>
        </p:nvPicPr>
        <p:blipFill>
          <a:blip r:embed="rId2"/>
          <a:stretch/>
        </p:blipFill>
        <p:spPr>
          <a:xfrm>
            <a:off x="664560" y="4769640"/>
            <a:ext cx="857880" cy="163440"/>
          </a:xfrm>
          <a:prstGeom prst="rect">
            <a:avLst/>
          </a:prstGeom>
          <a:ln w="0">
            <a:noFill/>
          </a:ln>
        </p:spPr>
      </p:pic>
      <p:pic>
        <p:nvPicPr>
          <p:cNvPr id="95" name="Google Shape;28;p4" descr=""/>
          <p:cNvPicPr/>
          <p:nvPr/>
        </p:nvPicPr>
        <p:blipFill>
          <a:blip r:embed="rId3"/>
          <a:stretch/>
        </p:blipFill>
        <p:spPr>
          <a:xfrm>
            <a:off x="0" y="4689000"/>
            <a:ext cx="613440" cy="456120"/>
          </a:xfrm>
          <a:prstGeom prst="rect">
            <a:avLst/>
          </a:prstGeom>
          <a:ln w="0">
            <a:noFill/>
          </a:ln>
        </p:spPr>
      </p:pic>
      <p:sp>
        <p:nvSpPr>
          <p:cNvPr id="96"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97"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98" name="PlaceHolder 1"/>
          <p:cNvSpPr>
            <a:spLocks noGrp="1"/>
          </p:cNvSpPr>
          <p:nvPr>
            <p:ph type="sldNum" idx="7"/>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059A37C-5C4A-45FC-8A55-67B0849186C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9"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00"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02" name="Google Shape;59;p7" descr=""/>
          <p:cNvPicPr/>
          <p:nvPr/>
        </p:nvPicPr>
        <p:blipFill>
          <a:blip r:embed="rId2"/>
          <a:stretch/>
        </p:blipFill>
        <p:spPr>
          <a:xfrm>
            <a:off x="664560" y="4769640"/>
            <a:ext cx="857880" cy="163440"/>
          </a:xfrm>
          <a:prstGeom prst="rect">
            <a:avLst/>
          </a:prstGeom>
          <a:ln w="0">
            <a:noFill/>
          </a:ln>
        </p:spPr>
      </p:pic>
      <p:pic>
        <p:nvPicPr>
          <p:cNvPr id="103" name="Google Shape;60;p7" descr=""/>
          <p:cNvPicPr/>
          <p:nvPr/>
        </p:nvPicPr>
        <p:blipFill>
          <a:blip r:embed="rId3"/>
          <a:stretch/>
        </p:blipFill>
        <p:spPr>
          <a:xfrm>
            <a:off x="0" y="4689000"/>
            <a:ext cx="613440" cy="456120"/>
          </a:xfrm>
          <a:prstGeom prst="rect">
            <a:avLst/>
          </a:prstGeom>
          <a:ln w="0">
            <a:noFill/>
          </a:ln>
        </p:spPr>
      </p:pic>
      <p:grpSp>
        <p:nvGrpSpPr>
          <p:cNvPr id="104" name="Google Shape;61;p7"/>
          <p:cNvGrpSpPr/>
          <p:nvPr/>
        </p:nvGrpSpPr>
        <p:grpSpPr>
          <a:xfrm>
            <a:off x="6506280" y="720"/>
            <a:ext cx="2718360" cy="5019480"/>
            <a:chOff x="6506280" y="720"/>
            <a:chExt cx="2718360" cy="5019480"/>
          </a:xfrm>
        </p:grpSpPr>
        <p:sp>
          <p:nvSpPr>
            <p:cNvPr id="105"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06"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0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08"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10" name="Google Shape;59;p7" descr=""/>
          <p:cNvPicPr/>
          <p:nvPr/>
        </p:nvPicPr>
        <p:blipFill>
          <a:blip r:embed="rId2"/>
          <a:stretch/>
        </p:blipFill>
        <p:spPr>
          <a:xfrm>
            <a:off x="664560" y="4769640"/>
            <a:ext cx="857880" cy="163440"/>
          </a:xfrm>
          <a:prstGeom prst="rect">
            <a:avLst/>
          </a:prstGeom>
          <a:ln w="0">
            <a:noFill/>
          </a:ln>
        </p:spPr>
      </p:pic>
      <p:pic>
        <p:nvPicPr>
          <p:cNvPr id="111" name="Google Shape;60;p7" descr=""/>
          <p:cNvPicPr/>
          <p:nvPr/>
        </p:nvPicPr>
        <p:blipFill>
          <a:blip r:embed="rId3"/>
          <a:stretch/>
        </p:blipFill>
        <p:spPr>
          <a:xfrm>
            <a:off x="0" y="4689000"/>
            <a:ext cx="613440" cy="456120"/>
          </a:xfrm>
          <a:prstGeom prst="rect">
            <a:avLst/>
          </a:prstGeom>
          <a:ln w="0">
            <a:noFill/>
          </a:ln>
        </p:spPr>
      </p:pic>
      <p:grpSp>
        <p:nvGrpSpPr>
          <p:cNvPr id="112" name="Google Shape;61;p7"/>
          <p:cNvGrpSpPr/>
          <p:nvPr/>
        </p:nvGrpSpPr>
        <p:grpSpPr>
          <a:xfrm>
            <a:off x="6506280" y="720"/>
            <a:ext cx="2718360" cy="5019480"/>
            <a:chOff x="6506280" y="720"/>
            <a:chExt cx="2718360" cy="5019480"/>
          </a:xfrm>
        </p:grpSpPr>
        <p:sp>
          <p:nvSpPr>
            <p:cNvPr id="113"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14"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16"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18" name="Google Shape;59;p7" descr=""/>
          <p:cNvPicPr/>
          <p:nvPr/>
        </p:nvPicPr>
        <p:blipFill>
          <a:blip r:embed="rId2"/>
          <a:stretch/>
        </p:blipFill>
        <p:spPr>
          <a:xfrm>
            <a:off x="664560" y="4769640"/>
            <a:ext cx="857880" cy="163440"/>
          </a:xfrm>
          <a:prstGeom prst="rect">
            <a:avLst/>
          </a:prstGeom>
          <a:ln w="0">
            <a:noFill/>
          </a:ln>
        </p:spPr>
      </p:pic>
      <p:pic>
        <p:nvPicPr>
          <p:cNvPr id="119" name="Google Shape;60;p7" descr=""/>
          <p:cNvPicPr/>
          <p:nvPr/>
        </p:nvPicPr>
        <p:blipFill>
          <a:blip r:embed="rId3"/>
          <a:stretch/>
        </p:blipFill>
        <p:spPr>
          <a:xfrm>
            <a:off x="0" y="4689000"/>
            <a:ext cx="613440" cy="456120"/>
          </a:xfrm>
          <a:prstGeom prst="rect">
            <a:avLst/>
          </a:prstGeom>
          <a:ln w="0">
            <a:noFill/>
          </a:ln>
        </p:spPr>
      </p:pic>
      <p:grpSp>
        <p:nvGrpSpPr>
          <p:cNvPr id="120" name="Google Shape;61;p7"/>
          <p:cNvGrpSpPr/>
          <p:nvPr/>
        </p:nvGrpSpPr>
        <p:grpSpPr>
          <a:xfrm>
            <a:off x="6506280" y="720"/>
            <a:ext cx="2718360" cy="5019480"/>
            <a:chOff x="6506280" y="720"/>
            <a:chExt cx="2718360" cy="5019480"/>
          </a:xfrm>
        </p:grpSpPr>
        <p:sp>
          <p:nvSpPr>
            <p:cNvPr id="121"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22"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26" name="Google Shape;59;p7" descr=""/>
          <p:cNvPicPr/>
          <p:nvPr/>
        </p:nvPicPr>
        <p:blipFill>
          <a:blip r:embed="rId2"/>
          <a:stretch/>
        </p:blipFill>
        <p:spPr>
          <a:xfrm>
            <a:off x="664560" y="4769640"/>
            <a:ext cx="857880" cy="163440"/>
          </a:xfrm>
          <a:prstGeom prst="rect">
            <a:avLst/>
          </a:prstGeom>
          <a:ln w="0">
            <a:noFill/>
          </a:ln>
        </p:spPr>
      </p:pic>
      <p:pic>
        <p:nvPicPr>
          <p:cNvPr id="127" name="Google Shape;60;p7" descr=""/>
          <p:cNvPicPr/>
          <p:nvPr/>
        </p:nvPicPr>
        <p:blipFill>
          <a:blip r:embed="rId3"/>
          <a:stretch/>
        </p:blipFill>
        <p:spPr>
          <a:xfrm>
            <a:off x="0" y="4689000"/>
            <a:ext cx="613440" cy="456120"/>
          </a:xfrm>
          <a:prstGeom prst="rect">
            <a:avLst/>
          </a:prstGeom>
          <a:ln w="0">
            <a:noFill/>
          </a:ln>
        </p:spPr>
      </p:pic>
      <p:grpSp>
        <p:nvGrpSpPr>
          <p:cNvPr id="128" name="Google Shape;61;p7"/>
          <p:cNvGrpSpPr/>
          <p:nvPr/>
        </p:nvGrpSpPr>
        <p:grpSpPr>
          <a:xfrm>
            <a:off x="6506280" y="720"/>
            <a:ext cx="2718360" cy="5019480"/>
            <a:chOff x="6506280" y="720"/>
            <a:chExt cx="2718360" cy="5019480"/>
          </a:xfrm>
        </p:grpSpPr>
        <p:sp>
          <p:nvSpPr>
            <p:cNvPr id="12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3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3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34" name="Google Shape;59;p7" descr=""/>
          <p:cNvPicPr/>
          <p:nvPr/>
        </p:nvPicPr>
        <p:blipFill>
          <a:blip r:embed="rId2"/>
          <a:stretch/>
        </p:blipFill>
        <p:spPr>
          <a:xfrm>
            <a:off x="664560" y="4769640"/>
            <a:ext cx="857880" cy="163440"/>
          </a:xfrm>
          <a:prstGeom prst="rect">
            <a:avLst/>
          </a:prstGeom>
          <a:ln w="0">
            <a:noFill/>
          </a:ln>
        </p:spPr>
      </p:pic>
      <p:pic>
        <p:nvPicPr>
          <p:cNvPr id="135" name="Google Shape;60;p7" descr=""/>
          <p:cNvPicPr/>
          <p:nvPr/>
        </p:nvPicPr>
        <p:blipFill>
          <a:blip r:embed="rId3"/>
          <a:stretch/>
        </p:blipFill>
        <p:spPr>
          <a:xfrm>
            <a:off x="0" y="4689000"/>
            <a:ext cx="613440" cy="456120"/>
          </a:xfrm>
          <a:prstGeom prst="rect">
            <a:avLst/>
          </a:prstGeom>
          <a:ln w="0">
            <a:noFill/>
          </a:ln>
        </p:spPr>
      </p:pic>
      <p:grpSp>
        <p:nvGrpSpPr>
          <p:cNvPr id="136" name="Google Shape;61;p7"/>
          <p:cNvGrpSpPr/>
          <p:nvPr/>
        </p:nvGrpSpPr>
        <p:grpSpPr>
          <a:xfrm>
            <a:off x="6506280" y="720"/>
            <a:ext cx="2718360" cy="5019480"/>
            <a:chOff x="6506280" y="720"/>
            <a:chExt cx="2718360" cy="5019480"/>
          </a:xfrm>
        </p:grpSpPr>
        <p:sp>
          <p:nvSpPr>
            <p:cNvPr id="137"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38"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40"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42" name="Google Shape;59;p7" descr=""/>
          <p:cNvPicPr/>
          <p:nvPr/>
        </p:nvPicPr>
        <p:blipFill>
          <a:blip r:embed="rId2"/>
          <a:stretch/>
        </p:blipFill>
        <p:spPr>
          <a:xfrm>
            <a:off x="664560" y="4769640"/>
            <a:ext cx="857880" cy="163440"/>
          </a:xfrm>
          <a:prstGeom prst="rect">
            <a:avLst/>
          </a:prstGeom>
          <a:ln w="0">
            <a:noFill/>
          </a:ln>
        </p:spPr>
      </p:pic>
      <p:pic>
        <p:nvPicPr>
          <p:cNvPr id="143" name="Google Shape;60;p7" descr=""/>
          <p:cNvPicPr/>
          <p:nvPr/>
        </p:nvPicPr>
        <p:blipFill>
          <a:blip r:embed="rId3"/>
          <a:stretch/>
        </p:blipFill>
        <p:spPr>
          <a:xfrm>
            <a:off x="0" y="4689000"/>
            <a:ext cx="613440" cy="456120"/>
          </a:xfrm>
          <a:prstGeom prst="rect">
            <a:avLst/>
          </a:prstGeom>
          <a:ln w="0">
            <a:noFill/>
          </a:ln>
        </p:spPr>
      </p:pic>
      <p:grpSp>
        <p:nvGrpSpPr>
          <p:cNvPr id="144" name="Google Shape;61;p7"/>
          <p:cNvGrpSpPr/>
          <p:nvPr/>
        </p:nvGrpSpPr>
        <p:grpSpPr>
          <a:xfrm>
            <a:off x="6506280" y="720"/>
            <a:ext cx="2718360" cy="5019480"/>
            <a:chOff x="6506280" y="720"/>
            <a:chExt cx="2718360" cy="5019480"/>
          </a:xfrm>
        </p:grpSpPr>
        <p:sp>
          <p:nvSpPr>
            <p:cNvPr id="145"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46"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48"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9"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50" name="Google Shape;59;p7" descr=""/>
          <p:cNvPicPr/>
          <p:nvPr/>
        </p:nvPicPr>
        <p:blipFill>
          <a:blip r:embed="rId2"/>
          <a:stretch/>
        </p:blipFill>
        <p:spPr>
          <a:xfrm>
            <a:off x="664560" y="4769640"/>
            <a:ext cx="857880" cy="163440"/>
          </a:xfrm>
          <a:prstGeom prst="rect">
            <a:avLst/>
          </a:prstGeom>
          <a:ln w="0">
            <a:noFill/>
          </a:ln>
        </p:spPr>
      </p:pic>
      <p:pic>
        <p:nvPicPr>
          <p:cNvPr id="151" name="Google Shape;60;p7" descr=""/>
          <p:cNvPicPr/>
          <p:nvPr/>
        </p:nvPicPr>
        <p:blipFill>
          <a:blip r:embed="rId3"/>
          <a:stretch/>
        </p:blipFill>
        <p:spPr>
          <a:xfrm>
            <a:off x="0" y="4689000"/>
            <a:ext cx="613440" cy="456120"/>
          </a:xfrm>
          <a:prstGeom prst="rect">
            <a:avLst/>
          </a:prstGeom>
          <a:ln w="0">
            <a:noFill/>
          </a:ln>
        </p:spPr>
      </p:pic>
      <p:grpSp>
        <p:nvGrpSpPr>
          <p:cNvPr id="152" name="Google Shape;61;p7"/>
          <p:cNvGrpSpPr/>
          <p:nvPr/>
        </p:nvGrpSpPr>
        <p:grpSpPr>
          <a:xfrm>
            <a:off x="6506280" y="720"/>
            <a:ext cx="2718360" cy="5019480"/>
            <a:chOff x="6506280" y="720"/>
            <a:chExt cx="2718360" cy="5019480"/>
          </a:xfrm>
        </p:grpSpPr>
        <p:sp>
          <p:nvSpPr>
            <p:cNvPr id="153"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54"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56"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58" name="Google Shape;59;p7" descr=""/>
          <p:cNvPicPr/>
          <p:nvPr/>
        </p:nvPicPr>
        <p:blipFill>
          <a:blip r:embed="rId2"/>
          <a:stretch/>
        </p:blipFill>
        <p:spPr>
          <a:xfrm>
            <a:off x="664560" y="4769640"/>
            <a:ext cx="857880" cy="163440"/>
          </a:xfrm>
          <a:prstGeom prst="rect">
            <a:avLst/>
          </a:prstGeom>
          <a:ln w="0">
            <a:noFill/>
          </a:ln>
        </p:spPr>
      </p:pic>
      <p:pic>
        <p:nvPicPr>
          <p:cNvPr id="159" name="Google Shape;60;p7" descr=""/>
          <p:cNvPicPr/>
          <p:nvPr/>
        </p:nvPicPr>
        <p:blipFill>
          <a:blip r:embed="rId3"/>
          <a:stretch/>
        </p:blipFill>
        <p:spPr>
          <a:xfrm>
            <a:off x="0" y="4689000"/>
            <a:ext cx="613440" cy="456120"/>
          </a:xfrm>
          <a:prstGeom prst="rect">
            <a:avLst/>
          </a:prstGeom>
          <a:ln w="0">
            <a:noFill/>
          </a:ln>
        </p:spPr>
      </p:pic>
      <p:grpSp>
        <p:nvGrpSpPr>
          <p:cNvPr id="160" name="Google Shape;61;p7"/>
          <p:cNvGrpSpPr/>
          <p:nvPr/>
        </p:nvGrpSpPr>
        <p:grpSpPr>
          <a:xfrm>
            <a:off x="6506280" y="720"/>
            <a:ext cx="2718360" cy="5019480"/>
            <a:chOff x="6506280" y="720"/>
            <a:chExt cx="2718360" cy="5019480"/>
          </a:xfrm>
        </p:grpSpPr>
        <p:sp>
          <p:nvSpPr>
            <p:cNvPr id="161"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62"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6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6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66" name="Google Shape;59;p7" descr=""/>
          <p:cNvPicPr/>
          <p:nvPr/>
        </p:nvPicPr>
        <p:blipFill>
          <a:blip r:embed="rId2"/>
          <a:stretch/>
        </p:blipFill>
        <p:spPr>
          <a:xfrm>
            <a:off x="664560" y="4769640"/>
            <a:ext cx="857880" cy="163440"/>
          </a:xfrm>
          <a:prstGeom prst="rect">
            <a:avLst/>
          </a:prstGeom>
          <a:ln w="0">
            <a:noFill/>
          </a:ln>
        </p:spPr>
      </p:pic>
      <p:pic>
        <p:nvPicPr>
          <p:cNvPr id="167" name="Google Shape;60;p7" descr=""/>
          <p:cNvPicPr/>
          <p:nvPr/>
        </p:nvPicPr>
        <p:blipFill>
          <a:blip r:embed="rId3"/>
          <a:stretch/>
        </p:blipFill>
        <p:spPr>
          <a:xfrm>
            <a:off x="0" y="4689000"/>
            <a:ext cx="613440" cy="456120"/>
          </a:xfrm>
          <a:prstGeom prst="rect">
            <a:avLst/>
          </a:prstGeom>
          <a:ln w="0">
            <a:noFill/>
          </a:ln>
        </p:spPr>
      </p:pic>
      <p:grpSp>
        <p:nvGrpSpPr>
          <p:cNvPr id="168" name="Google Shape;61;p7"/>
          <p:cNvGrpSpPr/>
          <p:nvPr/>
        </p:nvGrpSpPr>
        <p:grpSpPr>
          <a:xfrm>
            <a:off x="6506280" y="720"/>
            <a:ext cx="2718360" cy="5019480"/>
            <a:chOff x="6506280" y="720"/>
            <a:chExt cx="2718360" cy="5019480"/>
          </a:xfrm>
        </p:grpSpPr>
        <p:sp>
          <p:nvSpPr>
            <p:cNvPr id="16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7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7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74" name="Google Shape;59;p7" descr=""/>
          <p:cNvPicPr/>
          <p:nvPr/>
        </p:nvPicPr>
        <p:blipFill>
          <a:blip r:embed="rId2"/>
          <a:stretch/>
        </p:blipFill>
        <p:spPr>
          <a:xfrm>
            <a:off x="664560" y="4769640"/>
            <a:ext cx="857880" cy="163440"/>
          </a:xfrm>
          <a:prstGeom prst="rect">
            <a:avLst/>
          </a:prstGeom>
          <a:ln w="0">
            <a:noFill/>
          </a:ln>
        </p:spPr>
      </p:pic>
      <p:pic>
        <p:nvPicPr>
          <p:cNvPr id="175" name="Google Shape;60;p7" descr=""/>
          <p:cNvPicPr/>
          <p:nvPr/>
        </p:nvPicPr>
        <p:blipFill>
          <a:blip r:embed="rId3"/>
          <a:stretch/>
        </p:blipFill>
        <p:spPr>
          <a:xfrm>
            <a:off x="0" y="4689000"/>
            <a:ext cx="613440" cy="456120"/>
          </a:xfrm>
          <a:prstGeom prst="rect">
            <a:avLst/>
          </a:prstGeom>
          <a:ln w="0">
            <a:noFill/>
          </a:ln>
        </p:spPr>
      </p:pic>
      <p:grpSp>
        <p:nvGrpSpPr>
          <p:cNvPr id="176" name="Google Shape;61;p7"/>
          <p:cNvGrpSpPr/>
          <p:nvPr/>
        </p:nvGrpSpPr>
        <p:grpSpPr>
          <a:xfrm>
            <a:off x="6506280" y="720"/>
            <a:ext cx="2718360" cy="5019480"/>
            <a:chOff x="6506280" y="720"/>
            <a:chExt cx="2718360" cy="5019480"/>
          </a:xfrm>
        </p:grpSpPr>
        <p:sp>
          <p:nvSpPr>
            <p:cNvPr id="177"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78"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80"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4"/>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82" name="Google Shape;59;p7" descr=""/>
          <p:cNvPicPr/>
          <p:nvPr/>
        </p:nvPicPr>
        <p:blipFill>
          <a:blip r:embed="rId2"/>
          <a:stretch/>
        </p:blipFill>
        <p:spPr>
          <a:xfrm>
            <a:off x="664560" y="4769640"/>
            <a:ext cx="857880" cy="163440"/>
          </a:xfrm>
          <a:prstGeom prst="rect">
            <a:avLst/>
          </a:prstGeom>
          <a:ln w="0">
            <a:noFill/>
          </a:ln>
        </p:spPr>
      </p:pic>
      <p:pic>
        <p:nvPicPr>
          <p:cNvPr id="183" name="Google Shape;60;p7" descr=""/>
          <p:cNvPicPr/>
          <p:nvPr/>
        </p:nvPicPr>
        <p:blipFill>
          <a:blip r:embed="rId3"/>
          <a:stretch/>
        </p:blipFill>
        <p:spPr>
          <a:xfrm>
            <a:off x="0" y="4689000"/>
            <a:ext cx="613440" cy="456120"/>
          </a:xfrm>
          <a:prstGeom prst="rect">
            <a:avLst/>
          </a:prstGeom>
          <a:ln w="0">
            <a:noFill/>
          </a:ln>
        </p:spPr>
      </p:pic>
      <p:grpSp>
        <p:nvGrpSpPr>
          <p:cNvPr id="184" name="Google Shape;61;p7"/>
          <p:cNvGrpSpPr/>
          <p:nvPr/>
        </p:nvGrpSpPr>
        <p:grpSpPr>
          <a:xfrm>
            <a:off x="6506280" y="720"/>
            <a:ext cx="2718360" cy="5019480"/>
            <a:chOff x="6506280" y="720"/>
            <a:chExt cx="2718360" cy="5019480"/>
          </a:xfrm>
        </p:grpSpPr>
        <p:sp>
          <p:nvSpPr>
            <p:cNvPr id="185"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86"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88"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4"/>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9"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90" name="Google Shape;59;p7" descr=""/>
          <p:cNvPicPr/>
          <p:nvPr/>
        </p:nvPicPr>
        <p:blipFill>
          <a:blip r:embed="rId2"/>
          <a:stretch/>
        </p:blipFill>
        <p:spPr>
          <a:xfrm>
            <a:off x="664560" y="4769640"/>
            <a:ext cx="857880" cy="163440"/>
          </a:xfrm>
          <a:prstGeom prst="rect">
            <a:avLst/>
          </a:prstGeom>
          <a:ln w="0">
            <a:noFill/>
          </a:ln>
        </p:spPr>
      </p:pic>
      <p:pic>
        <p:nvPicPr>
          <p:cNvPr id="191" name="Google Shape;60;p7" descr=""/>
          <p:cNvPicPr/>
          <p:nvPr/>
        </p:nvPicPr>
        <p:blipFill>
          <a:blip r:embed="rId3"/>
          <a:stretch/>
        </p:blipFill>
        <p:spPr>
          <a:xfrm>
            <a:off x="0" y="4689000"/>
            <a:ext cx="613440" cy="456120"/>
          </a:xfrm>
          <a:prstGeom prst="rect">
            <a:avLst/>
          </a:prstGeom>
          <a:ln w="0">
            <a:noFill/>
          </a:ln>
        </p:spPr>
      </p:pic>
      <p:grpSp>
        <p:nvGrpSpPr>
          <p:cNvPr id="192" name="Google Shape;61;p7"/>
          <p:cNvGrpSpPr/>
          <p:nvPr/>
        </p:nvGrpSpPr>
        <p:grpSpPr>
          <a:xfrm>
            <a:off x="6506280" y="720"/>
            <a:ext cx="2718360" cy="5019480"/>
            <a:chOff x="6506280" y="720"/>
            <a:chExt cx="2718360" cy="5019480"/>
          </a:xfrm>
        </p:grpSpPr>
        <p:sp>
          <p:nvSpPr>
            <p:cNvPr id="193"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194"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96"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4"/>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7"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198" name="Google Shape;59;p7" descr=""/>
          <p:cNvPicPr/>
          <p:nvPr/>
        </p:nvPicPr>
        <p:blipFill>
          <a:blip r:embed="rId2"/>
          <a:stretch/>
        </p:blipFill>
        <p:spPr>
          <a:xfrm>
            <a:off x="664560" y="4769640"/>
            <a:ext cx="857880" cy="163440"/>
          </a:xfrm>
          <a:prstGeom prst="rect">
            <a:avLst/>
          </a:prstGeom>
          <a:ln w="0">
            <a:noFill/>
          </a:ln>
        </p:spPr>
      </p:pic>
      <p:pic>
        <p:nvPicPr>
          <p:cNvPr id="199" name="Google Shape;60;p7" descr=""/>
          <p:cNvPicPr/>
          <p:nvPr/>
        </p:nvPicPr>
        <p:blipFill>
          <a:blip r:embed="rId3"/>
          <a:stretch/>
        </p:blipFill>
        <p:spPr>
          <a:xfrm>
            <a:off x="0" y="4689000"/>
            <a:ext cx="613440" cy="456120"/>
          </a:xfrm>
          <a:prstGeom prst="rect">
            <a:avLst/>
          </a:prstGeom>
          <a:ln w="0">
            <a:noFill/>
          </a:ln>
        </p:spPr>
      </p:pic>
      <p:grpSp>
        <p:nvGrpSpPr>
          <p:cNvPr id="200" name="Google Shape;61;p7"/>
          <p:cNvGrpSpPr/>
          <p:nvPr/>
        </p:nvGrpSpPr>
        <p:grpSpPr>
          <a:xfrm>
            <a:off x="6506280" y="720"/>
            <a:ext cx="2718360" cy="5019480"/>
            <a:chOff x="6506280" y="720"/>
            <a:chExt cx="2718360" cy="5019480"/>
          </a:xfrm>
        </p:grpSpPr>
        <p:sp>
          <p:nvSpPr>
            <p:cNvPr id="201"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02"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20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0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206" name="Google Shape;59;p7" descr=""/>
          <p:cNvPicPr/>
          <p:nvPr/>
        </p:nvPicPr>
        <p:blipFill>
          <a:blip r:embed="rId2"/>
          <a:stretch/>
        </p:blipFill>
        <p:spPr>
          <a:xfrm>
            <a:off x="664560" y="4769640"/>
            <a:ext cx="857880" cy="163440"/>
          </a:xfrm>
          <a:prstGeom prst="rect">
            <a:avLst/>
          </a:prstGeom>
          <a:ln w="0">
            <a:noFill/>
          </a:ln>
        </p:spPr>
      </p:pic>
      <p:pic>
        <p:nvPicPr>
          <p:cNvPr id="207" name="Google Shape;60;p7" descr=""/>
          <p:cNvPicPr/>
          <p:nvPr/>
        </p:nvPicPr>
        <p:blipFill>
          <a:blip r:embed="rId3"/>
          <a:stretch/>
        </p:blipFill>
        <p:spPr>
          <a:xfrm>
            <a:off x="0" y="4689000"/>
            <a:ext cx="613440" cy="456120"/>
          </a:xfrm>
          <a:prstGeom prst="rect">
            <a:avLst/>
          </a:prstGeom>
          <a:ln w="0">
            <a:noFill/>
          </a:ln>
        </p:spPr>
      </p:pic>
      <p:grpSp>
        <p:nvGrpSpPr>
          <p:cNvPr id="208" name="Google Shape;61;p7"/>
          <p:cNvGrpSpPr/>
          <p:nvPr/>
        </p:nvGrpSpPr>
        <p:grpSpPr>
          <a:xfrm>
            <a:off x="6506280" y="720"/>
            <a:ext cx="2718360" cy="5019480"/>
            <a:chOff x="6506280" y="720"/>
            <a:chExt cx="2718360" cy="5019480"/>
          </a:xfrm>
        </p:grpSpPr>
        <p:sp>
          <p:nvSpPr>
            <p:cNvPr id="20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1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2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1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4.xml"/>
</Relationships>
</file>

<file path=ppt/slides/_rels/slide2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4.xml"/>
</Relationships>
</file>

<file path=ppt/slides/_rels/slide2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4.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4.xml"/>
</Relationships>
</file>

<file path=ppt/slides/_rels/slide2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4.xml"/>
</Relationships>
</file>

<file path=ppt/slides/_rels/slide2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4.xml"/>
</Relationships>
</file>

<file path=ppt/slides/_rels/slide2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8.xml"/>
</Relationships>
</file>

<file path=ppt/slides/_rels/slide4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8.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5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8.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8.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7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8.xml"/>
</Relationships>
</file>

<file path=ppt/slides/_rels/slide7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8.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 name="PlaceHolder 1"/>
          <p:cNvSpPr>
            <a:spLocks noGrp="1"/>
          </p:cNvSpPr>
          <p:nvPr>
            <p:ph type="title"/>
          </p:nvPr>
        </p:nvSpPr>
        <p:spPr>
          <a:xfrm>
            <a:off x="3612960" y="2325960"/>
            <a:ext cx="5072400" cy="137016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Code Quality</a:t>
            </a:r>
            <a:endParaRPr b="0" lang="en-GB"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Developer Ground Rules for Writing Quality Code </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Developer Ground Rules for Writing Quality Code </a:t>
            </a:r>
            <a:endParaRPr b="0" lang="en-GB" sz="2400" spc="-1" strike="noStrike">
              <a:solidFill>
                <a:srgbClr val="000000"/>
              </a:solidFill>
              <a:latin typeface="Arial"/>
            </a:endParaRPr>
          </a:p>
        </p:txBody>
      </p:sp>
      <p:sp>
        <p:nvSpPr>
          <p:cNvPr id="216" name="Google Shape;130;p 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defines “good code”?</a:t>
            </a:r>
            <a:endParaRPr b="0" lang="en-GB" sz="1800" spc="-1" strike="noStrike">
              <a:solidFill>
                <a:srgbClr val="000000"/>
              </a:solidFill>
              <a:latin typeface="Arial"/>
            </a:endParaRPr>
          </a:p>
        </p:txBody>
      </p:sp>
      <p:sp>
        <p:nvSpPr>
          <p:cNvPr id="217" name="Google Shape;131;p 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There is no clear consensus on what good code actually means. Generally speaking, however, quality code is: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Thoroughly tested and debugged — otherwise known as clean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High-performance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Sustainable and maintained</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Readable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Of course, different developers will offer different perspectives on this.</a:t>
            </a:r>
            <a:endParaRPr b="0" lang="en-GB" sz="1400" spc="-1" strike="noStrike">
              <a:solidFill>
                <a:srgbClr val="000000"/>
              </a:solidFill>
              <a:latin typeface="Arial"/>
            </a:endParaRPr>
          </a:p>
        </p:txBody>
      </p:sp>
      <p:sp>
        <p:nvSpPr>
          <p:cNvPr id="218" name="PlaceHolder 2"/>
          <p:cNvSpPr>
            <a:spLocks noGrp="1"/>
          </p:cNvSpPr>
          <p:nvPr>
            <p:ph type="sldNum" idx="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EBA9D90-131E-4BF4-8407-E4E6E47EE6C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Developer Ground Rules for Writing Quality Code </a:t>
            </a:r>
            <a:endParaRPr b="0" lang="en-GB" sz="2400" spc="-1" strike="noStrike">
              <a:solidFill>
                <a:srgbClr val="000000"/>
              </a:solidFill>
              <a:latin typeface="Arial"/>
            </a:endParaRPr>
          </a:p>
        </p:txBody>
      </p:sp>
      <p:sp>
        <p:nvSpPr>
          <p:cNvPr id="220" name="Google Shape;130;p 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Tips for writing code</a:t>
            </a:r>
            <a:endParaRPr b="0" lang="en-GB" sz="1800" spc="-1" strike="noStrike">
              <a:solidFill>
                <a:srgbClr val="000000"/>
              </a:solidFill>
              <a:latin typeface="Arial"/>
            </a:endParaRPr>
          </a:p>
        </p:txBody>
      </p:sp>
      <p:sp>
        <p:nvSpPr>
          <p:cNvPr id="221" name="Google Shape;131;p 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1. Choose Industry-Specific Coding Standards.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2. Focus on Code readability.</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3. Meaningful Names.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4. Avoid using a Single Identifier for multiple purposes.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5. Add Comments and Prioritize Documentation.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6. Efficient Data Processing.</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7. Effective Version Control and Collaboration.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8. Effective Code Review and Refactoring.</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9. Try to formalize Exception Handling.</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10. Security and Privacy Considerations.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11. Standardize Headers for Different Modules.</a:t>
            </a:r>
            <a:endParaRPr b="0" lang="en-GB" sz="1400" spc="-1" strike="noStrike">
              <a:solidFill>
                <a:srgbClr val="000000"/>
              </a:solidFill>
              <a:latin typeface="Arial"/>
            </a:endParaRPr>
          </a:p>
        </p:txBody>
      </p:sp>
      <p:sp>
        <p:nvSpPr>
          <p:cNvPr id="222" name="PlaceHolder 2"/>
          <p:cNvSpPr>
            <a:spLocks noGrp="1"/>
          </p:cNvSpPr>
          <p:nvPr>
            <p:ph type="sldNum" idx="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3907A2E-0136-4AA1-9D31-7D72065BE4B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Best Practices for Naming in C#</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Num" idx="1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D8F8924-5C03-495D-9505-3C93D4A15D4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25" name="PlaceHolder 2"/>
          <p:cNvSpPr>
            <a:spLocks noGrp="1"/>
          </p:cNvSpPr>
          <p:nvPr>
            <p:ph type="title"/>
          </p:nvPr>
        </p:nvSpPr>
        <p:spPr>
          <a:xfrm>
            <a:off x="469440" y="287280"/>
            <a:ext cx="4283640" cy="62604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Best Practices for Naming in C#</a:t>
            </a:r>
            <a:endParaRPr b="0" lang="en-GB" sz="2400" spc="-1" strike="noStrike">
              <a:solidFill>
                <a:srgbClr val="000000"/>
              </a:solidFill>
              <a:latin typeface="Arial"/>
            </a:endParaRPr>
          </a:p>
        </p:txBody>
      </p:sp>
      <p:sp>
        <p:nvSpPr>
          <p:cNvPr id="226" name="Google Shape;158;p 2"/>
          <p:cNvSpPr/>
          <p:nvPr/>
        </p:nvSpPr>
        <p:spPr>
          <a:xfrm>
            <a:off x="459720" y="1081800"/>
            <a:ext cx="375624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There are following three terminologies are used to declare C# and .NET naming standards:</a:t>
            </a:r>
            <a:endParaRPr b="0" lang="en-GB" sz="1600" spc="-1" strike="noStrike">
              <a:solidFill>
                <a:srgbClr val="000000"/>
              </a:solidFill>
              <a:latin typeface="Arial"/>
            </a:endParaRPr>
          </a:p>
        </p:txBody>
      </p:sp>
      <p:sp>
        <p:nvSpPr>
          <p:cNvPr id="227" name="Google Shape;159;p 2"/>
          <p:cNvSpPr/>
          <p:nvPr/>
        </p:nvSpPr>
        <p:spPr>
          <a:xfrm>
            <a:off x="461520" y="1852200"/>
            <a:ext cx="3851640" cy="2802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400" spc="-1" strike="noStrike">
                <a:solidFill>
                  <a:schemeClr val="dk1"/>
                </a:solidFill>
                <a:latin typeface="Calibri"/>
                <a:ea typeface="Arial"/>
              </a:rPr>
              <a:t>Camel Case (camelCase): </a:t>
            </a:r>
            <a:r>
              <a:rPr b="0" lang="en-US" sz="1400" spc="-1" strike="noStrike">
                <a:solidFill>
                  <a:schemeClr val="dk1"/>
                </a:solidFill>
                <a:latin typeface="Calibri"/>
                <a:ea typeface="Arial"/>
              </a:rPr>
              <a:t>In this standard, the first letter of the word always in small letter and after that each word starts with a capital letter.</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1" lang="en-US" sz="1400" spc="-1" strike="noStrike">
                <a:solidFill>
                  <a:schemeClr val="dk1"/>
                </a:solidFill>
                <a:latin typeface="Calibri"/>
                <a:ea typeface="Arial"/>
              </a:rPr>
              <a:t>Pascal Case (PascalCase):</a:t>
            </a:r>
            <a:r>
              <a:rPr b="0" lang="en-US" sz="1400" spc="-1" strike="noStrike">
                <a:solidFill>
                  <a:schemeClr val="dk1"/>
                </a:solidFill>
                <a:latin typeface="Calibri"/>
                <a:ea typeface="Arial"/>
              </a:rPr>
              <a:t> In this the first letter of every word is in capital letter.</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1" lang="en-US" sz="1400" spc="-1" strike="noStrike">
                <a:solidFill>
                  <a:schemeClr val="dk1"/>
                </a:solidFill>
                <a:latin typeface="Calibri"/>
                <a:ea typeface="Arial"/>
              </a:rPr>
              <a:t>Underscore Prefix (_underScore):</a:t>
            </a:r>
            <a:r>
              <a:rPr b="0" lang="en-US" sz="1400" spc="-1" strike="noStrike">
                <a:solidFill>
                  <a:schemeClr val="dk1"/>
                </a:solidFill>
                <a:latin typeface="Calibri"/>
                <a:ea typeface="Arial"/>
              </a:rPr>
              <a:t> For underscore ( _ ), the word after _ use camelCase terminology.</a:t>
            </a:r>
            <a:endParaRPr b="0" lang="en-GB" sz="1400" spc="-1" strike="noStrike">
              <a:solidFill>
                <a:srgbClr val="000000"/>
              </a:solidFill>
              <a:latin typeface="Arial"/>
            </a:endParaRPr>
          </a:p>
        </p:txBody>
      </p:sp>
      <p:pic>
        <p:nvPicPr>
          <p:cNvPr id="228" name="" descr=""/>
          <p:cNvPicPr/>
          <p:nvPr/>
        </p:nvPicPr>
        <p:blipFill>
          <a:blip r:embed="rId1"/>
          <a:stretch/>
        </p:blipFill>
        <p:spPr>
          <a:xfrm>
            <a:off x="5220000" y="110520"/>
            <a:ext cx="3219120" cy="49240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What is Clean Code?</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What is Clean Code?</a:t>
            </a:r>
            <a:endParaRPr b="0" lang="en-GB" sz="2400" spc="-1" strike="noStrike">
              <a:solidFill>
                <a:srgbClr val="000000"/>
              </a:solidFill>
              <a:latin typeface="Arial"/>
            </a:endParaRPr>
          </a:p>
        </p:txBody>
      </p:sp>
      <p:sp>
        <p:nvSpPr>
          <p:cNvPr id="231" name="Google Shape;130;p 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GB" sz="1800" spc="-1" strike="noStrike">
              <a:solidFill>
                <a:srgbClr val="000000"/>
              </a:solidFill>
              <a:latin typeface="Arial"/>
            </a:endParaRPr>
          </a:p>
        </p:txBody>
      </p:sp>
      <p:sp>
        <p:nvSpPr>
          <p:cNvPr id="232" name="Google Shape;131;p 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Clean code is a term used to refer to code that is easy to read, understand, and maintain.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It was made popular by </a:t>
            </a:r>
            <a:r>
              <a:rPr b="1" lang="en-US" sz="1400" spc="-1" strike="noStrike">
                <a:solidFill>
                  <a:schemeClr val="dk1"/>
                </a:solidFill>
                <a:highlight>
                  <a:srgbClr val="ffffff"/>
                </a:highlight>
                <a:latin typeface="Calibri"/>
                <a:ea typeface="Arial"/>
              </a:rPr>
              <a:t>Robert Cecil Martin</a:t>
            </a:r>
            <a:r>
              <a:rPr b="0" lang="en-US" sz="1400" spc="-1" strike="noStrike">
                <a:solidFill>
                  <a:schemeClr val="dk1"/>
                </a:solidFill>
                <a:highlight>
                  <a:srgbClr val="ffffff"/>
                </a:highlight>
                <a:latin typeface="Calibri"/>
                <a:ea typeface="Arial"/>
              </a:rPr>
              <a:t>, also known as Uncle Bob, who wrote "</a:t>
            </a:r>
            <a:r>
              <a:rPr b="1" lang="en-US" sz="1400" spc="-1" strike="noStrike">
                <a:solidFill>
                  <a:schemeClr val="dk1"/>
                </a:solidFill>
                <a:highlight>
                  <a:srgbClr val="ffffff"/>
                </a:highlight>
                <a:latin typeface="Calibri"/>
                <a:ea typeface="Arial"/>
              </a:rPr>
              <a:t>Clean Code: A Handbook of Agile Software Craftsmanship</a:t>
            </a:r>
            <a:r>
              <a:rPr b="0" lang="en-US" sz="1400" spc="-1" strike="noStrike">
                <a:solidFill>
                  <a:schemeClr val="dk1"/>
                </a:solidFill>
                <a:highlight>
                  <a:srgbClr val="ffffff"/>
                </a:highlight>
                <a:latin typeface="Calibri"/>
                <a:ea typeface="Arial"/>
              </a:rPr>
              <a:t>" in 2008. In this book, he presented a set of principles and best practices for writing clean code, such as using meaningful names, short functions, clear comments, and consistent formatting.</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Ultimately, the goal of clean code is to create software that is not only functional but also readable, maintainable, and efficient throughout its life cycle </a:t>
            </a:r>
            <a:endParaRPr b="0" lang="en-GB" sz="1400" spc="-1" strike="noStrike">
              <a:solidFill>
                <a:srgbClr val="000000"/>
              </a:solidFill>
              <a:latin typeface="Arial"/>
            </a:endParaRPr>
          </a:p>
        </p:txBody>
      </p:sp>
      <p:sp>
        <p:nvSpPr>
          <p:cNvPr id="233" name="PlaceHolder 2"/>
          <p:cNvSpPr>
            <a:spLocks noGrp="1"/>
          </p:cNvSpPr>
          <p:nvPr>
            <p:ph type="sldNum" idx="1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79C8082-A39B-4284-9F51-641A980584B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Why should we care about Clean Code?</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Why should we care about Clean Code?</a:t>
            </a:r>
            <a:endParaRPr b="0" lang="en-GB" sz="2400" spc="-1" strike="noStrike">
              <a:solidFill>
                <a:srgbClr val="000000"/>
              </a:solidFill>
              <a:latin typeface="Arial"/>
            </a:endParaRPr>
          </a:p>
        </p:txBody>
      </p:sp>
      <p:sp>
        <p:nvSpPr>
          <p:cNvPr id="236" name="Google Shape;130;p 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endParaRPr b="0" lang="en-GB" sz="1800" spc="-1" strike="noStrike">
              <a:solidFill>
                <a:srgbClr val="000000"/>
              </a:solidFill>
              <a:latin typeface="Arial"/>
            </a:endParaRPr>
          </a:p>
        </p:txBody>
      </p:sp>
      <p:sp>
        <p:nvSpPr>
          <p:cNvPr id="237" name="Google Shape;131;p 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When teams adhere to clean code principles, the code base is easier to read and navigate, which makes it faster for developers to get up to speed and start contributing. Here are some reasons why clean code is essential:</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Readability and maintenance.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Team collaboration.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Debugging and issue resolution.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Improved quality and reliability.</a:t>
            </a:r>
            <a:endParaRPr b="0" lang="en-GB" sz="1400" spc="-1" strike="noStrike">
              <a:solidFill>
                <a:srgbClr val="000000"/>
              </a:solidFill>
              <a:latin typeface="Arial"/>
            </a:endParaRPr>
          </a:p>
        </p:txBody>
      </p:sp>
      <p:sp>
        <p:nvSpPr>
          <p:cNvPr id="238" name="PlaceHolder 2"/>
          <p:cNvSpPr>
            <a:spLocks noGrp="1"/>
          </p:cNvSpPr>
          <p:nvPr>
            <p:ph type="sldNum" idx="1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B55F935-E675-49E3-A6B3-EF8B2B17A24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Characteristics of Clean Code</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41" name="Google Shape;130;p 6"/>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Avoid Hard-Coded Numbers</a:t>
            </a:r>
            <a:endParaRPr b="0" lang="en-GB" sz="1800" spc="-1" strike="noStrike">
              <a:solidFill>
                <a:srgbClr val="000000"/>
              </a:solidFill>
              <a:latin typeface="Arial"/>
            </a:endParaRPr>
          </a:p>
        </p:txBody>
      </p:sp>
      <p:sp>
        <p:nvSpPr>
          <p:cNvPr id="242" name="Google Shape;131;p 6"/>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Use named constants instead of hard-coded values. Write constants with meaningful names that convey their purpose. This improves clarity and makes it easier to modify the code.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calculate_discount(price):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 = price * 0.1 </a:t>
            </a: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//0% discount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price – discount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After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calculate_discount(price):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TEN_PERCENT_DISCOUNT = 0.1</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 = price * TEN_PERCENT_DISCOUNT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price - discount</a:t>
            </a:r>
            <a:endParaRPr b="0" lang="en-GB" sz="1400" spc="-1" strike="noStrike">
              <a:solidFill>
                <a:srgbClr val="000000"/>
              </a:solidFill>
              <a:latin typeface="Arial"/>
            </a:endParaRPr>
          </a:p>
        </p:txBody>
      </p:sp>
      <p:sp>
        <p:nvSpPr>
          <p:cNvPr id="243" name="PlaceHolder 2"/>
          <p:cNvSpPr>
            <a:spLocks noGrp="1"/>
          </p:cNvSpPr>
          <p:nvPr>
            <p:ph type="sldNum" idx="1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6272DCE-CFF6-4AC0-A820-DD3F4A56380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45" name="Google Shape;130;p 7"/>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Use Meaningful and Descriptive Names</a:t>
            </a:r>
            <a:endParaRPr b="0" lang="en-GB" sz="1800" spc="-1" strike="noStrike">
              <a:solidFill>
                <a:srgbClr val="000000"/>
              </a:solidFill>
              <a:latin typeface="Arial"/>
            </a:endParaRPr>
          </a:p>
        </p:txBody>
      </p:sp>
      <p:sp>
        <p:nvSpPr>
          <p:cNvPr id="246" name="Google Shape;131;p 7"/>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Choose names for variables, functions, and classes that reflect their purpose and behavior. This makes the code self-documenting and easier to understand without extensive comments. As Robert Martin puts it, “A name should tell you why it exists, what it does, and how it is used. If a name requires a comment, then the name does not reveal its intent.”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calculate_discount(price):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TEN_PERCENT_DISCOUNT = 0.1</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 = price * TEN_PERCENT_DISCOUNT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price – discount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247" name="PlaceHolder 2"/>
          <p:cNvSpPr>
            <a:spLocks noGrp="1"/>
          </p:cNvSpPr>
          <p:nvPr>
            <p:ph type="sldNum" idx="1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2541D38-F844-455E-8116-6837BC382DF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8" name=""/>
          <p:cNvSpPr txBox="1"/>
          <p:nvPr/>
        </p:nvSpPr>
        <p:spPr>
          <a:xfrm>
            <a:off x="4320000" y="2340000"/>
            <a:ext cx="3960000" cy="1620000"/>
          </a:xfrm>
          <a:prstGeom prst="rect">
            <a:avLst/>
          </a:prstGeom>
          <a:noFill/>
          <a:ln w="0">
            <a:noFill/>
          </a:ln>
        </p:spPr>
        <p:txBody>
          <a:bodyPr lIns="90000" rIns="90000" tIns="45000" bIns="45000" anchor="t">
            <a:noAutofit/>
          </a:bodyPr>
          <a:p>
            <a:r>
              <a:rPr b="0" lang="en-GB" sz="1400" spc="-1" strike="noStrike">
                <a:solidFill>
                  <a:srgbClr val="000000"/>
                </a:solidFill>
                <a:latin typeface="Calibri"/>
              </a:rPr>
              <a:t>After:</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calculate_discount(product_price):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TEN_PERCENT_DISCOUNT = 0.1</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discount_amount = product_price * TEN_PERCENT_DISCOUNT</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product_price - discount_amount</a:t>
            </a:r>
            <a:endParaRPr b="0" lang="en-GB" sz="1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50" name="Google Shape;130;p 8"/>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Use Comments Sparingly, and When You Do, Make Them Meaningful</a:t>
            </a:r>
            <a:endParaRPr b="0" lang="en-GB" sz="1800" spc="-1" strike="noStrike">
              <a:solidFill>
                <a:srgbClr val="000000"/>
              </a:solidFill>
              <a:latin typeface="Arial"/>
            </a:endParaRPr>
          </a:p>
        </p:txBody>
      </p:sp>
      <p:sp>
        <p:nvSpPr>
          <p:cNvPr id="251" name="Google Shape;131;p 8"/>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You don't need to comment on obvious things. Excessive or unclear comments can clutter the code base and become outdated, leading to confusion and a messy code base.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group_users_by_id(user_id):</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This function groups users by id</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 complex logic ...</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 more code …</a:t>
            </a:r>
            <a:endParaRPr b="0" lang="en-GB" sz="1400" spc="-1" strike="noStrike">
              <a:solidFill>
                <a:srgbClr val="000000"/>
              </a:solidFill>
              <a:latin typeface="Arial"/>
            </a:endParaRPr>
          </a:p>
        </p:txBody>
      </p:sp>
      <p:sp>
        <p:nvSpPr>
          <p:cNvPr id="252" name="PlaceHolder 2"/>
          <p:cNvSpPr>
            <a:spLocks noGrp="1"/>
          </p:cNvSpPr>
          <p:nvPr>
            <p:ph type="sldNum" idx="1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DA3AC0E-3984-4C18-A440-3231B4AC7FD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53" name=""/>
          <p:cNvSpPr txBox="1"/>
          <p:nvPr/>
        </p:nvSpPr>
        <p:spPr>
          <a:xfrm>
            <a:off x="4140000" y="1908000"/>
            <a:ext cx="3960000" cy="2768760"/>
          </a:xfrm>
          <a:prstGeom prst="rect">
            <a:avLst/>
          </a:prstGeom>
          <a:noFill/>
          <a:ln w="0">
            <a:noFill/>
          </a:ln>
        </p:spPr>
        <p:txBody>
          <a:bodyPr lIns="90000" rIns="90000" tIns="45000" bIns="45000" anchor="t">
            <a:noAutofit/>
          </a:bodyPr>
          <a:p>
            <a:r>
              <a:rPr b="0" lang="en-GB" sz="1400" spc="-1" strike="noStrike">
                <a:solidFill>
                  <a:srgbClr val="000000"/>
                </a:solidFill>
                <a:latin typeface="Calibri"/>
              </a:rPr>
              <a:t>After:</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group_users_by_id(user_id):</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"""Groups users by id to a specific category (1-9).</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Args:</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user_id (str): The user id to be grouped.</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Returns:</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int: The category number (1-9) corresponding to the user id.</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Raises:</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ValueError: If the user id is invalid or unsupported.</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 ... complex logic ...</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 ... more code …</a:t>
            </a:r>
            <a:endParaRPr b="0" lang="en-GB" sz="1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55" name="Google Shape;130;p 9"/>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Write Short Functions That Only Do One Thing</a:t>
            </a:r>
            <a:endParaRPr b="0" lang="en-GB" sz="1800" spc="-1" strike="noStrike">
              <a:solidFill>
                <a:srgbClr val="000000"/>
              </a:solidFill>
              <a:latin typeface="Arial"/>
            </a:endParaRPr>
          </a:p>
        </p:txBody>
      </p:sp>
      <p:sp>
        <p:nvSpPr>
          <p:cNvPr id="256" name="Google Shape;131;p 9"/>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Follow the single responsibility principle (SRP), which means that a function should have one purpose and perform it effectively. Functions are more understandable, readable, and maintainable if they only have one job. It also makes testing them very easy.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If a function becomes too long or complex, consider breaking it into smaller, more manageable functions.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process_data(data):</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 validate users...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 calculate values ...</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 ... format output …</a:t>
            </a:r>
            <a:endParaRPr b="0" lang="en-GB" sz="1400" spc="-1" strike="noStrike">
              <a:solidFill>
                <a:srgbClr val="000000"/>
              </a:solidFill>
              <a:latin typeface="Arial"/>
            </a:endParaRPr>
          </a:p>
        </p:txBody>
      </p:sp>
      <p:sp>
        <p:nvSpPr>
          <p:cNvPr id="257" name="PlaceHolder 2"/>
          <p:cNvSpPr>
            <a:spLocks noGrp="1"/>
          </p:cNvSpPr>
          <p:nvPr>
            <p:ph type="sldNum" idx="1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BE8C8A6-1170-4F7A-8E58-5641DB7EAAA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58" name=""/>
          <p:cNvSpPr txBox="1"/>
          <p:nvPr/>
        </p:nvSpPr>
        <p:spPr>
          <a:xfrm>
            <a:off x="4320000" y="2556000"/>
            <a:ext cx="3960000" cy="1620000"/>
          </a:xfrm>
          <a:prstGeom prst="rect">
            <a:avLst/>
          </a:prstGeom>
          <a:noFill/>
          <a:ln w="0">
            <a:noFill/>
          </a:ln>
        </p:spPr>
        <p:txBody>
          <a:bodyPr lIns="90000" rIns="90000" tIns="45000" bIns="45000" anchor="t">
            <a:noAutofit/>
          </a:bodyPr>
          <a:p>
            <a:r>
              <a:rPr b="0" lang="en-GB" sz="1400" spc="-1" strike="noStrike">
                <a:solidFill>
                  <a:srgbClr val="000000"/>
                </a:solidFill>
                <a:latin typeface="Calibri"/>
              </a:rPr>
              <a:t>After:</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validate_user(data):</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 ... data validation logic ...</a:t>
            </a:r>
            <a:endParaRPr b="0" lang="en-GB" sz="1400" spc="-1" strike="noStrike">
              <a:solidFill>
                <a:srgbClr val="000000"/>
              </a:solidFill>
              <a:latin typeface="Calibri"/>
            </a:endParaRPr>
          </a:p>
          <a:p>
            <a:r>
              <a:rPr b="0" lang="en-GB" sz="1400" spc="-1" strike="noStrike">
                <a:solidFill>
                  <a:srgbClr val="000000"/>
                </a:solidFill>
                <a:latin typeface="Calibri"/>
              </a:rPr>
              <a:t>def calculate_values(data):</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 ... calculation logic based on validated data ...</a:t>
            </a:r>
            <a:endParaRPr b="0" lang="en-GB" sz="1400" spc="-1" strike="noStrike">
              <a:solidFill>
                <a:srgbClr val="000000"/>
              </a:solidFill>
              <a:latin typeface="Calibri"/>
            </a:endParaRPr>
          </a:p>
          <a:p>
            <a:r>
              <a:rPr b="0" lang="en-GB" sz="1400" spc="-1" strike="noStrike">
                <a:solidFill>
                  <a:srgbClr val="000000"/>
                </a:solidFill>
                <a:latin typeface="Calibri"/>
              </a:rPr>
              <a:t>def format_output(data):</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 ... format results for display …</a:t>
            </a:r>
            <a:endParaRPr b="0" lang="en-GB" sz="1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60" name="Google Shape;130;p 10"/>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Follow the DRY (Don't Repeat Yourself) Principle and Avoid Duplicating Code or Logic</a:t>
            </a:r>
            <a:endParaRPr b="0" lang="en-GB" sz="1800" spc="-1" strike="noStrike">
              <a:solidFill>
                <a:srgbClr val="000000"/>
              </a:solidFill>
              <a:latin typeface="Arial"/>
            </a:endParaRPr>
          </a:p>
        </p:txBody>
      </p:sp>
      <p:sp>
        <p:nvSpPr>
          <p:cNvPr id="261" name="Google Shape;131;p 10"/>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Avoid writing the same code more than once. Instead, reuse your code using functions, classes, modules, libraries, or other abstractions. This makes your code more efficient, consistent, and maintainable. It also reduces the risk of errors and bugs as you only need to modify your code in one place if you need to change or update it.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calculate_book_price(quantity, 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quantity * 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calculate_laptop_price(quantity, 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quantity * price</a:t>
            </a:r>
            <a:endParaRPr b="0" lang="en-GB" sz="1400" spc="-1" strike="noStrike">
              <a:solidFill>
                <a:srgbClr val="000000"/>
              </a:solidFill>
              <a:latin typeface="Arial"/>
            </a:endParaRPr>
          </a:p>
        </p:txBody>
      </p:sp>
      <p:sp>
        <p:nvSpPr>
          <p:cNvPr id="262" name="PlaceHolder 2"/>
          <p:cNvSpPr>
            <a:spLocks noGrp="1"/>
          </p:cNvSpPr>
          <p:nvPr>
            <p:ph type="sldNum" idx="1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34B4ABC-B5BB-44BB-B980-69BEC508A57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63" name=""/>
          <p:cNvSpPr txBox="1"/>
          <p:nvPr/>
        </p:nvSpPr>
        <p:spPr>
          <a:xfrm>
            <a:off x="4320000" y="2160000"/>
            <a:ext cx="3960000" cy="1620000"/>
          </a:xfrm>
          <a:prstGeom prst="rect">
            <a:avLst/>
          </a:prstGeom>
          <a:noFill/>
          <a:ln w="0">
            <a:noFill/>
          </a:ln>
        </p:spPr>
        <p:txBody>
          <a:bodyPr lIns="90000" rIns="90000" tIns="45000" bIns="45000" anchor="t">
            <a:noAutofit/>
          </a:bodyPr>
          <a:p>
            <a:r>
              <a:rPr b="0" lang="en-GB" sz="1400" spc="-1" strike="noStrike">
                <a:solidFill>
                  <a:srgbClr val="000000"/>
                </a:solidFill>
                <a:latin typeface="Calibri"/>
              </a:rPr>
              <a:t>After:</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calculate_product_price(product_quantity, product_price):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product_quantity * product_price</a:t>
            </a:r>
            <a:endParaRPr b="0" lang="en-GB" sz="1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65" name="Google Shape;130;p 11"/>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Follow Established Code-Writing Standards</a:t>
            </a:r>
            <a:endParaRPr b="0" lang="en-GB" sz="1800" spc="-1" strike="noStrike">
              <a:solidFill>
                <a:srgbClr val="000000"/>
              </a:solidFill>
              <a:latin typeface="Arial"/>
            </a:endParaRPr>
          </a:p>
        </p:txBody>
      </p:sp>
      <p:sp>
        <p:nvSpPr>
          <p:cNvPr id="266" name="Google Shape;131;p 11"/>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Know your programming language's conventions in terms of spacing, comments, and naming. Most programming languages have community-accepted coding standards and style guides.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267" name="PlaceHolder 2"/>
          <p:cNvSpPr>
            <a:spLocks noGrp="1"/>
          </p:cNvSpPr>
          <p:nvPr>
            <p:ph type="sldNum" idx="1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D64A065-7AA7-43A4-96C3-B03C281E625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69" name="Google Shape;130;p 1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Encapsulate Nested Conditionals into Functions</a:t>
            </a:r>
            <a:endParaRPr b="0" lang="en-GB" sz="1800" spc="-1" strike="noStrike">
              <a:solidFill>
                <a:srgbClr val="000000"/>
              </a:solidFill>
              <a:latin typeface="Arial"/>
            </a:endParaRPr>
          </a:p>
        </p:txBody>
      </p:sp>
      <p:sp>
        <p:nvSpPr>
          <p:cNvPr id="270" name="Google Shape;131;p 1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One way to improve the readability and clarity of functions is to encapsulate nested if/else statements into other functions.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Before: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def calculate_product_discount(product_price):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discount_amount = 0</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if product_price &gt; 100:</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discount_amount = product_price * 0.1</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elif price &gt; 50:</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discount_amount = product_price * 0.05</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else: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discount_amount = 0</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final_product_price = product_price - discount_amount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return final_product_price</a:t>
            </a:r>
            <a:endParaRPr b="0" lang="en-GB" sz="1400" spc="-1" strike="noStrike">
              <a:solidFill>
                <a:srgbClr val="000000"/>
              </a:solidFill>
              <a:latin typeface="Arial"/>
            </a:endParaRPr>
          </a:p>
        </p:txBody>
      </p:sp>
      <p:sp>
        <p:nvSpPr>
          <p:cNvPr id="271" name="PlaceHolder 2"/>
          <p:cNvSpPr>
            <a:spLocks noGrp="1"/>
          </p:cNvSpPr>
          <p:nvPr>
            <p:ph type="sldNum" idx="1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616EFF7-B8D0-436A-A55B-F37B26C4721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72" name=""/>
          <p:cNvSpPr txBox="1"/>
          <p:nvPr/>
        </p:nvSpPr>
        <p:spPr>
          <a:xfrm>
            <a:off x="4680000" y="1912680"/>
            <a:ext cx="3960000" cy="2947320"/>
          </a:xfrm>
          <a:prstGeom prst="rect">
            <a:avLst/>
          </a:prstGeom>
          <a:noFill/>
          <a:ln w="0">
            <a:noFill/>
          </a:ln>
        </p:spPr>
        <p:txBody>
          <a:bodyPr lIns="90000" rIns="90000" tIns="45000" bIns="45000" anchor="t">
            <a:noAutofit/>
          </a:bodyPr>
          <a:p>
            <a:r>
              <a:rPr b="0" lang="en-GB" sz="1400" spc="-1" strike="noStrike">
                <a:solidFill>
                  <a:srgbClr val="000000"/>
                </a:solidFill>
                <a:latin typeface="Calibri"/>
              </a:rPr>
              <a:t>After:</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calculate_discount(product_price):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discount_rate = get_discount_rate(product_price)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discount_amount = product_price * discount_rate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final_product_price = product_price - discount_amount</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final_product_price</a:t>
            </a:r>
            <a:endParaRPr b="0" lang="en-GB" sz="1400" spc="-1" strike="noStrike">
              <a:solidFill>
                <a:srgbClr val="000000"/>
              </a:solidFill>
              <a:latin typeface="Calibri"/>
            </a:endParaRPr>
          </a:p>
          <a:p>
            <a:endParaRPr b="0" lang="en-GB" sz="1400" spc="-1" strike="noStrike">
              <a:solidFill>
                <a:srgbClr val="000000"/>
              </a:solidFill>
              <a:latin typeface="Calibri"/>
            </a:endParaRPr>
          </a:p>
          <a:p>
            <a:r>
              <a:rPr b="0" lang="en-GB" sz="1400" spc="-1" strike="noStrike">
                <a:solidFill>
                  <a:srgbClr val="000000"/>
                </a:solidFill>
                <a:latin typeface="Calibri"/>
              </a:rPr>
              <a:t>def get_discount_rate(product_price):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if product_price &gt; 100:</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0.1</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elif product_price &gt; 50:</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0.05</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else:</a:t>
            </a:r>
            <a:endParaRPr b="0" lang="en-GB" sz="1400" spc="-1" strike="noStrike">
              <a:solidFill>
                <a:srgbClr val="000000"/>
              </a:solidFill>
              <a:latin typeface="Calibri"/>
            </a:endParaRPr>
          </a:p>
          <a:p>
            <a:r>
              <a:rPr b="0" lang="en-GB" sz="1400" spc="-1" strike="noStrike">
                <a:solidFill>
                  <a:srgbClr val="000000"/>
                </a:solidFill>
                <a:latin typeface="Calibri"/>
              </a:rPr>
              <a:t>   </a:t>
            </a:r>
            <a:r>
              <a:rPr b="0" lang="en-GB" sz="1400" spc="-1" strike="noStrike">
                <a:solidFill>
                  <a:srgbClr val="000000"/>
                </a:solidFill>
                <a:latin typeface="Calibri"/>
              </a:rPr>
              <a:t>return 0</a:t>
            </a:r>
            <a:endParaRPr b="0" lang="en-GB" sz="1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Characteristics of Clean Code</a:t>
            </a:r>
            <a:endParaRPr b="0" lang="en-GB" sz="2400" spc="-1" strike="noStrike">
              <a:solidFill>
                <a:srgbClr val="000000"/>
              </a:solidFill>
              <a:latin typeface="Arial"/>
            </a:endParaRPr>
          </a:p>
        </p:txBody>
      </p:sp>
      <p:sp>
        <p:nvSpPr>
          <p:cNvPr id="274" name="Google Shape;138;p 2"/>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Refactor Continuously</a:t>
            </a:r>
            <a:endParaRPr b="0" lang="en-GB" sz="1800" spc="-1" strike="noStrike">
              <a:solidFill>
                <a:srgbClr val="000000"/>
              </a:solidFill>
              <a:latin typeface="Arial"/>
            </a:endParaRPr>
          </a:p>
        </p:txBody>
      </p:sp>
      <p:sp>
        <p:nvSpPr>
          <p:cNvPr id="275" name="Google Shape;139;p 2"/>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Regularly review and refactor your code to improve its structure, readability, and maintainability. Consider the readability of your code for the next person who will work on it, and always leave the code base cleaner than you found it.</a:t>
            </a:r>
            <a:endParaRPr b="0" lang="en-GB" sz="1200" spc="-1" strike="noStrike">
              <a:solidFill>
                <a:srgbClr val="000000"/>
              </a:solidFill>
              <a:latin typeface="Arial"/>
            </a:endParaRPr>
          </a:p>
        </p:txBody>
      </p:sp>
      <p:sp>
        <p:nvSpPr>
          <p:cNvPr id="276" name="Google Shape;140;p 2"/>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Use Version Control</a:t>
            </a:r>
            <a:endParaRPr b="0" lang="en-GB" sz="1800" spc="-1" strike="noStrike">
              <a:solidFill>
                <a:srgbClr val="000000"/>
              </a:solidFill>
              <a:latin typeface="Arial"/>
            </a:endParaRPr>
          </a:p>
        </p:txBody>
      </p:sp>
      <p:sp>
        <p:nvSpPr>
          <p:cNvPr id="277" name="Google Shape;141;p 2"/>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Version control systems meticulously track every change made to your code base, enabling you to understand the evolution of your code and revert to previous versions if needed. This creates a safety net for code refactoring and prevents accidental deletions or overwrites.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Use version control systems like GitHub, Git Lab, and Bitbucket to track changes to your code base and collaborate effectively with others.</a:t>
            </a:r>
            <a:endParaRPr b="0" lang="en-GB" sz="1200" spc="-1" strike="noStrike">
              <a:solidFill>
                <a:srgbClr val="000000"/>
              </a:solidFill>
              <a:latin typeface="Arial"/>
            </a:endParaRPr>
          </a:p>
        </p:txBody>
      </p:sp>
      <p:sp>
        <p:nvSpPr>
          <p:cNvPr id="278" name="PlaceHolder 2"/>
          <p:cNvSpPr>
            <a:spLocks noGrp="1"/>
          </p:cNvSpPr>
          <p:nvPr>
            <p:ph type="sldNum" idx="2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F63A6CD-B3B1-46BF-95B1-630A8CA2382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 Coding Guidelines</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281" name="Google Shape;138;p 3"/>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Class Names</a:t>
            </a:r>
            <a:endParaRPr b="0" lang="en-GB" sz="1800" spc="-1" strike="noStrike">
              <a:solidFill>
                <a:srgbClr val="000000"/>
              </a:solidFill>
              <a:latin typeface="Arial"/>
            </a:endParaRPr>
          </a:p>
        </p:txBody>
      </p:sp>
      <p:sp>
        <p:nvSpPr>
          <p:cNvPr id="282" name="Google Shape;139;p 3"/>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PascalCasing for class names and method names.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and easy to read.</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283" name="Google Shape;140;p 3"/>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Variable Names</a:t>
            </a:r>
            <a:endParaRPr b="0" lang="en-GB" sz="1800" spc="-1" strike="noStrike">
              <a:solidFill>
                <a:srgbClr val="000000"/>
              </a:solidFill>
              <a:latin typeface="Arial"/>
            </a:endParaRPr>
          </a:p>
        </p:txBody>
      </p:sp>
      <p:sp>
        <p:nvSpPr>
          <p:cNvPr id="284" name="Google Shape;141;p 3"/>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camelCasing for local variables and method arguments.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and easy to read.</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285" name="PlaceHolder 2"/>
          <p:cNvSpPr>
            <a:spLocks noGrp="1"/>
          </p:cNvSpPr>
          <p:nvPr>
            <p:ph type="sldNum" idx="2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0B43A5B-6D38-4CB7-BD42-929A0862F3E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286" name="" descr=""/>
          <p:cNvPicPr/>
          <p:nvPr/>
        </p:nvPicPr>
        <p:blipFill>
          <a:blip r:embed="rId1"/>
          <a:stretch/>
        </p:blipFill>
        <p:spPr>
          <a:xfrm>
            <a:off x="890640" y="2412360"/>
            <a:ext cx="2709360" cy="1727640"/>
          </a:xfrm>
          <a:prstGeom prst="rect">
            <a:avLst/>
          </a:prstGeom>
          <a:ln w="0">
            <a:noFill/>
          </a:ln>
        </p:spPr>
      </p:pic>
      <p:pic>
        <p:nvPicPr>
          <p:cNvPr id="287" name="" descr=""/>
          <p:cNvPicPr/>
          <p:nvPr/>
        </p:nvPicPr>
        <p:blipFill>
          <a:blip r:embed="rId2"/>
          <a:stretch/>
        </p:blipFill>
        <p:spPr>
          <a:xfrm>
            <a:off x="4902840" y="2520000"/>
            <a:ext cx="3557160" cy="14025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289" name="Google Shape;138;p 4"/>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Identifiers</a:t>
            </a:r>
            <a:endParaRPr b="0" lang="en-GB" sz="1800" spc="-1" strike="noStrike">
              <a:solidFill>
                <a:srgbClr val="000000"/>
              </a:solidFill>
              <a:latin typeface="Arial"/>
            </a:endParaRPr>
          </a:p>
        </p:txBody>
      </p:sp>
      <p:sp>
        <p:nvSpPr>
          <p:cNvPr id="290" name="Google Shape;139;p 4"/>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Do not use Hungarian notation or any other type identification in identifiers.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In addition, the Visual Studio IDE makes it very easy to determine the type of a variable (via tooltips). It is best to avoid type indicators in identifiers.</a:t>
            </a:r>
            <a:endParaRPr b="0" lang="en-GB" sz="1200" spc="-1" strike="noStrike">
              <a:solidFill>
                <a:srgbClr val="000000"/>
              </a:solidFill>
              <a:latin typeface="Arial"/>
            </a:endParaRPr>
          </a:p>
        </p:txBody>
      </p:sp>
      <p:sp>
        <p:nvSpPr>
          <p:cNvPr id="291" name="Google Shape;140;p 4"/>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Constants</a:t>
            </a:r>
            <a:endParaRPr b="0" lang="en-GB" sz="1800" spc="-1" strike="noStrike">
              <a:solidFill>
                <a:srgbClr val="000000"/>
              </a:solidFill>
              <a:latin typeface="Arial"/>
            </a:endParaRPr>
          </a:p>
        </p:txBody>
      </p:sp>
      <p:sp>
        <p:nvSpPr>
          <p:cNvPr id="292" name="Google Shape;141;p 4"/>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Do not use Screaming Caps for constants or readonly variables.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Caps grap too much attention.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293" name="PlaceHolder 2"/>
          <p:cNvSpPr>
            <a:spLocks noGrp="1"/>
          </p:cNvSpPr>
          <p:nvPr>
            <p:ph type="sldNum" idx="2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07CBDF6-A748-4901-B61A-C1068144F0A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294" name="" descr=""/>
          <p:cNvPicPr/>
          <p:nvPr/>
        </p:nvPicPr>
        <p:blipFill>
          <a:blip r:embed="rId1"/>
          <a:stretch/>
        </p:blipFill>
        <p:spPr>
          <a:xfrm>
            <a:off x="1610640" y="2700000"/>
            <a:ext cx="1381680" cy="1458000"/>
          </a:xfrm>
          <a:prstGeom prst="rect">
            <a:avLst/>
          </a:prstGeom>
          <a:ln w="0">
            <a:noFill/>
          </a:ln>
        </p:spPr>
      </p:pic>
      <p:pic>
        <p:nvPicPr>
          <p:cNvPr id="295" name="" descr=""/>
          <p:cNvPicPr/>
          <p:nvPr/>
        </p:nvPicPr>
        <p:blipFill>
          <a:blip r:embed="rId2"/>
          <a:stretch/>
        </p:blipFill>
        <p:spPr>
          <a:xfrm>
            <a:off x="4860000" y="2880000"/>
            <a:ext cx="3600000" cy="8175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297" name="Google Shape;138;p 5"/>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Abbreviations</a:t>
            </a:r>
            <a:endParaRPr b="0" lang="en-GB" sz="1800" spc="-1" strike="noStrike">
              <a:solidFill>
                <a:srgbClr val="000000"/>
              </a:solidFill>
              <a:latin typeface="Arial"/>
            </a:endParaRPr>
          </a:p>
        </p:txBody>
      </p:sp>
      <p:sp>
        <p:nvSpPr>
          <p:cNvPr id="298" name="Google Shape;139;p 5"/>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Avoid using Abbreviations.</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Exceptions: abbreviations commonly used as names, such as Id, Xml, Ftp, Uri</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It prevents inconsistent abbreviations by different developers.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299" name="Google Shape;140;p 5"/>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Abbreviation Casing</a:t>
            </a:r>
            <a:endParaRPr b="0" lang="en-GB" sz="1800" spc="-1" strike="noStrike">
              <a:solidFill>
                <a:srgbClr val="000000"/>
              </a:solidFill>
              <a:latin typeface="Arial"/>
            </a:endParaRPr>
          </a:p>
        </p:txBody>
      </p:sp>
      <p:sp>
        <p:nvSpPr>
          <p:cNvPr id="300" name="Google Shape;141;p 5"/>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PascalCasing for abbreviations 3 characters or more (2 chars are both uppercase).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Caps would grap visually too much attention.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01" name="PlaceHolder 2"/>
          <p:cNvSpPr>
            <a:spLocks noGrp="1"/>
          </p:cNvSpPr>
          <p:nvPr>
            <p:ph type="sldNum" idx="2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0B4C4AF-3FA4-4FB6-B9AA-AD4A7A5F700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02" name="" descr=""/>
          <p:cNvPicPr/>
          <p:nvPr/>
        </p:nvPicPr>
        <p:blipFill>
          <a:blip r:embed="rId1"/>
          <a:stretch/>
        </p:blipFill>
        <p:spPr>
          <a:xfrm>
            <a:off x="1312560" y="2700000"/>
            <a:ext cx="1747440" cy="1707480"/>
          </a:xfrm>
          <a:prstGeom prst="rect">
            <a:avLst/>
          </a:prstGeom>
          <a:ln w="0">
            <a:noFill/>
          </a:ln>
        </p:spPr>
      </p:pic>
      <p:pic>
        <p:nvPicPr>
          <p:cNvPr id="303" name="" descr=""/>
          <p:cNvPicPr/>
          <p:nvPr/>
        </p:nvPicPr>
        <p:blipFill>
          <a:blip r:embed="rId2"/>
          <a:stretch/>
        </p:blipFill>
        <p:spPr>
          <a:xfrm>
            <a:off x="5580000" y="2700000"/>
            <a:ext cx="2295360" cy="74268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305" name="Google Shape;138;p 6"/>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No Underscores</a:t>
            </a:r>
            <a:endParaRPr b="0" lang="en-GB" sz="1800" spc="-1" strike="noStrike">
              <a:solidFill>
                <a:srgbClr val="000000"/>
              </a:solidFill>
              <a:latin typeface="Arial"/>
            </a:endParaRPr>
          </a:p>
        </p:txBody>
      </p:sp>
      <p:sp>
        <p:nvSpPr>
          <p:cNvPr id="306" name="Google Shape;139;p 6"/>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Do not use Underscores in identifiers.</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Exception: you can prefix private static variables with an underscore.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It makes code more natural to read (without 'slur'). Also avoids underline stress, i.e. inability to see underline.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07" name="Google Shape;140;p 6"/>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Type Names</a:t>
            </a:r>
            <a:endParaRPr b="0" lang="en-GB" sz="1800" spc="-1" strike="noStrike">
              <a:solidFill>
                <a:srgbClr val="000000"/>
              </a:solidFill>
              <a:latin typeface="Arial"/>
            </a:endParaRPr>
          </a:p>
        </p:txBody>
      </p:sp>
      <p:sp>
        <p:nvSpPr>
          <p:cNvPr id="308" name="Google Shape;141;p 6"/>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predefined type names instead of system type names like Int16, Single, UInt64, etc..</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It makes code more natural to read.</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09" name="PlaceHolder 2"/>
          <p:cNvSpPr>
            <a:spLocks noGrp="1"/>
          </p:cNvSpPr>
          <p:nvPr>
            <p:ph type="sldNum" idx="2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47328C9-D449-40B8-95D7-D62AB7B1915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10" name="" descr=""/>
          <p:cNvPicPr/>
          <p:nvPr/>
        </p:nvPicPr>
        <p:blipFill>
          <a:blip r:embed="rId1"/>
          <a:stretch/>
        </p:blipFill>
        <p:spPr>
          <a:xfrm>
            <a:off x="910800" y="2880000"/>
            <a:ext cx="2329200" cy="1499040"/>
          </a:xfrm>
          <a:prstGeom prst="rect">
            <a:avLst/>
          </a:prstGeom>
          <a:ln w="0">
            <a:noFill/>
          </a:ln>
        </p:spPr>
      </p:pic>
      <p:pic>
        <p:nvPicPr>
          <p:cNvPr id="311" name="" descr=""/>
          <p:cNvPicPr/>
          <p:nvPr/>
        </p:nvPicPr>
        <p:blipFill>
          <a:blip r:embed="rId2"/>
          <a:stretch/>
        </p:blipFill>
        <p:spPr>
          <a:xfrm>
            <a:off x="5760000" y="2520000"/>
            <a:ext cx="1440000" cy="17283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313" name="Google Shape;138;p 7"/>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Implicit Types</a:t>
            </a:r>
            <a:endParaRPr b="0" lang="en-GB" sz="1800" spc="-1" strike="noStrike">
              <a:solidFill>
                <a:srgbClr val="000000"/>
              </a:solidFill>
              <a:latin typeface="Arial"/>
            </a:endParaRPr>
          </a:p>
        </p:txBody>
      </p:sp>
      <p:sp>
        <p:nvSpPr>
          <p:cNvPr id="314" name="Google Shape;139;p 7"/>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implicit type var for local variable declarations.</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Exception: primitive types (int, string, double, etc) use predefined names.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removes clutter, particularly with complex generic types. Type is easily detected with Visual Studio tool tips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15" name="Google Shape;140;p 7"/>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Noun Class Names</a:t>
            </a:r>
            <a:endParaRPr b="0" lang="en-GB" sz="1800" spc="-1" strike="noStrike">
              <a:solidFill>
                <a:srgbClr val="000000"/>
              </a:solidFill>
              <a:latin typeface="Arial"/>
            </a:endParaRPr>
          </a:p>
        </p:txBody>
      </p:sp>
      <p:sp>
        <p:nvSpPr>
          <p:cNvPr id="316" name="Google Shape;141;p 7"/>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noun or noun phrases to name a class.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Makes classes easy to remember.</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17" name="PlaceHolder 2"/>
          <p:cNvSpPr>
            <a:spLocks noGrp="1"/>
          </p:cNvSpPr>
          <p:nvPr>
            <p:ph type="sldNum" idx="2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A1E07C7-B8AB-4842-B838-5E2E025BBC5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18" name="" descr=""/>
          <p:cNvPicPr/>
          <p:nvPr/>
        </p:nvPicPr>
        <p:blipFill>
          <a:blip r:embed="rId1"/>
          <a:stretch/>
        </p:blipFill>
        <p:spPr>
          <a:xfrm>
            <a:off x="720000" y="2763720"/>
            <a:ext cx="2838240" cy="1376280"/>
          </a:xfrm>
          <a:prstGeom prst="rect">
            <a:avLst/>
          </a:prstGeom>
          <a:ln w="0">
            <a:noFill/>
          </a:ln>
        </p:spPr>
      </p:pic>
      <p:pic>
        <p:nvPicPr>
          <p:cNvPr id="319" name="" descr=""/>
          <p:cNvPicPr/>
          <p:nvPr/>
        </p:nvPicPr>
        <p:blipFill>
          <a:blip r:embed="rId2"/>
          <a:stretch/>
        </p:blipFill>
        <p:spPr>
          <a:xfrm>
            <a:off x="5400000" y="2552760"/>
            <a:ext cx="2591280" cy="16232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321" name="Google Shape;138;p 8"/>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Interfaces</a:t>
            </a:r>
            <a:endParaRPr b="0" lang="en-GB" sz="1800" spc="-1" strike="noStrike">
              <a:solidFill>
                <a:srgbClr val="000000"/>
              </a:solidFill>
              <a:latin typeface="Arial"/>
            </a:endParaRPr>
          </a:p>
        </p:txBody>
      </p:sp>
      <p:sp>
        <p:nvSpPr>
          <p:cNvPr id="322" name="Google Shape;139;p 8"/>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prefix interfaces with the letter I.  Interface names are noun (phrases) or adjectives.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a:t>
            </a:r>
            <a:endParaRPr b="0" lang="en-GB" sz="1200" spc="-1" strike="noStrike">
              <a:solidFill>
                <a:srgbClr val="000000"/>
              </a:solidFill>
              <a:latin typeface="Arial"/>
            </a:endParaRPr>
          </a:p>
        </p:txBody>
      </p:sp>
      <p:sp>
        <p:nvSpPr>
          <p:cNvPr id="323" name="Google Shape;140;p 8"/>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File Names</a:t>
            </a:r>
            <a:endParaRPr b="0" lang="en-GB" sz="1800" spc="-1" strike="noStrike">
              <a:solidFill>
                <a:srgbClr val="000000"/>
              </a:solidFill>
              <a:latin typeface="Arial"/>
            </a:endParaRPr>
          </a:p>
        </p:txBody>
      </p:sp>
      <p:sp>
        <p:nvSpPr>
          <p:cNvPr id="324" name="Google Shape;141;p 8"/>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Name source files according to their main classes. Exception: file names with partial classes reflect their source or purpose, e.g. designer, generated, etc.</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25" name="PlaceHolder 2"/>
          <p:cNvSpPr>
            <a:spLocks noGrp="1"/>
          </p:cNvSpPr>
          <p:nvPr>
            <p:ph type="sldNum" idx="2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38E5C9A-9B6C-454C-A1E9-F758033AFA4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26" name="" descr=""/>
          <p:cNvPicPr/>
          <p:nvPr/>
        </p:nvPicPr>
        <p:blipFill>
          <a:blip r:embed="rId1"/>
          <a:stretch/>
        </p:blipFill>
        <p:spPr>
          <a:xfrm>
            <a:off x="720000" y="2421360"/>
            <a:ext cx="2700000" cy="1718640"/>
          </a:xfrm>
          <a:prstGeom prst="rect">
            <a:avLst/>
          </a:prstGeom>
          <a:ln w="0">
            <a:noFill/>
          </a:ln>
        </p:spPr>
      </p:pic>
      <p:pic>
        <p:nvPicPr>
          <p:cNvPr id="327" name="" descr=""/>
          <p:cNvPicPr/>
          <p:nvPr/>
        </p:nvPicPr>
        <p:blipFill>
          <a:blip r:embed="rId2"/>
          <a:stretch/>
        </p:blipFill>
        <p:spPr>
          <a:xfrm>
            <a:off x="5221440" y="2160000"/>
            <a:ext cx="2518560" cy="208800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 Coding Guidelines</a:t>
            </a:r>
            <a:endParaRPr b="0" lang="en-GB" sz="2400" spc="-1" strike="noStrike">
              <a:solidFill>
                <a:srgbClr val="000000"/>
              </a:solidFill>
              <a:latin typeface="Arial"/>
            </a:endParaRPr>
          </a:p>
        </p:txBody>
      </p:sp>
      <p:sp>
        <p:nvSpPr>
          <p:cNvPr id="329" name="Google Shape;138;p 9"/>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Namespaces</a:t>
            </a:r>
            <a:endParaRPr b="0" lang="en-GB" sz="1800" spc="-1" strike="noStrike">
              <a:solidFill>
                <a:srgbClr val="000000"/>
              </a:solidFill>
              <a:latin typeface="Arial"/>
            </a:endParaRPr>
          </a:p>
        </p:txBody>
      </p:sp>
      <p:sp>
        <p:nvSpPr>
          <p:cNvPr id="330" name="Google Shape;139;p 9"/>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Organize namespaces with a clearly defined structure.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consistent with the Microsoft's .NET Core. Maintains good organization of your code base.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31" name="Google Shape;140;p 9"/>
          <p:cNvSpPr/>
          <p:nvPr/>
        </p:nvSpPr>
        <p:spPr>
          <a:xfrm>
            <a:off x="4842720" y="929520"/>
            <a:ext cx="375660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Curly Brackets</a:t>
            </a:r>
            <a:endParaRPr b="0" lang="en-GB" sz="1800" spc="-1" strike="noStrike">
              <a:solidFill>
                <a:srgbClr val="000000"/>
              </a:solidFill>
              <a:latin typeface="Arial"/>
            </a:endParaRPr>
          </a:p>
        </p:txBody>
      </p:sp>
      <p:sp>
        <p:nvSpPr>
          <p:cNvPr id="332" name="Google Shape;141;p 9"/>
          <p:cNvSpPr/>
          <p:nvPr/>
        </p:nvSpPr>
        <p:spPr>
          <a:xfrm>
            <a:off x="4837320" y="1289520"/>
            <a:ext cx="3771720" cy="30992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Kindly vertically align curly brackets.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Why: Microsoft has a different standard, but developers have overwhelmingly preferred vertically aligned brackets.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p:txBody>
      </p:sp>
      <p:sp>
        <p:nvSpPr>
          <p:cNvPr id="333" name="PlaceHolder 2"/>
          <p:cNvSpPr>
            <a:spLocks noGrp="1"/>
          </p:cNvSpPr>
          <p:nvPr>
            <p:ph type="sldNum" idx="2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3CDF0B8-7F61-4036-A1C9-5BBA12BFA3F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34" name="" descr=""/>
          <p:cNvPicPr/>
          <p:nvPr/>
        </p:nvPicPr>
        <p:blipFill>
          <a:blip r:embed="rId1"/>
          <a:stretch/>
        </p:blipFill>
        <p:spPr>
          <a:xfrm>
            <a:off x="731880" y="2520000"/>
            <a:ext cx="3228120" cy="720720"/>
          </a:xfrm>
          <a:prstGeom prst="rect">
            <a:avLst/>
          </a:prstGeom>
          <a:ln w="0">
            <a:noFill/>
          </a:ln>
        </p:spPr>
      </p:pic>
      <p:pic>
        <p:nvPicPr>
          <p:cNvPr id="335" name="" descr=""/>
          <p:cNvPicPr/>
          <p:nvPr/>
        </p:nvPicPr>
        <p:blipFill>
          <a:blip r:embed="rId2"/>
          <a:stretch/>
        </p:blipFill>
        <p:spPr>
          <a:xfrm>
            <a:off x="5310720" y="2453040"/>
            <a:ext cx="2609280" cy="114696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Source File Structure</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Num" idx="2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5EC7668-D5C6-4B87-A5CA-A1C81D3776E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8" name="PlaceHolder 2"/>
          <p:cNvSpPr>
            <a:spLocks noGrp="1"/>
          </p:cNvSpPr>
          <p:nvPr>
            <p:ph type="title"/>
          </p:nvPr>
        </p:nvSpPr>
        <p:spPr>
          <a:xfrm>
            <a:off x="469440" y="287280"/>
            <a:ext cx="4283640" cy="62604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Source File Structure</a:t>
            </a:r>
            <a:endParaRPr b="0" lang="en-GB" sz="2400" spc="-1" strike="noStrike">
              <a:solidFill>
                <a:srgbClr val="000000"/>
              </a:solidFill>
              <a:latin typeface="Arial"/>
            </a:endParaRPr>
          </a:p>
        </p:txBody>
      </p:sp>
      <p:sp>
        <p:nvSpPr>
          <p:cNvPr id="339" name="Google Shape;158;p 3"/>
          <p:cNvSpPr/>
          <p:nvPr/>
        </p:nvSpPr>
        <p:spPr>
          <a:xfrm>
            <a:off x="459720" y="1081800"/>
            <a:ext cx="375624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General Structure of a C# Program</a:t>
            </a:r>
            <a:endParaRPr b="0" lang="en-GB" sz="1600" spc="-1" strike="noStrike">
              <a:solidFill>
                <a:srgbClr val="000000"/>
              </a:solidFill>
              <a:latin typeface="Arial"/>
            </a:endParaRPr>
          </a:p>
        </p:txBody>
      </p:sp>
      <p:sp>
        <p:nvSpPr>
          <p:cNvPr id="340" name="Google Shape;159;p 3"/>
          <p:cNvSpPr/>
          <p:nvPr/>
        </p:nvSpPr>
        <p:spPr>
          <a:xfrm>
            <a:off x="461520" y="1620000"/>
            <a:ext cx="3851640" cy="3034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C# programs consist of one or more files. Each file contains zero or more namespaces. A namespace contains types such as classes, structs, interfaces, enumerations, and delegates, or other namespaces. The following example is the skeleton of a C# program that contains all of these elements.</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You can also create a static method named Main as the program's entry point, as shown in the following example:</a:t>
            </a:r>
            <a:endParaRPr b="0" lang="en-GB" sz="1400" spc="-1" strike="noStrike">
              <a:solidFill>
                <a:srgbClr val="000000"/>
              </a:solidFill>
              <a:latin typeface="Arial"/>
            </a:endParaRPr>
          </a:p>
        </p:txBody>
      </p:sp>
      <p:sp>
        <p:nvSpPr>
          <p:cNvPr id="341" name=""/>
          <p:cNvSpPr txBox="1"/>
          <p:nvPr/>
        </p:nvSpPr>
        <p:spPr>
          <a:xfrm>
            <a:off x="4752000" y="215280"/>
            <a:ext cx="4140000" cy="4765680"/>
          </a:xfrm>
          <a:prstGeom prst="rect">
            <a:avLst/>
          </a:prstGeom>
          <a:noFill/>
          <a:ln w="0">
            <a:noFill/>
          </a:ln>
        </p:spPr>
        <p:txBody>
          <a:bodyPr lIns="90000" rIns="90000" tIns="45000" bIns="45000" anchor="t">
            <a:noAutofit/>
          </a:bodyPr>
          <a:p>
            <a:r>
              <a:rPr b="0" lang="en-GB" sz="1000" spc="-1" strike="noStrike">
                <a:solidFill>
                  <a:srgbClr val="000000"/>
                </a:solidFill>
                <a:latin typeface="Calibri"/>
              </a:rPr>
              <a:t>// A skeleton of a C# program</a:t>
            </a:r>
            <a:endParaRPr b="0" lang="en-GB" sz="1000" spc="-1" strike="noStrike">
              <a:solidFill>
                <a:srgbClr val="000000"/>
              </a:solidFill>
              <a:latin typeface="Calibri"/>
            </a:endParaRPr>
          </a:p>
          <a:p>
            <a:r>
              <a:rPr b="0" lang="en-GB" sz="1000" spc="-1" strike="noStrike">
                <a:solidFill>
                  <a:srgbClr val="000000"/>
                </a:solidFill>
                <a:latin typeface="Calibri"/>
              </a:rPr>
              <a:t>using System;</a:t>
            </a:r>
            <a:endParaRPr b="0" lang="en-GB" sz="1000" spc="-1" strike="noStrike">
              <a:solidFill>
                <a:srgbClr val="000000"/>
              </a:solidFill>
              <a:latin typeface="Calibri"/>
            </a:endParaRPr>
          </a:p>
          <a:p>
            <a:r>
              <a:rPr b="0" lang="en-GB" sz="1000" spc="-1" strike="noStrike">
                <a:solidFill>
                  <a:srgbClr val="000000"/>
                </a:solidFill>
                <a:latin typeface="Calibri"/>
              </a:rPr>
              <a:t>namespace YourNamespace</a:t>
            </a:r>
            <a:endParaRPr b="0" lang="en-GB" sz="1000" spc="-1" strike="noStrike">
              <a:solidFill>
                <a:srgbClr val="000000"/>
              </a:solidFill>
              <a:latin typeface="Calibri"/>
            </a:endParaRPr>
          </a:p>
          <a:p>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class YourClass</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struct YourStruct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interface IYourInterface</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delegate int YourDelegate();</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enum YourEnum</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namespace YourNestedNamespace</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struct YourStruct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class Program</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static void Main(string[] args)</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Console.WriteLine("Hello world!");</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    </a:t>
            </a:r>
            <a:r>
              <a:rPr b="0" lang="en-GB" sz="1000" spc="-1" strike="noStrike">
                <a:solidFill>
                  <a:srgbClr val="000000"/>
                </a:solidFill>
                <a:latin typeface="Calibri"/>
              </a:rPr>
              <a:t>}</a:t>
            </a:r>
            <a:endParaRPr b="0" lang="en-GB" sz="1000" spc="-1" strike="noStrike">
              <a:solidFill>
                <a:srgbClr val="000000"/>
              </a:solidFill>
              <a:latin typeface="Calibri"/>
            </a:endParaRPr>
          </a:p>
          <a:p>
            <a:r>
              <a:rPr b="0" lang="en-GB" sz="1000" spc="-1" strike="noStrike">
                <a:solidFill>
                  <a:srgbClr val="000000"/>
                </a:solidFill>
                <a:latin typeface="Calibri"/>
              </a:rPr>
              <a:t>}</a:t>
            </a:r>
            <a:endParaRPr b="0" lang="en-GB" sz="1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White Spaces</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White Spaces</a:t>
            </a:r>
            <a:endParaRPr b="0" lang="en-GB" sz="2400" spc="-1" strike="noStrike">
              <a:solidFill>
                <a:srgbClr val="000000"/>
              </a:solidFill>
              <a:latin typeface="Arial"/>
            </a:endParaRPr>
          </a:p>
        </p:txBody>
      </p:sp>
      <p:sp>
        <p:nvSpPr>
          <p:cNvPr id="344" name="Google Shape;130;p 1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are White Spaces?</a:t>
            </a:r>
            <a:endParaRPr b="0" lang="en-GB" sz="1800" spc="-1" strike="noStrike">
              <a:solidFill>
                <a:srgbClr val="000000"/>
              </a:solidFill>
              <a:latin typeface="Arial"/>
            </a:endParaRPr>
          </a:p>
        </p:txBody>
      </p:sp>
      <p:sp>
        <p:nvSpPr>
          <p:cNvPr id="345" name="Google Shape;131;p 1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In C#, "white-space" refers to characters that are used to improve code readability but are generally ignored by the compiler when parsing the code. These characters include: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Spaces: `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Tabs: \t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Newlines: \n (line feed), \r (carriage return), and \r\n (Windows newline)</a:t>
            </a:r>
            <a:endParaRPr b="0" lang="en-GB" sz="1400" spc="-1" strike="noStrike">
              <a:solidFill>
                <a:srgbClr val="000000"/>
              </a:solidFill>
              <a:latin typeface="Arial"/>
            </a:endParaRPr>
          </a:p>
        </p:txBody>
      </p:sp>
      <p:sp>
        <p:nvSpPr>
          <p:cNvPr id="346" name="PlaceHolder 2"/>
          <p:cNvSpPr>
            <a:spLocks noGrp="1"/>
          </p:cNvSpPr>
          <p:nvPr>
            <p:ph type="sldNum" idx="2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5DECE99-1C9C-424F-B484-C4253208AA4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White Spaces</a:t>
            </a:r>
            <a:endParaRPr b="0" lang="en-GB" sz="2400" spc="-1" strike="noStrike">
              <a:solidFill>
                <a:srgbClr val="000000"/>
              </a:solidFill>
              <a:latin typeface="Arial"/>
            </a:endParaRPr>
          </a:p>
        </p:txBody>
      </p:sp>
      <p:sp>
        <p:nvSpPr>
          <p:cNvPr id="348" name="Google Shape;130;p 1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Purpose of White space:</a:t>
            </a:r>
            <a:endParaRPr b="0" lang="en-GB" sz="1800" spc="-1" strike="noStrike">
              <a:solidFill>
                <a:srgbClr val="000000"/>
              </a:solidFill>
              <a:latin typeface="Arial"/>
            </a:endParaRPr>
          </a:p>
        </p:txBody>
      </p:sp>
      <p:sp>
        <p:nvSpPr>
          <p:cNvPr id="349" name="Google Shape;131;p 1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00" spc="-1" strike="noStrike">
                <a:solidFill>
                  <a:schemeClr val="dk1"/>
                </a:solidFill>
                <a:highlight>
                  <a:srgbClr val="ffffff"/>
                </a:highlight>
                <a:latin typeface="Calibri"/>
                <a:ea typeface="Arial"/>
              </a:rPr>
              <a:t>Readability:</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Whitespace helps organize code visually, making it easier for human programmers to understand and navigate. For example, indenting code blocks with spaces or tabs clearly defines their scope.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Separation:</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Whitespace separates different elements of the code, such as keywords, identifiers, operators, and literals, preventing ambiguity.</a:t>
            </a:r>
            <a:endParaRPr b="0" lang="en-GB" sz="1400" spc="-1" strike="noStrike">
              <a:solidFill>
                <a:srgbClr val="000000"/>
              </a:solidFill>
              <a:latin typeface="Arial"/>
            </a:endParaRPr>
          </a:p>
        </p:txBody>
      </p:sp>
      <p:sp>
        <p:nvSpPr>
          <p:cNvPr id="350" name="PlaceHolder 2"/>
          <p:cNvSpPr>
            <a:spLocks noGrp="1"/>
          </p:cNvSpPr>
          <p:nvPr>
            <p:ph type="sldNum" idx="3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93419D9-7E51-48D4-B814-1698357A080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White Spaces</a:t>
            </a:r>
            <a:endParaRPr b="0" lang="en-GB" sz="2400" spc="-1" strike="noStrike">
              <a:solidFill>
                <a:srgbClr val="000000"/>
              </a:solidFill>
              <a:latin typeface="Arial"/>
            </a:endParaRPr>
          </a:p>
        </p:txBody>
      </p:sp>
      <p:sp>
        <p:nvSpPr>
          <p:cNvPr id="352" name="Google Shape;130;p 1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Where Whitespace Matters and Doesn't:</a:t>
            </a:r>
            <a:endParaRPr b="0" lang="en-GB" sz="1800" spc="-1" strike="noStrike">
              <a:solidFill>
                <a:srgbClr val="000000"/>
              </a:solidFill>
              <a:latin typeface="Arial"/>
            </a:endParaRPr>
          </a:p>
        </p:txBody>
      </p:sp>
      <p:sp>
        <p:nvSpPr>
          <p:cNvPr id="353" name="Google Shape;131;p 1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Wingdings" charset="2"/>
              <a:buChar char=""/>
            </a:pPr>
            <a:r>
              <a:rPr b="0" lang="en-US" sz="1400" spc="-1" strike="noStrike">
                <a:solidFill>
                  <a:schemeClr val="dk1"/>
                </a:solidFill>
                <a:highlight>
                  <a:srgbClr val="ffffff"/>
                </a:highlight>
                <a:latin typeface="Calibri"/>
                <a:ea typeface="Arial"/>
              </a:rPr>
              <a:t>Ignored by Compiler (mostly).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Significant within String Literals.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Method Parameters.</a:t>
            </a:r>
            <a:endParaRPr b="0" lang="en-GB" sz="1400" spc="-1" strike="noStrike">
              <a:solidFill>
                <a:srgbClr val="000000"/>
              </a:solidFill>
              <a:latin typeface="Arial"/>
            </a:endParaRPr>
          </a:p>
        </p:txBody>
      </p:sp>
      <p:sp>
        <p:nvSpPr>
          <p:cNvPr id="354" name="PlaceHolder 2"/>
          <p:cNvSpPr>
            <a:spLocks noGrp="1"/>
          </p:cNvSpPr>
          <p:nvPr>
            <p:ph type="sldNum" idx="3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E72BF92-2CD9-4622-9819-4379EB86E61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5"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Indentation</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Indentation</a:t>
            </a:r>
            <a:endParaRPr b="0" lang="en-GB" sz="2400" spc="-1" strike="noStrike">
              <a:solidFill>
                <a:srgbClr val="000000"/>
              </a:solidFill>
              <a:latin typeface="Arial"/>
            </a:endParaRPr>
          </a:p>
        </p:txBody>
      </p:sp>
      <p:sp>
        <p:nvSpPr>
          <p:cNvPr id="357" name="Google Shape;130;p 16"/>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are Indentation?</a:t>
            </a:r>
            <a:endParaRPr b="0" lang="en-GB" sz="1800" spc="-1" strike="noStrike">
              <a:solidFill>
                <a:srgbClr val="000000"/>
              </a:solidFill>
              <a:latin typeface="Arial"/>
            </a:endParaRPr>
          </a:p>
        </p:txBody>
      </p:sp>
      <p:sp>
        <p:nvSpPr>
          <p:cNvPr id="358" name="Google Shape;131;p 16"/>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Indentation in C# programming refers to the use of whitespace (spaces or tabs) at the beginning of lines of code to visually represent the hierarchical structure and scope of code blocks. While C# does not enforce indentation for code compilation (unlike languages like Python), it is a crucial element of good coding practice for enhancing readability and maintainability.</a:t>
            </a:r>
            <a:endParaRPr b="0" lang="en-GB" sz="1400" spc="-1" strike="noStrike">
              <a:solidFill>
                <a:srgbClr val="000000"/>
              </a:solidFill>
              <a:latin typeface="Arial"/>
            </a:endParaRPr>
          </a:p>
        </p:txBody>
      </p:sp>
      <p:sp>
        <p:nvSpPr>
          <p:cNvPr id="359" name="PlaceHolder 2"/>
          <p:cNvSpPr>
            <a:spLocks noGrp="1"/>
          </p:cNvSpPr>
          <p:nvPr>
            <p:ph type="sldNum" idx="3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327EEFA-A6B1-48F0-AA0A-318BBF5749C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Indentation</a:t>
            </a:r>
            <a:endParaRPr b="0" lang="en-GB" sz="2400" spc="-1" strike="noStrike">
              <a:solidFill>
                <a:srgbClr val="000000"/>
              </a:solidFill>
              <a:latin typeface="Arial"/>
            </a:endParaRPr>
          </a:p>
        </p:txBody>
      </p:sp>
      <p:sp>
        <p:nvSpPr>
          <p:cNvPr id="361" name="Google Shape;130;p 17"/>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Key aspects of indentation in C#:</a:t>
            </a:r>
            <a:endParaRPr b="0" lang="en-GB" sz="1800" spc="-1" strike="noStrike">
              <a:solidFill>
                <a:srgbClr val="000000"/>
              </a:solidFill>
              <a:latin typeface="Arial"/>
            </a:endParaRPr>
          </a:p>
        </p:txBody>
      </p:sp>
      <p:sp>
        <p:nvSpPr>
          <p:cNvPr id="362" name="Google Shape;131;p 17"/>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Readability.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Common Convention: The widely accepted convention in C# is to use four spaces for each level of indentation, rather than tabs.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Block Structure.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IDE Support.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EditorConfig: For team-based projects, .editorconfig files can be used to define consistent coding styles, including indentation rules.</a:t>
            </a:r>
            <a:endParaRPr b="0" lang="en-GB" sz="1400" spc="-1" strike="noStrike">
              <a:solidFill>
                <a:srgbClr val="000000"/>
              </a:solidFill>
              <a:latin typeface="Arial"/>
            </a:endParaRPr>
          </a:p>
        </p:txBody>
      </p:sp>
      <p:sp>
        <p:nvSpPr>
          <p:cNvPr id="363" name="PlaceHolder 2"/>
          <p:cNvSpPr>
            <a:spLocks noGrp="1"/>
          </p:cNvSpPr>
          <p:nvPr>
            <p:ph type="sldNum" idx="3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D8C9E6B-755F-48A0-A206-78EB4FAAFAF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Method Parameters</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Method Parameters</a:t>
            </a:r>
            <a:endParaRPr b="0" lang="en-GB" sz="2400" spc="-1" strike="noStrike">
              <a:solidFill>
                <a:srgbClr val="000000"/>
              </a:solidFill>
              <a:latin typeface="Arial"/>
            </a:endParaRPr>
          </a:p>
        </p:txBody>
      </p:sp>
      <p:sp>
        <p:nvSpPr>
          <p:cNvPr id="366" name="Google Shape;130;p 18"/>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are Method Parameters?</a:t>
            </a:r>
            <a:endParaRPr b="0" lang="en-GB" sz="1800" spc="-1" strike="noStrike">
              <a:solidFill>
                <a:srgbClr val="000000"/>
              </a:solidFill>
              <a:latin typeface="Arial"/>
            </a:endParaRPr>
          </a:p>
        </p:txBody>
      </p:sp>
      <p:sp>
        <p:nvSpPr>
          <p:cNvPr id="367" name="Google Shape;131;p 18"/>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In C#, method parameters are variables declared in a method's signature that define the type and name of the data a method can accept as input when it is called.</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They allow methods to be more flexible and reusable by enabling them to operate on different data values without needing to be rewritten for each specific case. </a:t>
            </a:r>
            <a:endParaRPr b="0" lang="en-GB" sz="1400" spc="-1" strike="noStrike">
              <a:solidFill>
                <a:srgbClr val="000000"/>
              </a:solidFill>
              <a:latin typeface="Arial"/>
            </a:endParaRPr>
          </a:p>
        </p:txBody>
      </p:sp>
      <p:sp>
        <p:nvSpPr>
          <p:cNvPr id="368" name="PlaceHolder 2"/>
          <p:cNvSpPr>
            <a:spLocks noGrp="1"/>
          </p:cNvSpPr>
          <p:nvPr>
            <p:ph type="sldNum" idx="3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DFC251E-1DD6-4D36-9A07-1753840D832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Method Parameters</a:t>
            </a:r>
            <a:endParaRPr b="0" lang="en-GB" sz="2400" spc="-1" strike="noStrike">
              <a:solidFill>
                <a:srgbClr val="000000"/>
              </a:solidFill>
              <a:latin typeface="Arial"/>
            </a:endParaRPr>
          </a:p>
        </p:txBody>
      </p:sp>
      <p:sp>
        <p:nvSpPr>
          <p:cNvPr id="370" name="Google Shape;130;p 19"/>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Defining a Method Parameters:</a:t>
            </a:r>
            <a:endParaRPr b="0" lang="en-GB" sz="1800" spc="-1" strike="noStrike">
              <a:solidFill>
                <a:srgbClr val="000000"/>
              </a:solidFill>
              <a:latin typeface="Arial"/>
            </a:endParaRPr>
          </a:p>
        </p:txBody>
      </p:sp>
      <p:sp>
        <p:nvSpPr>
          <p:cNvPr id="371" name="Google Shape;131;p 19"/>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Parameters are listed within the parentheses after the method name in its declaration. Each parameter consists of a data type followed by a parameter name. Multiple parameters are separated by commas.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372" name="PlaceHolder 2"/>
          <p:cNvSpPr>
            <a:spLocks noGrp="1"/>
          </p:cNvSpPr>
          <p:nvPr>
            <p:ph type="sldNum" idx="3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E90B8AF-4544-46B7-8A0E-0AA5BC2AEBE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73" name="" descr=""/>
          <p:cNvPicPr/>
          <p:nvPr/>
        </p:nvPicPr>
        <p:blipFill>
          <a:blip r:embed="rId1"/>
          <a:stretch/>
        </p:blipFill>
        <p:spPr>
          <a:xfrm>
            <a:off x="2254680" y="2133720"/>
            <a:ext cx="4635000" cy="128628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Method Parameters</a:t>
            </a:r>
            <a:endParaRPr b="0" lang="en-GB" sz="2400" spc="-1" strike="noStrike">
              <a:solidFill>
                <a:srgbClr val="000000"/>
              </a:solidFill>
              <a:latin typeface="Arial"/>
            </a:endParaRPr>
          </a:p>
        </p:txBody>
      </p:sp>
      <p:sp>
        <p:nvSpPr>
          <p:cNvPr id="375" name="Google Shape;130;p 20"/>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Passing Arguments:</a:t>
            </a:r>
            <a:endParaRPr b="0" lang="en-GB" sz="1800" spc="-1" strike="noStrike">
              <a:solidFill>
                <a:srgbClr val="000000"/>
              </a:solidFill>
              <a:latin typeface="Arial"/>
            </a:endParaRPr>
          </a:p>
        </p:txBody>
      </p:sp>
      <p:sp>
        <p:nvSpPr>
          <p:cNvPr id="376" name="Google Shape;131;p 20"/>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When a method with parameters is called, concrete values, known as arguments, are provided for each parameter. The arguments must be compatible with the declared parameter types. </a:t>
            </a:r>
            <a:endParaRPr b="0" lang="en-GB" sz="1400" spc="-1" strike="noStrike">
              <a:solidFill>
                <a:srgbClr val="000000"/>
              </a:solidFill>
              <a:latin typeface="Arial"/>
            </a:endParaRPr>
          </a:p>
        </p:txBody>
      </p:sp>
      <p:sp>
        <p:nvSpPr>
          <p:cNvPr id="377" name="PlaceHolder 2"/>
          <p:cNvSpPr>
            <a:spLocks noGrp="1"/>
          </p:cNvSpPr>
          <p:nvPr>
            <p:ph type="sldNum" idx="3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796EC8A-CED9-4D2F-87FC-7D79E968CC1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378" name="" descr=""/>
          <p:cNvPicPr/>
          <p:nvPr/>
        </p:nvPicPr>
        <p:blipFill>
          <a:blip r:embed="rId1"/>
          <a:stretch/>
        </p:blipFill>
        <p:spPr>
          <a:xfrm>
            <a:off x="1765080" y="2348280"/>
            <a:ext cx="5614200" cy="53172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Method Parameters</a:t>
            </a:r>
            <a:endParaRPr b="0" lang="en-GB" sz="2400" spc="-1" strike="noStrike">
              <a:solidFill>
                <a:srgbClr val="000000"/>
              </a:solidFill>
              <a:latin typeface="Arial"/>
            </a:endParaRPr>
          </a:p>
        </p:txBody>
      </p:sp>
      <p:sp>
        <p:nvSpPr>
          <p:cNvPr id="380" name="Google Shape;130;p 21"/>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Types of Method Parameters in C#:</a:t>
            </a:r>
            <a:endParaRPr b="0" lang="en-GB" sz="1800" spc="-1" strike="noStrike">
              <a:solidFill>
                <a:srgbClr val="000000"/>
              </a:solidFill>
              <a:latin typeface="Arial"/>
            </a:endParaRPr>
          </a:p>
        </p:txBody>
      </p:sp>
      <p:sp>
        <p:nvSpPr>
          <p:cNvPr id="381" name="Google Shape;131;p 21"/>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Value Parameters.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Reference Parameters (ref): Used to pass a variable by reference, meaning the method directly works with the original variable in memory.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Output Parameters (out): Similar to ref parameters, but used when a method needs to return multiple values.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Parameter Arrays (params): Allows a method to accept a variable number of arguments of a specific type.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Named Parameters: Introduced in C# 4.0, these allow arguments to be passed by specifying the parameter name, rather than relying on their positional order.</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Optional Parameters (Default Parameters): Also introduced in C# 4.0, these allow parameters to have a default value, making them optional when calling the method.</a:t>
            </a:r>
            <a:endParaRPr b="0" lang="en-GB" sz="1400" spc="-1" strike="noStrike">
              <a:solidFill>
                <a:srgbClr val="000000"/>
              </a:solidFill>
              <a:latin typeface="Arial"/>
            </a:endParaRPr>
          </a:p>
        </p:txBody>
      </p:sp>
      <p:sp>
        <p:nvSpPr>
          <p:cNvPr id="382" name="PlaceHolder 2"/>
          <p:cNvSpPr>
            <a:spLocks noGrp="1"/>
          </p:cNvSpPr>
          <p:nvPr>
            <p:ph type="sldNum" idx="3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5DEF0F7-543D-4201-9335-D13D333F8FE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Hard Coding</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Hard Coding</a:t>
            </a:r>
            <a:endParaRPr b="0" lang="en-GB" sz="2400" spc="-1" strike="noStrike">
              <a:solidFill>
                <a:srgbClr val="000000"/>
              </a:solidFill>
              <a:latin typeface="Arial"/>
            </a:endParaRPr>
          </a:p>
        </p:txBody>
      </p:sp>
      <p:sp>
        <p:nvSpPr>
          <p:cNvPr id="385" name="Google Shape;130;p 2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is Hard Coding?</a:t>
            </a:r>
            <a:endParaRPr b="0" lang="en-GB" sz="1800" spc="-1" strike="noStrike">
              <a:solidFill>
                <a:srgbClr val="000000"/>
              </a:solidFill>
              <a:latin typeface="Arial"/>
            </a:endParaRPr>
          </a:p>
        </p:txBody>
      </p:sp>
      <p:sp>
        <p:nvSpPr>
          <p:cNvPr id="386" name="Google Shape;131;p 2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Hard coding in a C# program refers to the practice of embedding specific values, configurations, or logic directly into the source code rather than obtaining them from external sources or allowing them to be dynamically determined at runtime.</a:t>
            </a:r>
            <a:endParaRPr b="0" lang="en-GB" sz="1400" spc="-1" strike="noStrike">
              <a:solidFill>
                <a:srgbClr val="000000"/>
              </a:solidFill>
              <a:latin typeface="Arial"/>
            </a:endParaRPr>
          </a:p>
        </p:txBody>
      </p:sp>
      <p:sp>
        <p:nvSpPr>
          <p:cNvPr id="387" name="PlaceHolder 2"/>
          <p:cNvSpPr>
            <a:spLocks noGrp="1"/>
          </p:cNvSpPr>
          <p:nvPr>
            <p:ph type="sldNum" idx="3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E3ACD31-3517-44E0-B9A0-9C79B7D8019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Hard Coding</a:t>
            </a:r>
            <a:endParaRPr b="0" lang="en-GB" sz="2400" spc="-1" strike="noStrike">
              <a:solidFill>
                <a:srgbClr val="000000"/>
              </a:solidFill>
              <a:latin typeface="Arial"/>
            </a:endParaRPr>
          </a:p>
        </p:txBody>
      </p:sp>
      <p:sp>
        <p:nvSpPr>
          <p:cNvPr id="389" name="Google Shape;130;p 2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Examples of Hard Coding in C#:</a:t>
            </a:r>
            <a:endParaRPr b="0" lang="en-GB" sz="1800" spc="-1" strike="noStrike">
              <a:solidFill>
                <a:srgbClr val="000000"/>
              </a:solidFill>
              <a:latin typeface="Arial"/>
            </a:endParaRPr>
          </a:p>
        </p:txBody>
      </p:sp>
      <p:sp>
        <p:nvSpPr>
          <p:cNvPr id="390" name="Google Shape;131;p 2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Literal Values: Directly assigning numerical or string literals to variables or using them in expressions.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i="1" lang="en-US" sz="1200" spc="-1" strike="noStrike">
                <a:solidFill>
                  <a:schemeClr val="dk1"/>
                </a:solidFill>
                <a:highlight>
                  <a:srgbClr val="ffffff"/>
                </a:highlight>
                <a:latin typeface="Calibri"/>
                <a:ea typeface="Arial"/>
              </a:rPr>
              <a:t>int maxAttempts = 3; // Hard-coded value for maximum login attempts</a:t>
            </a:r>
            <a:endParaRPr b="0" lang="en-GB" sz="1200" spc="-1" strike="noStrike">
              <a:solidFill>
                <a:srgbClr val="000000"/>
              </a:solidFill>
              <a:latin typeface="Arial"/>
            </a:endParaRPr>
          </a:p>
          <a:p>
            <a:pPr>
              <a:lnSpc>
                <a:spcPct val="100000"/>
              </a:lnSpc>
            </a:pPr>
            <a:r>
              <a:rPr b="0" i="1" lang="en-US" sz="1200" spc="-1" strike="noStrike">
                <a:solidFill>
                  <a:schemeClr val="dk1"/>
                </a:solidFill>
                <a:highlight>
                  <a:srgbClr val="ffffff"/>
                </a:highlight>
                <a:latin typeface="Calibri"/>
                <a:ea typeface="Arial"/>
              </a:rPr>
              <a:t>    </a:t>
            </a:r>
            <a:r>
              <a:rPr b="0" i="1" lang="en-US" sz="1200" spc="-1" strike="noStrike">
                <a:solidFill>
                  <a:schemeClr val="dk1"/>
                </a:solidFill>
                <a:highlight>
                  <a:srgbClr val="ffffff"/>
                </a:highlight>
                <a:latin typeface="Calibri"/>
                <a:ea typeface="Arial"/>
              </a:rPr>
              <a:t>string defaultMessage = "Welcome to the application!"; // Hard-coded string</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File Paths/Connection Strings: Embedding file paths or database connection strings directly in the code.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i="1" lang="en-US" sz="1200" spc="-1" strike="noStrike">
                <a:solidFill>
                  <a:schemeClr val="dk1"/>
                </a:solidFill>
                <a:highlight>
                  <a:srgbClr val="ffffff"/>
                </a:highlight>
                <a:latin typeface="Calibri"/>
                <a:ea typeface="Arial"/>
              </a:rPr>
              <a:t>string filePath = "C:\\Data\\config.txt"; // Hard-coded file path</a:t>
            </a:r>
            <a:endParaRPr b="0" lang="en-GB" sz="1200" spc="-1" strike="noStrike">
              <a:solidFill>
                <a:srgbClr val="000000"/>
              </a:solidFill>
              <a:latin typeface="Arial"/>
            </a:endParaRPr>
          </a:p>
          <a:p>
            <a:pPr>
              <a:lnSpc>
                <a:spcPct val="100000"/>
              </a:lnSpc>
            </a:pPr>
            <a:r>
              <a:rPr b="0" i="1" lang="en-US" sz="1200" spc="-1" strike="noStrike">
                <a:solidFill>
                  <a:schemeClr val="dk1"/>
                </a:solidFill>
                <a:highlight>
                  <a:srgbClr val="ffffff"/>
                </a:highlight>
                <a:latin typeface="Calibri"/>
                <a:ea typeface="Arial"/>
              </a:rPr>
              <a:t>    </a:t>
            </a:r>
            <a:r>
              <a:rPr b="0" i="1" lang="en-US" sz="1200" spc="-1" strike="noStrike">
                <a:solidFill>
                  <a:schemeClr val="dk1"/>
                </a:solidFill>
                <a:highlight>
                  <a:srgbClr val="ffffff"/>
                </a:highlight>
                <a:latin typeface="Calibri"/>
                <a:ea typeface="Arial"/>
              </a:rPr>
              <a:t>string connectionString = "Server=localhost;Database=MyDb;Integrated Security=True;"; // Hard-coded connection string</a:t>
            </a:r>
            <a:endParaRPr b="0" lang="en-GB" sz="12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Business Logic Parameters: Using fixed values within calculations or decision-making logic that might change over time.</a:t>
            </a:r>
            <a:endParaRPr b="0" lang="en-GB" sz="1400" spc="-1" strike="noStrike">
              <a:solidFill>
                <a:srgbClr val="000000"/>
              </a:solidFill>
              <a:latin typeface="Arial"/>
            </a:endParaRPr>
          </a:p>
        </p:txBody>
      </p:sp>
      <p:sp>
        <p:nvSpPr>
          <p:cNvPr id="391" name="PlaceHolder 2"/>
          <p:cNvSpPr>
            <a:spLocks noGrp="1"/>
          </p:cNvSpPr>
          <p:nvPr>
            <p:ph type="sldNum" idx="3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24EBA5C-8EBE-44B3-9E65-581F685F5DA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Hard Coding</a:t>
            </a:r>
            <a:endParaRPr b="0" lang="en-GB" sz="2400" spc="-1" strike="noStrike">
              <a:solidFill>
                <a:srgbClr val="000000"/>
              </a:solidFill>
              <a:latin typeface="Arial"/>
            </a:endParaRPr>
          </a:p>
        </p:txBody>
      </p:sp>
      <p:sp>
        <p:nvSpPr>
          <p:cNvPr id="393" name="Google Shape;130;p 2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Implications of Hard Coding:</a:t>
            </a:r>
            <a:endParaRPr b="0" lang="en-GB" sz="1800" spc="-1" strike="noStrike">
              <a:solidFill>
                <a:srgbClr val="000000"/>
              </a:solidFill>
              <a:latin typeface="Arial"/>
            </a:endParaRPr>
          </a:p>
        </p:txBody>
      </p:sp>
      <p:sp>
        <p:nvSpPr>
          <p:cNvPr id="394" name="Google Shape;131;p 2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Reduced Flexibility: Changes to hard-coded values require modification and recompilation of the source code, making updates cumbersome.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Maintainability Issues: Locating and updating hard-coded values across a large codebase can be challenging and error-prone.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Security Risks: Hard-coding sensitive information like passwords or API keys can expose them if the code is compromised.</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Limited Reusability: Code with hard-coded values is less adaptable to different environments or scenarios.</a:t>
            </a:r>
            <a:endParaRPr b="0" lang="en-GB" sz="1400" spc="-1" strike="noStrike">
              <a:solidFill>
                <a:srgbClr val="000000"/>
              </a:solidFill>
              <a:latin typeface="Arial"/>
            </a:endParaRPr>
          </a:p>
        </p:txBody>
      </p:sp>
      <p:sp>
        <p:nvSpPr>
          <p:cNvPr id="395" name="PlaceHolder 2"/>
          <p:cNvSpPr>
            <a:spLocks noGrp="1"/>
          </p:cNvSpPr>
          <p:nvPr>
            <p:ph type="sldNum" idx="4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8C9C3CD-3F8C-4F37-B046-37E2B1E3E2E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Code Comments</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Comments</a:t>
            </a:r>
            <a:endParaRPr b="0" lang="en-GB" sz="2400" spc="-1" strike="noStrike">
              <a:solidFill>
                <a:srgbClr val="000000"/>
              </a:solidFill>
              <a:latin typeface="Arial"/>
            </a:endParaRPr>
          </a:p>
        </p:txBody>
      </p:sp>
      <p:sp>
        <p:nvSpPr>
          <p:cNvPr id="398" name="Google Shape;130;p 2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are Code Comments?</a:t>
            </a:r>
            <a:endParaRPr b="0" lang="en-GB" sz="1800" spc="-1" strike="noStrike">
              <a:solidFill>
                <a:srgbClr val="000000"/>
              </a:solidFill>
              <a:latin typeface="Arial"/>
            </a:endParaRPr>
          </a:p>
        </p:txBody>
      </p:sp>
      <p:sp>
        <p:nvSpPr>
          <p:cNvPr id="399" name="Google Shape;131;p 2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Comments in C# programs are non-executable lines of text used to explain code, improve readability, and temporarily disable code sections. The C# compiler ignores comments during compilation.</a:t>
            </a:r>
            <a:endParaRPr b="0" lang="en-GB" sz="1400" spc="-1" strike="noStrike">
              <a:solidFill>
                <a:srgbClr val="000000"/>
              </a:solidFill>
              <a:latin typeface="Arial"/>
            </a:endParaRPr>
          </a:p>
        </p:txBody>
      </p:sp>
      <p:sp>
        <p:nvSpPr>
          <p:cNvPr id="400" name="PlaceHolder 2"/>
          <p:cNvSpPr>
            <a:spLocks noGrp="1"/>
          </p:cNvSpPr>
          <p:nvPr>
            <p:ph type="sldNum" idx="4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2D93C50-47A0-42EB-8ECA-331CE12C165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Comments</a:t>
            </a:r>
            <a:endParaRPr b="0" lang="en-GB" sz="2400" spc="-1" strike="noStrike">
              <a:solidFill>
                <a:srgbClr val="000000"/>
              </a:solidFill>
              <a:latin typeface="Arial"/>
            </a:endParaRPr>
          </a:p>
        </p:txBody>
      </p:sp>
      <p:sp>
        <p:nvSpPr>
          <p:cNvPr id="402" name="Google Shape;130;p 26"/>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There are three main types of comments in C#:</a:t>
            </a:r>
            <a:endParaRPr b="0" lang="en-GB" sz="1800" spc="-1" strike="noStrike">
              <a:solidFill>
                <a:srgbClr val="000000"/>
              </a:solidFill>
              <a:latin typeface="Arial"/>
            </a:endParaRPr>
          </a:p>
        </p:txBody>
      </p:sp>
      <p:sp>
        <p:nvSpPr>
          <p:cNvPr id="403" name="Google Shape;131;p 26"/>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Single-Line Comments: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Start with two forward slashes (//).</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Any text following // on the same line is considered a comment and ignored by the compiler.</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Example: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int x = 10; // Declare an integer variable x and initialize it to 10</a:t>
            </a:r>
            <a:endParaRPr b="0" lang="en-GB" sz="1400" spc="-1" strike="noStrike">
              <a:solidFill>
                <a:srgbClr val="000000"/>
              </a:solidFill>
              <a:latin typeface="Arial"/>
            </a:endParaRPr>
          </a:p>
        </p:txBody>
      </p:sp>
      <p:sp>
        <p:nvSpPr>
          <p:cNvPr id="404" name="PlaceHolder 2"/>
          <p:cNvSpPr>
            <a:spLocks noGrp="1"/>
          </p:cNvSpPr>
          <p:nvPr>
            <p:ph type="sldNum" idx="4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7226D16-97A2-43CC-9554-2501ACB787C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Comments</a:t>
            </a:r>
            <a:endParaRPr b="0" lang="en-GB" sz="2400" spc="-1" strike="noStrike">
              <a:solidFill>
                <a:srgbClr val="000000"/>
              </a:solidFill>
              <a:latin typeface="Arial"/>
            </a:endParaRPr>
          </a:p>
        </p:txBody>
      </p:sp>
      <p:sp>
        <p:nvSpPr>
          <p:cNvPr id="406" name="Google Shape;130;p 27"/>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There are three main types of comments in C#:</a:t>
            </a:r>
            <a:endParaRPr b="0" lang="en-GB" sz="1800" spc="-1" strike="noStrike">
              <a:solidFill>
                <a:srgbClr val="000000"/>
              </a:solidFill>
              <a:latin typeface="Arial"/>
            </a:endParaRPr>
          </a:p>
        </p:txBody>
      </p:sp>
      <p:sp>
        <p:nvSpPr>
          <p:cNvPr id="407" name="Google Shape;131;p 27"/>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Multi-Line Comments: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Start with /* and end with */.</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All text between /* and */ across multiple lines is treated as a comment.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Example: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This is a multi-line comment.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It can span multiple lines to provide detailed explanations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or to comment out a block of code.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a:t>
            </a:r>
            <a:endParaRPr b="0" lang="en-GB" sz="1400" spc="-1" strike="noStrike">
              <a:solidFill>
                <a:srgbClr val="000000"/>
              </a:solidFill>
              <a:latin typeface="Arial"/>
            </a:endParaRPr>
          </a:p>
        </p:txBody>
      </p:sp>
      <p:sp>
        <p:nvSpPr>
          <p:cNvPr id="408" name="PlaceHolder 2"/>
          <p:cNvSpPr>
            <a:spLocks noGrp="1"/>
          </p:cNvSpPr>
          <p:nvPr>
            <p:ph type="sldNum" idx="4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FB922C2-B874-4345-A2DD-F03AAA1EA3B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Comments</a:t>
            </a:r>
            <a:endParaRPr b="0" lang="en-GB" sz="2400" spc="-1" strike="noStrike">
              <a:solidFill>
                <a:srgbClr val="000000"/>
              </a:solidFill>
              <a:latin typeface="Arial"/>
            </a:endParaRPr>
          </a:p>
        </p:txBody>
      </p:sp>
      <p:sp>
        <p:nvSpPr>
          <p:cNvPr id="410" name="Google Shape;130;p 28"/>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There are three main types of comments in C#:</a:t>
            </a:r>
            <a:endParaRPr b="0" lang="en-GB" sz="1800" spc="-1" strike="noStrike">
              <a:solidFill>
                <a:srgbClr val="000000"/>
              </a:solidFill>
              <a:latin typeface="Arial"/>
            </a:endParaRPr>
          </a:p>
        </p:txBody>
      </p:sp>
      <p:sp>
        <p:nvSpPr>
          <p:cNvPr id="411" name="Google Shape;131;p 28"/>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XML Documentation Comments: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Start with three forward slashes (///).</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They typically contain specific XML tags like &lt;summary&gt;, &lt;param&gt;, &lt;returns&gt;, etc., to describe the purpose of classes, methods, and other members.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Example: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&lt;summary&gt;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This method calculates the sum of two integers.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&lt;/summary&gt;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&lt;param name="a"&gt;The first integer.&lt;/param&gt;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&lt;param name="b"&gt;The second integer.&lt;/param&gt;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 &lt;returns&gt;The sum of a and b.&lt;/returns&gt;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public int Add(int a, int b)</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return a + b;</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t>
            </a:r>
            <a:endParaRPr b="0" lang="en-GB" sz="1200" spc="-1" strike="noStrike">
              <a:solidFill>
                <a:srgbClr val="000000"/>
              </a:solidFill>
              <a:latin typeface="Arial"/>
            </a:endParaRPr>
          </a:p>
        </p:txBody>
      </p:sp>
      <p:sp>
        <p:nvSpPr>
          <p:cNvPr id="412" name="PlaceHolder 2"/>
          <p:cNvSpPr>
            <a:spLocks noGrp="1"/>
          </p:cNvSpPr>
          <p:nvPr>
            <p:ph type="sldNum" idx="4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2B16416-7B53-479A-A304-B77399D8970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3"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SonarQube</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15" name="Google Shape;130;p 29"/>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is SonarQube?</a:t>
            </a:r>
            <a:endParaRPr b="0" lang="en-GB" sz="1800" spc="-1" strike="noStrike">
              <a:solidFill>
                <a:srgbClr val="000000"/>
              </a:solidFill>
              <a:latin typeface="Arial"/>
            </a:endParaRPr>
          </a:p>
        </p:txBody>
      </p:sp>
      <p:sp>
        <p:nvSpPr>
          <p:cNvPr id="416" name="Google Shape;131;p 29"/>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SonarQube is an open-source platform for continuous inspection of code quality and security.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It helps developers identify and fix bugs, code smells, vulnerabilities, and code duplications by performing static code analysis.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Essentially, it acts as a code quality gatekeeper, helping teams deliver better, safer software. </a:t>
            </a:r>
            <a:endParaRPr b="0" lang="en-GB" sz="1400" spc="-1" strike="noStrike">
              <a:solidFill>
                <a:srgbClr val="000000"/>
              </a:solidFill>
              <a:latin typeface="Arial"/>
            </a:endParaRPr>
          </a:p>
        </p:txBody>
      </p:sp>
      <p:sp>
        <p:nvSpPr>
          <p:cNvPr id="417" name="PlaceHolder 2"/>
          <p:cNvSpPr>
            <a:spLocks noGrp="1"/>
          </p:cNvSpPr>
          <p:nvPr>
            <p:ph type="sldNum" idx="4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CAF4D21-44DA-4071-A0CC-0CA9A44F73F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418" name="" descr=""/>
          <p:cNvPicPr/>
          <p:nvPr/>
        </p:nvPicPr>
        <p:blipFill>
          <a:blip r:embed="rId1"/>
          <a:stretch/>
        </p:blipFill>
        <p:spPr>
          <a:xfrm>
            <a:off x="3143520" y="1817280"/>
            <a:ext cx="2857320" cy="285732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20" name="Google Shape;130;p 30"/>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Sonar Scanner </a:t>
            </a:r>
            <a:endParaRPr b="0" lang="en-GB" sz="1800" spc="-1" strike="noStrike">
              <a:solidFill>
                <a:srgbClr val="000000"/>
              </a:solidFill>
              <a:latin typeface="Arial"/>
            </a:endParaRPr>
          </a:p>
        </p:txBody>
      </p:sp>
      <p:sp>
        <p:nvSpPr>
          <p:cNvPr id="421" name="Google Shape;131;p 30"/>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A sonar scanner, in the context of software development, is a tool used for static code analysis.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It examines source code to identify potential issues like bugs, vulnerabilities, and code smells without actually executing the code.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Specifically, the SonarScanner is a command-line tool that works in conjunction with SonarQube or SonarCloud to analyze code and report findings to the platform.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422" name="PlaceHolder 2"/>
          <p:cNvSpPr>
            <a:spLocks noGrp="1"/>
          </p:cNvSpPr>
          <p:nvPr>
            <p:ph type="sldNum" idx="4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763E9D7-923D-45C5-9836-5DDF7EAA7F3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24" name="Google Shape;130;p 31"/>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Sonar Source Code</a:t>
            </a:r>
            <a:endParaRPr b="0" lang="en-GB" sz="1800" spc="-1" strike="noStrike">
              <a:solidFill>
                <a:srgbClr val="000000"/>
              </a:solidFill>
              <a:latin typeface="Arial"/>
            </a:endParaRPr>
          </a:p>
        </p:txBody>
      </p:sp>
      <p:sp>
        <p:nvSpPr>
          <p:cNvPr id="425" name="Google Shape;131;p 31"/>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Sonar Source Code refers to the code that SonarQube analyzes to assess code quality and security.</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SonarQube, a SonarSource product, uses static analysis to detect bugs, code smells, and security vulnerabilities in source code written in various programming languages.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It integrates with CI/CD pipelines and IDEs to provide continuous feedback on code quality throughout the development lifecycle.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By using SonarQube, development teams can reduce technical debt, improve code maintainability, enhance security, and ultimately deliver higher quality software. </a:t>
            </a:r>
            <a:endParaRPr b="0" lang="en-GB" sz="1400" spc="-1" strike="noStrike">
              <a:solidFill>
                <a:srgbClr val="000000"/>
              </a:solidFill>
              <a:latin typeface="Arial"/>
            </a:endParaRPr>
          </a:p>
        </p:txBody>
      </p:sp>
      <p:sp>
        <p:nvSpPr>
          <p:cNvPr id="426" name="PlaceHolder 2"/>
          <p:cNvSpPr>
            <a:spLocks noGrp="1"/>
          </p:cNvSpPr>
          <p:nvPr>
            <p:ph type="sldNum" idx="4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C264E8E-5112-49E4-80F3-DB2453E2044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28" name="Google Shape;130;p 3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Sonar Analyzer </a:t>
            </a:r>
            <a:endParaRPr b="0" lang="en-GB" sz="1800" spc="-1" strike="noStrike">
              <a:solidFill>
                <a:srgbClr val="000000"/>
              </a:solidFill>
              <a:latin typeface="Arial"/>
            </a:endParaRPr>
          </a:p>
        </p:txBody>
      </p:sp>
      <p:sp>
        <p:nvSpPr>
          <p:cNvPr id="429" name="Google Shape;131;p 3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A Sonar analyzer, often referring to the tools offered by SonarSource, is a static code analysis tool used to improve code quality and security.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It identifies potential bugs, vulnerabilities, and code smells in various programming languages, helping developers write better code.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Sonar analyzers integrate with IDEs and CI/CD pipelines for real-time feedback and continuous monitoring. </a:t>
            </a:r>
            <a:endParaRPr b="0" lang="en-GB" sz="1400" spc="-1" strike="noStrike">
              <a:solidFill>
                <a:srgbClr val="000000"/>
              </a:solidFill>
              <a:latin typeface="Arial"/>
            </a:endParaRPr>
          </a:p>
        </p:txBody>
      </p:sp>
      <p:sp>
        <p:nvSpPr>
          <p:cNvPr id="430" name="PlaceHolder 2"/>
          <p:cNvSpPr>
            <a:spLocks noGrp="1"/>
          </p:cNvSpPr>
          <p:nvPr>
            <p:ph type="sldNum" idx="4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FC37B51-2DE9-47C1-9ADC-FC67A6E6453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32" name="Google Shape;130;p 3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SonarQube Database</a:t>
            </a:r>
            <a:endParaRPr b="0" lang="en-GB" sz="1800" spc="-1" strike="noStrike">
              <a:solidFill>
                <a:srgbClr val="000000"/>
              </a:solidFill>
              <a:latin typeface="Arial"/>
            </a:endParaRPr>
          </a:p>
        </p:txBody>
      </p:sp>
      <p:sp>
        <p:nvSpPr>
          <p:cNvPr id="433" name="Google Shape;131;p 3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SonarQube utilizes a relational database to store and manage the data collected during code analysis. This database serves as the central repository for all the information SonarQube gathers about your projects, including:</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Code analysis results.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Project configuration.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User and permission management.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Historical data.</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434" name="PlaceHolder 2"/>
          <p:cNvSpPr>
            <a:spLocks noGrp="1"/>
          </p:cNvSpPr>
          <p:nvPr>
            <p:ph type="sldNum" idx="4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6B4FBB3-119E-4DA1-90EB-38E1ACE6A36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SonarQube</a:t>
            </a:r>
            <a:endParaRPr b="0" lang="en-GB" sz="2400" spc="-1" strike="noStrike">
              <a:solidFill>
                <a:srgbClr val="000000"/>
              </a:solidFill>
              <a:latin typeface="Arial"/>
            </a:endParaRPr>
          </a:p>
        </p:txBody>
      </p:sp>
      <p:sp>
        <p:nvSpPr>
          <p:cNvPr id="436" name="Google Shape;130;p 3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to Use SonarQube?</a:t>
            </a:r>
            <a:endParaRPr b="0" lang="en-GB" sz="1800" spc="-1" strike="noStrike">
              <a:solidFill>
                <a:srgbClr val="000000"/>
              </a:solidFill>
              <a:latin typeface="Arial"/>
            </a:endParaRPr>
          </a:p>
        </p:txBody>
      </p:sp>
      <p:sp>
        <p:nvSpPr>
          <p:cNvPr id="437" name="Google Shape;131;p 3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Install SonarQube.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Access SonarQube.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Create a Project in SonarQube.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Generate a Token.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Prepare your Project.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Install SonarScanner.</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Configure SonarScanner.</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Execute the Scan.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Access Project Dashboard.</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Explore Issues.</a:t>
            </a:r>
            <a:endParaRPr b="0" lang="en-GB" sz="1400" spc="-1" strike="noStrike">
              <a:solidFill>
                <a:srgbClr val="000000"/>
              </a:solidFill>
              <a:latin typeface="Arial"/>
            </a:endParaRPr>
          </a:p>
        </p:txBody>
      </p:sp>
      <p:sp>
        <p:nvSpPr>
          <p:cNvPr id="438" name="PlaceHolder 2"/>
          <p:cNvSpPr>
            <a:spLocks noGrp="1"/>
          </p:cNvSpPr>
          <p:nvPr>
            <p:ph type="sldNum" idx="5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048CE3A-39FE-4B44-9C55-94A9D0CB36A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9"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Code Review</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Review</a:t>
            </a:r>
            <a:endParaRPr b="0" lang="en-GB" sz="2400" spc="-1" strike="noStrike">
              <a:solidFill>
                <a:srgbClr val="000000"/>
              </a:solidFill>
              <a:latin typeface="Arial"/>
            </a:endParaRPr>
          </a:p>
        </p:txBody>
      </p:sp>
      <p:sp>
        <p:nvSpPr>
          <p:cNvPr id="441" name="Google Shape;130;p 3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Code Review Principles</a:t>
            </a:r>
            <a:endParaRPr b="0" lang="en-GB" sz="1800" spc="-1" strike="noStrike">
              <a:solidFill>
                <a:srgbClr val="000000"/>
              </a:solidFill>
              <a:latin typeface="Arial"/>
            </a:endParaRPr>
          </a:p>
        </p:txBody>
      </p:sp>
      <p:sp>
        <p:nvSpPr>
          <p:cNvPr id="442" name="Google Shape;131;p 3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Focus on Design and Correctness.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Clarity and Readability.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Test Coverage and Quality.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Adherence to Standards and Best Practices.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Security and Performance.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Constructive and Respectful Feedback.</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Knowledge Sharing and Learning.</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Scope and Efficiency.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Documentation and Build Integrity.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Testability and Debuggability.</a:t>
            </a:r>
            <a:endParaRPr b="0" lang="en-GB" sz="1400" spc="-1" strike="noStrike">
              <a:solidFill>
                <a:srgbClr val="000000"/>
              </a:solidFill>
              <a:latin typeface="Arial"/>
            </a:endParaRPr>
          </a:p>
        </p:txBody>
      </p:sp>
      <p:sp>
        <p:nvSpPr>
          <p:cNvPr id="443" name="PlaceHolder 2"/>
          <p:cNvSpPr>
            <a:spLocks noGrp="1"/>
          </p:cNvSpPr>
          <p:nvPr>
            <p:ph type="sldNum" idx="5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1F409C2-A5DB-4534-89C2-AECDFCA7DBE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Review</a:t>
            </a:r>
            <a:endParaRPr b="0" lang="en-GB" sz="2400" spc="-1" strike="noStrike">
              <a:solidFill>
                <a:srgbClr val="000000"/>
              </a:solidFill>
              <a:latin typeface="Arial"/>
            </a:endParaRPr>
          </a:p>
        </p:txBody>
      </p:sp>
      <p:sp>
        <p:nvSpPr>
          <p:cNvPr id="445" name="Google Shape;130;p 36"/>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Code Performance</a:t>
            </a:r>
            <a:endParaRPr b="0" lang="en-GB" sz="1800" spc="-1" strike="noStrike">
              <a:solidFill>
                <a:srgbClr val="000000"/>
              </a:solidFill>
              <a:latin typeface="Arial"/>
            </a:endParaRPr>
          </a:p>
        </p:txBody>
      </p:sp>
      <p:sp>
        <p:nvSpPr>
          <p:cNvPr id="446" name="Google Shape;131;p 36"/>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Algorithmic Complexity.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Resource Utilization.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Execution Speed.</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Scalability.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Reliability.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Efficient Data Structures and Algorithms.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Resource Management.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Compiler and Runtime Optimizations.</a:t>
            </a:r>
            <a:endParaRPr b="0" lang="en-GB" sz="1400" spc="-1" strike="noStrike">
              <a:solidFill>
                <a:srgbClr val="000000"/>
              </a:solidFill>
              <a:latin typeface="Arial"/>
            </a:endParaRPr>
          </a:p>
        </p:txBody>
      </p:sp>
      <p:sp>
        <p:nvSpPr>
          <p:cNvPr id="447" name="PlaceHolder 2"/>
          <p:cNvSpPr>
            <a:spLocks noGrp="1"/>
          </p:cNvSpPr>
          <p:nvPr>
            <p:ph type="sldNum" idx="5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509278F-309D-47AA-AD93-34D3D754FE0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8"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Error and Exceptions</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Error and Exceptions</a:t>
            </a:r>
            <a:endParaRPr b="0" lang="en-GB" sz="2400" spc="-1" strike="noStrike">
              <a:solidFill>
                <a:srgbClr val="000000"/>
              </a:solidFill>
              <a:latin typeface="Arial"/>
            </a:endParaRPr>
          </a:p>
        </p:txBody>
      </p:sp>
      <p:sp>
        <p:nvSpPr>
          <p:cNvPr id="450" name="Google Shape;130;p 37"/>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Errors</a:t>
            </a:r>
            <a:endParaRPr b="0" lang="en-GB" sz="1800" spc="-1" strike="noStrike">
              <a:solidFill>
                <a:srgbClr val="000000"/>
              </a:solidFill>
              <a:latin typeface="Arial"/>
            </a:endParaRPr>
          </a:p>
        </p:txBody>
      </p:sp>
      <p:sp>
        <p:nvSpPr>
          <p:cNvPr id="451" name="Google Shape;131;p 37"/>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Errors are typically severe, unrecoverable problems that occur at the system level or due to critical resource limitations.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They often indicate issues that are beyond the program's control and cannot be handled gracefully by application code.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Examples include OutOfMemoryError (when the Java Virtual Machine runs out of memory) or StackOverflowError (when the call stack overflows).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Errors generally lead to the abnormal termination of the program.</a:t>
            </a:r>
            <a:endParaRPr b="0" lang="en-GB" sz="1400" spc="-1" strike="noStrike">
              <a:solidFill>
                <a:srgbClr val="000000"/>
              </a:solidFill>
              <a:latin typeface="Arial"/>
            </a:endParaRPr>
          </a:p>
        </p:txBody>
      </p:sp>
      <p:sp>
        <p:nvSpPr>
          <p:cNvPr id="452" name="PlaceHolder 2"/>
          <p:cNvSpPr>
            <a:spLocks noGrp="1"/>
          </p:cNvSpPr>
          <p:nvPr>
            <p:ph type="sldNum" idx="5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E445CA5-EB11-4378-8441-24DE5F1660C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Error and Exceptions</a:t>
            </a:r>
            <a:endParaRPr b="0" lang="en-GB" sz="2400" spc="-1" strike="noStrike">
              <a:solidFill>
                <a:srgbClr val="000000"/>
              </a:solidFill>
              <a:latin typeface="Arial"/>
            </a:endParaRPr>
          </a:p>
        </p:txBody>
      </p:sp>
      <p:sp>
        <p:nvSpPr>
          <p:cNvPr id="454" name="Google Shape;130;p 38"/>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Exceptions</a:t>
            </a:r>
            <a:endParaRPr b="0" lang="en-GB" sz="1800" spc="-1" strike="noStrike">
              <a:solidFill>
                <a:srgbClr val="000000"/>
              </a:solidFill>
              <a:latin typeface="Arial"/>
            </a:endParaRPr>
          </a:p>
        </p:txBody>
      </p:sp>
      <p:sp>
        <p:nvSpPr>
          <p:cNvPr id="455" name="Google Shape;131;p 38"/>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Exceptions are less severe issues that occur during the normal flow of program execution due to exceptional conditions or unexpected events.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They represent situations that can often be anticipated and handled by the program using constructs like try-catch blocks.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Examples include FileNotFoundException (when a program tries to access a non-existent file), NullPointerException (when trying to access a member of a null object), or IOException (during input/output operations).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Exceptions allow for controlled recovery and enable the program to continue execution or gracefully exit, depending on the handling strategy.</a:t>
            </a:r>
            <a:endParaRPr b="0" lang="en-GB" sz="1400" spc="-1" strike="noStrike">
              <a:solidFill>
                <a:srgbClr val="000000"/>
              </a:solidFill>
              <a:latin typeface="Arial"/>
            </a:endParaRPr>
          </a:p>
        </p:txBody>
      </p:sp>
      <p:sp>
        <p:nvSpPr>
          <p:cNvPr id="456" name="PlaceHolder 2"/>
          <p:cNvSpPr>
            <a:spLocks noGrp="1"/>
          </p:cNvSpPr>
          <p:nvPr>
            <p:ph type="sldNum" idx="5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785379E-2912-4EAB-919F-11D441BDEAA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7"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Code Reusability</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Code Reusability</a:t>
            </a:r>
            <a:endParaRPr b="0" lang="en-GB" sz="2400" spc="-1" strike="noStrike">
              <a:solidFill>
                <a:srgbClr val="000000"/>
              </a:solidFill>
              <a:latin typeface="Arial"/>
            </a:endParaRPr>
          </a:p>
        </p:txBody>
      </p:sp>
      <p:sp>
        <p:nvSpPr>
          <p:cNvPr id="459" name="Google Shape;131;p 39"/>
          <p:cNvSpPr/>
          <p:nvPr/>
        </p:nvSpPr>
        <p:spPr>
          <a:xfrm>
            <a:off x="449640" y="900000"/>
            <a:ext cx="8216280" cy="3488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Code reusability refers to the practice of designing and writing software components, modules, or libraries in a way that allows them to be used in multiple contexts or projects with minimal or no modification. Key aspects and benefits of code reusability include: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Reduced Development Time and Cost.</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Improved Code Quality and Reliability.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Enhanced Maintainability.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Increased Consistency and Standardization.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Facilitates Modular Design.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Promotes Collaboration.</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Supports Scalability.</a:t>
            </a:r>
            <a:endParaRPr b="0" lang="en-GB" sz="1400" spc="-1" strike="noStrike">
              <a:solidFill>
                <a:srgbClr val="000000"/>
              </a:solidFill>
              <a:latin typeface="Arial"/>
            </a:endParaRPr>
          </a:p>
        </p:txBody>
      </p:sp>
      <p:sp>
        <p:nvSpPr>
          <p:cNvPr id="460" name="PlaceHolder 2"/>
          <p:cNvSpPr>
            <a:spLocks noGrp="1"/>
          </p:cNvSpPr>
          <p:nvPr>
            <p:ph type="sldNum" idx="5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C4CF109-561F-41F5-8150-7D15591FD70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1"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Thread Safe Coding </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Thread Safe Coding </a:t>
            </a:r>
            <a:endParaRPr b="0" lang="en-GB" sz="2400" spc="-1" strike="noStrike">
              <a:solidFill>
                <a:srgbClr val="000000"/>
              </a:solidFill>
              <a:latin typeface="Arial"/>
            </a:endParaRPr>
          </a:p>
        </p:txBody>
      </p:sp>
      <p:sp>
        <p:nvSpPr>
          <p:cNvPr id="463" name="Google Shape;131;p 40"/>
          <p:cNvSpPr/>
          <p:nvPr/>
        </p:nvSpPr>
        <p:spPr>
          <a:xfrm>
            <a:off x="449640" y="900000"/>
            <a:ext cx="8216280" cy="3488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Thread-safe coding ensures that a program behaves correctly even when multiple threads access and modify shared data concurrently. Key points for achieving thread safety include:</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Synchronization Mechanisms.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Immutable Objects.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Atomic Operations.</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Thread-Local Storage.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464" name="PlaceHolder 2"/>
          <p:cNvSpPr>
            <a:spLocks noGrp="1"/>
          </p:cNvSpPr>
          <p:nvPr>
            <p:ph type="sldNum" idx="5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AE71CB6-F5D6-497D-9774-BE5B29CE346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Code Coverage </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Code Coverage </a:t>
            </a:r>
            <a:endParaRPr b="0" lang="en-GB" sz="2400" spc="-1" strike="noStrike">
              <a:solidFill>
                <a:srgbClr val="000000"/>
              </a:solidFill>
              <a:latin typeface="Arial"/>
            </a:endParaRPr>
          </a:p>
        </p:txBody>
      </p:sp>
      <p:sp>
        <p:nvSpPr>
          <p:cNvPr id="467" name="Google Shape;131;p 41"/>
          <p:cNvSpPr/>
          <p:nvPr/>
        </p:nvSpPr>
        <p:spPr>
          <a:xfrm>
            <a:off x="449640" y="900000"/>
            <a:ext cx="8216280" cy="348876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Code coverage in software testing is a metric that indicates the extent to which the source code of a program is executed when a particular test suite runs.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It helps identify untested parts of the codebase, ensuring thorough testing and reducing the likelihood of bugs.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Higher code coverage generally suggests better testing and a lower risk of undetected issues.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p:txBody>
      </p:sp>
      <p:sp>
        <p:nvSpPr>
          <p:cNvPr id="468" name="PlaceHolder 2"/>
          <p:cNvSpPr>
            <a:spLocks noGrp="1"/>
          </p:cNvSpPr>
          <p:nvPr>
            <p:ph type="sldNum" idx="5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B6E558F-656A-44F4-AD06-3E9257AEC4B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469" name="" descr=""/>
          <p:cNvPicPr/>
          <p:nvPr/>
        </p:nvPicPr>
        <p:blipFill>
          <a:blip r:embed="rId1"/>
          <a:stretch/>
        </p:blipFill>
        <p:spPr>
          <a:xfrm>
            <a:off x="3500640" y="2534760"/>
            <a:ext cx="2142720" cy="2142720"/>
          </a:xfrm>
          <a:prstGeom prst="rect">
            <a:avLst/>
          </a:prstGeom>
          <a:ln w="0">
            <a:noFill/>
          </a:ln>
        </p:spPr>
      </p:pic>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Code Coverage </a:t>
            </a:r>
            <a:endParaRPr b="0" lang="en-GB" sz="2400" spc="-1" strike="noStrike">
              <a:solidFill>
                <a:srgbClr val="000000"/>
              </a:solidFill>
              <a:latin typeface="Arial"/>
            </a:endParaRPr>
          </a:p>
        </p:txBody>
      </p:sp>
      <p:sp>
        <p:nvSpPr>
          <p:cNvPr id="471" name="Google Shape;130;p 39"/>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Types of Code Coverage:</a:t>
            </a:r>
            <a:endParaRPr b="0" lang="en-GB" sz="1800" spc="-1" strike="noStrike">
              <a:solidFill>
                <a:srgbClr val="000000"/>
              </a:solidFill>
              <a:latin typeface="Arial"/>
            </a:endParaRPr>
          </a:p>
        </p:txBody>
      </p:sp>
      <p:sp>
        <p:nvSpPr>
          <p:cNvPr id="472" name="Google Shape;131;p 4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Line Coverage: Measures the percentage of executable lines of code that have been executed.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Function Coverage: Measures the percentage of functions that have been called at least once.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Branch Coverage/Decision Coverage: Measures the percentage of conditional branches (e.g., if statements) that have been executed with both true and false outcomes.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Statement Coverage: Measures the percentage of executable statements that have been executed.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Condition Coverage: Measures the percentage of boolean sub-expressions within conditional statements that have been evaluated to both true and false.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Path Coverage: Measures the percentage of possible execution paths through the code that have been executed. </a:t>
            </a:r>
            <a:endParaRPr b="0" lang="en-GB" sz="1400" spc="-1" strike="noStrike">
              <a:solidFill>
                <a:srgbClr val="000000"/>
              </a:solidFill>
              <a:latin typeface="Arial"/>
            </a:endParaRPr>
          </a:p>
        </p:txBody>
      </p:sp>
      <p:sp>
        <p:nvSpPr>
          <p:cNvPr id="473" name="PlaceHolder 2"/>
          <p:cNvSpPr>
            <a:spLocks noGrp="1"/>
          </p:cNvSpPr>
          <p:nvPr>
            <p:ph type="sldNum" idx="5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0F7E172-D971-47A0-9E6C-AF46420EA17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4"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 sz="4000" spc="-1" strike="noStrike">
                <a:solidFill>
                  <a:schemeClr val="accent1"/>
                </a:solidFill>
                <a:latin typeface="Calibri"/>
                <a:ea typeface="Calibri"/>
              </a:rPr>
              <a:t>Ncover and NCrunch</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NCover</a:t>
            </a:r>
            <a:endParaRPr b="0" lang="en-GB" sz="2400" spc="-1" strike="noStrike">
              <a:solidFill>
                <a:srgbClr val="000000"/>
              </a:solidFill>
              <a:latin typeface="Arial"/>
            </a:endParaRPr>
          </a:p>
        </p:txBody>
      </p:sp>
      <p:sp>
        <p:nvSpPr>
          <p:cNvPr id="476" name="Google Shape;131;p 43"/>
          <p:cNvSpPr/>
          <p:nvPr/>
        </p:nvSpPr>
        <p:spPr>
          <a:xfrm>
            <a:off x="449640" y="900000"/>
            <a:ext cx="8216280" cy="348876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NCover is a .NET code coverage tool that analyzes your application's code to identify which parts have been tested and which have been missed.</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It provides detailed metrics like sequence point, branch, and method coverage to help developers improve testing and code quality.</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By visualizing coverage data, NCover helps pinpoint areas needing more testing, ultimately leading to more robust and reliable applications. </a:t>
            </a:r>
            <a:endParaRPr b="0" lang="en-GB" sz="1400" spc="-1" strike="noStrike">
              <a:solidFill>
                <a:srgbClr val="000000"/>
              </a:solidFill>
              <a:latin typeface="Arial"/>
            </a:endParaRPr>
          </a:p>
        </p:txBody>
      </p:sp>
      <p:sp>
        <p:nvSpPr>
          <p:cNvPr id="477" name="PlaceHolder 2"/>
          <p:cNvSpPr>
            <a:spLocks noGrp="1"/>
          </p:cNvSpPr>
          <p:nvPr>
            <p:ph type="sldNum" idx="5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016D146-EEEA-48EA-8CE1-0EBB98C2AB3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478" name="" descr=""/>
          <p:cNvPicPr/>
          <p:nvPr/>
        </p:nvPicPr>
        <p:blipFill>
          <a:blip r:embed="rId1"/>
          <a:stretch/>
        </p:blipFill>
        <p:spPr>
          <a:xfrm>
            <a:off x="2577600" y="2747880"/>
            <a:ext cx="3989160" cy="1450440"/>
          </a:xfrm>
          <a:prstGeom prst="rect">
            <a:avLst/>
          </a:prstGeom>
          <a:ln w="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NCrunch</a:t>
            </a:r>
            <a:endParaRPr b="0" lang="en-GB" sz="2400" spc="-1" strike="noStrike">
              <a:solidFill>
                <a:srgbClr val="000000"/>
              </a:solidFill>
              <a:latin typeface="Arial"/>
            </a:endParaRPr>
          </a:p>
        </p:txBody>
      </p:sp>
      <p:sp>
        <p:nvSpPr>
          <p:cNvPr id="480" name="Google Shape;131;p 44"/>
          <p:cNvSpPr/>
          <p:nvPr/>
        </p:nvSpPr>
        <p:spPr>
          <a:xfrm>
            <a:off x="449640" y="900000"/>
            <a:ext cx="8216280" cy="348876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NCrunch is a continuous testing tool for .NET developers that integrates with Visual Studio.</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It provides automatic, parallel test execution, code coverage analysis, and runtime data inspection, improving developer productivity and code quality. </a:t>
            </a: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endParaRPr b="0" lang="en-GB" sz="1400" spc="-1" strike="noStrike">
              <a:solidFill>
                <a:srgbClr val="000000"/>
              </a:solidFill>
              <a:latin typeface="Arial"/>
            </a:endParaRPr>
          </a:p>
          <a:p>
            <a:pPr marL="216000" indent="-216000">
              <a:lnSpc>
                <a:spcPct val="100000"/>
              </a:lnSpc>
              <a:buClr>
                <a:srgbClr val="000000"/>
              </a:buClr>
              <a:buSzPct val="60000"/>
              <a:buFont typeface="OpenSymbol"/>
              <a:buChar char="✓"/>
            </a:pPr>
            <a:r>
              <a:rPr b="0" lang="en-US" sz="1400" spc="-1" strike="noStrike">
                <a:solidFill>
                  <a:schemeClr val="dk1"/>
                </a:solidFill>
                <a:highlight>
                  <a:srgbClr val="ffffff"/>
                </a:highlight>
                <a:latin typeface="Calibri"/>
                <a:ea typeface="Arial"/>
              </a:rPr>
              <a:t>NCrunch is a commercial product with a focus on providing a seamless and efficient testing experience within the development workflow. </a:t>
            </a:r>
            <a:endParaRPr b="0" lang="en-GB" sz="1400" spc="-1" strike="noStrike">
              <a:solidFill>
                <a:srgbClr val="000000"/>
              </a:solidFill>
              <a:latin typeface="Arial"/>
            </a:endParaRPr>
          </a:p>
        </p:txBody>
      </p:sp>
      <p:sp>
        <p:nvSpPr>
          <p:cNvPr id="481" name="PlaceHolder 2"/>
          <p:cNvSpPr>
            <a:spLocks noGrp="1"/>
          </p:cNvSpPr>
          <p:nvPr>
            <p:ph type="sldNum" idx="6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E7E622D-F29A-4BD2-AECD-DC6D6C3FCE8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482" name="" descr=""/>
          <p:cNvPicPr/>
          <p:nvPr/>
        </p:nvPicPr>
        <p:blipFill>
          <a:blip r:embed="rId1"/>
          <a:srcRect l="27140" t="11377" r="29549" b="22124"/>
          <a:stretch/>
        </p:blipFill>
        <p:spPr>
          <a:xfrm>
            <a:off x="3402000" y="2520000"/>
            <a:ext cx="2340000" cy="2021040"/>
          </a:xfrm>
          <a:prstGeom prst="rect">
            <a:avLst/>
          </a:prstGeom>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ubTitle"/>
          </p:nvPr>
        </p:nvSpPr>
        <p:spPr>
          <a:xfrm>
            <a:off x="2165400" y="2305440"/>
            <a:ext cx="5270760" cy="31968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113</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2025-07-31T11:35:27Z</dcterms:created>
  <dc:creator/>
  <dc:description/>
  <dc:language>en-GB</dc:language>
  <cp:lastModifiedBy/>
  <dcterms:modified xsi:type="dcterms:W3CDTF">2025-07-31T13:29:07Z</dcterms:modified>
  <cp:revision>59</cp:revision>
  <dc:subject/>
  <dc:title>Relevantz</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