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21.xml" ContentType="application/vnd.openxmlformats-officedocument.presentationml.slide+xml"/>
  <Override PartName="/ppt/slides/slide4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24.xml" ContentType="application/vnd.openxmlformats-officedocument.presentationml.slide+xml"/>
  <Override PartName="/ppt/slides/slide8.xml" ContentType="application/vnd.openxmlformats-officedocument.presentationml.slide+xml"/>
  <Override PartName="/ppt/slides/slide25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_rels/slide1.xml.rels" ContentType="application/vnd.openxmlformats-package.relationships+xml"/>
  <Override PartName="/ppt/slides/_rels/slide22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23.xml.rels" ContentType="application/vnd.openxmlformats-package.relationships+xml"/>
  <Override PartName="/ppt/slides/_rels/slide6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_rels/slide25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19.xml.rels" ContentType="application/vnd.openxmlformats-package.relationships+xml"/>
  <Override PartName="/ppt/presProps.xml" ContentType="application/vnd.openxmlformats-officedocument.presentationml.presProps+xml"/>
  <Override PartName="/ppt/media/image1.png" ContentType="image/png"/>
  <Override PartName="/ppt/media/image7.jpeg" ContentType="image/jpeg"/>
  <Override PartName="/ppt/media/image2.jpeg" ContentType="image/jpeg"/>
  <Override PartName="/ppt/media/image8.png" ContentType="image/png"/>
  <Override PartName="/ppt/media/image3.png" ContentType="image/png"/>
  <Override PartName="/ppt/media/image4.jpeg" ContentType="image/jpeg"/>
  <Override PartName="/ppt/media/image11.png" ContentType="image/png"/>
  <Override PartName="/ppt/media/image5.jpeg" ContentType="image/jpeg"/>
  <Override PartName="/ppt/media/image6.jpeg" ContentType="image/jpeg"/>
  <Override PartName="/ppt/media/image9.jpeg" ContentType="image/jpeg"/>
  <Override PartName="/ppt/media/image10.jpeg" ContentType="image/jpeg"/>
  <Override PartName="/ppt/media/image12.jpeg" ContentType="image/jpeg"/>
  <Override PartName="/ppt/media/image13.jpeg" ContentType="image/jpeg"/>
  <Override PartName="/ppt/media/image14.png" ContentType="image/png"/>
  <Override PartName="/ppt/media/image15.png" ContentType="image/png"/>
  <Override PartName="/ppt/media/image16.jpeg" ContentType="image/jpeg"/>
  <Override PartName="/ppt/media/image17.png" ContentType="image/png"/>
  <Override PartName="/ppt/media/image18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4ED242-3031-436C-B9FE-728ADDF4A2E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GB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GB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GB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969980F9-7C02-4B7F-B9A6-B6E54DBB4B17}" type="slidenum"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jpe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jpe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9.jpe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2.jpe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6.jpe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hyperlink" Target="https://www.geeksforgeeks.org/software-development-life-cycle-sdlc/" TargetMode="External"/><Relationship Id="rId2" Type="http://schemas.openxmlformats.org/officeDocument/2006/relationships/hyperlink" Target="https://www.geeksforgeeks.org/iterative-incremental-model-in-designing-system/?ref=header_ind" TargetMode="External"/><Relationship Id="rId3" Type="http://schemas.openxmlformats.org/officeDocument/2006/relationships/hyperlink" Target="https://www.geeksforgeeks.org/software-engineering-agile-development-models/?ref=header_ind" TargetMode="External"/><Relationship Id="rId4" Type="http://schemas.openxmlformats.org/officeDocument/2006/relationships/hyperlink" Target="https://www.geeksforgeeks.org/software-engineering-rapid-application-development-model-rad/" TargetMode="External"/><Relationship Id="rId5" Type="http://schemas.openxmlformats.org/officeDocument/2006/relationships/hyperlink" Target="https://www.geeksforgeeks.org/overview-of-big-bang-model/" TargetMode="External"/><Relationship Id="rId6" Type="http://schemas.openxmlformats.org/officeDocument/2006/relationships/hyperlink" Target="https://www.geeksforgeeks.org/software-engineering-spiral-model/" TargetMode="External"/><Relationship Id="rId7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SDLC: Software Development Life Cycle.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260000" y="1512000"/>
            <a:ext cx="130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Agenda: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2655000" y="2174400"/>
            <a:ext cx="7065000" cy="13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What is SDLC?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What are the phases of SDLC?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What are the different models in SDLC?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SDLC: An Overview.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" descr=""/>
          <p:cNvPicPr/>
          <p:nvPr/>
        </p:nvPicPr>
        <p:blipFill>
          <a:blip r:embed="rId1"/>
          <a:stretch/>
        </p:blipFill>
        <p:spPr>
          <a:xfrm>
            <a:off x="4339440" y="1413720"/>
            <a:ext cx="7180560" cy="3266280"/>
          </a:xfrm>
          <a:prstGeom prst="rect">
            <a:avLst/>
          </a:prstGeom>
          <a:ln w="0">
            <a:noFill/>
          </a:ln>
        </p:spPr>
      </p:pic>
      <p:sp>
        <p:nvSpPr>
          <p:cNvPr id="24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SDLC – An Overview: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1215000" y="1440000"/>
            <a:ext cx="4725000" cy="37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Software development life cycle (SDLC) is a structured process that is used to design, develop, and test good-quality software.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SDLC consists of a precise plan that describes how to develop, maintain, replace, and enhance specific software.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life cycle defines a method for improving the quality of software and the all-around development process.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Phases of SDLC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Phases of SDLC: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4257360" y="1719360"/>
            <a:ext cx="5822640" cy="2910960"/>
          </a:xfrm>
          <a:prstGeom prst="rect">
            <a:avLst/>
          </a:prstGeom>
          <a:ln w="0">
            <a:noFill/>
          </a:ln>
        </p:spPr>
      </p:pic>
      <p:sp>
        <p:nvSpPr>
          <p:cNvPr id="45" name=""/>
          <p:cNvSpPr txBox="1"/>
          <p:nvPr/>
        </p:nvSpPr>
        <p:spPr>
          <a:xfrm>
            <a:off x="1215000" y="1440000"/>
            <a:ext cx="4725000" cy="37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most rudimentary steps of a software lifecycle process consists of: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Requirement Analysis.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Defining.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Designing.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Coding.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Testing.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Deployment.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Maintenance.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Phases of SDLC: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1215000" y="1230840"/>
            <a:ext cx="5265000" cy="3740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Requirement Analysis: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Planning is a crucial step in everything, just as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in software development.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Senior members of the team perform it with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inputs from all stakeholders and domain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experts or SMEs in the industry.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Includes the approximate cost and time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estimated for final delivery, currency of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exchange, how the project will be developed etc.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4" name="" descr=""/>
          <p:cNvPicPr/>
          <p:nvPr/>
        </p:nvPicPr>
        <p:blipFill>
          <a:blip r:embed="rId1"/>
          <a:stretch/>
        </p:blipFill>
        <p:spPr>
          <a:xfrm>
            <a:off x="6519960" y="1809000"/>
            <a:ext cx="3272040" cy="2988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Phases of SDLC: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215000" y="1626840"/>
            <a:ext cx="5265000" cy="344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Defining The Requirements: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Includes documentations of the requirements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and needs approvals of all the stakeholders.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This is done via SRS - 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Software Requirement 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1800" spc="-1" strike="noStrike">
                <a:solidFill>
                  <a:srgbClr val="000000"/>
                </a:solidFill>
                <a:latin typeface="MS PGothic"/>
              </a:rPr>
              <a:t>Specification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 document which contains all the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project requirements to be constructed and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developed during the project life cycle.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" descr=""/>
          <p:cNvPicPr/>
          <p:nvPr/>
        </p:nvPicPr>
        <p:blipFill>
          <a:blip r:embed="rId1"/>
          <a:stretch/>
        </p:blipFill>
        <p:spPr>
          <a:xfrm>
            <a:off x="6862320" y="1712160"/>
            <a:ext cx="2749680" cy="274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Phases of SDLC: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" descr=""/>
          <p:cNvPicPr/>
          <p:nvPr/>
        </p:nvPicPr>
        <p:blipFill>
          <a:blip r:embed="rId1"/>
          <a:stretch/>
        </p:blipFill>
        <p:spPr>
          <a:xfrm>
            <a:off x="6066000" y="1726920"/>
            <a:ext cx="3870000" cy="3224520"/>
          </a:xfrm>
          <a:prstGeom prst="rect">
            <a:avLst/>
          </a:prstGeom>
          <a:ln w="0">
            <a:noFill/>
          </a:ln>
        </p:spPr>
      </p:pic>
      <p:sp>
        <p:nvSpPr>
          <p:cNvPr id="72" name=""/>
          <p:cNvSpPr txBox="1"/>
          <p:nvPr/>
        </p:nvSpPr>
        <p:spPr>
          <a:xfrm>
            <a:off x="1215000" y="1626840"/>
            <a:ext cx="5265000" cy="344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Designing The Software: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SRS is a reference for software designers to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come up with the best architecture for the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software.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Multiple designs for the product architecture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are present in the Design Document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Specification (DDS).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After evaluating all the possible factors, the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most practical and logical design is chosen for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development.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Phases of SDLC: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0" name="" descr=""/>
          <p:cNvPicPr/>
          <p:nvPr/>
        </p:nvPicPr>
        <p:blipFill>
          <a:blip r:embed="rId1"/>
          <a:stretch/>
        </p:blipFill>
        <p:spPr>
          <a:xfrm>
            <a:off x="6486840" y="1722600"/>
            <a:ext cx="3161160" cy="3161160"/>
          </a:xfrm>
          <a:prstGeom prst="rect">
            <a:avLst/>
          </a:prstGeom>
          <a:ln w="0">
            <a:noFill/>
          </a:ln>
        </p:spPr>
      </p:pic>
      <p:sp>
        <p:nvSpPr>
          <p:cNvPr id="81" name=""/>
          <p:cNvSpPr txBox="1"/>
          <p:nvPr/>
        </p:nvSpPr>
        <p:spPr>
          <a:xfrm>
            <a:off x="1215000" y="1626840"/>
            <a:ext cx="5265000" cy="344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Developing The Project: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Developers use a specific programming code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as per the design in the DDS. Hence, it is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important for the coders to follow the protocols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set by the association.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Conventional programming tools like compilers,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interpreters, debuggers, etc. are also put into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use at this stage.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Phases of SDLC: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1215000" y="1626840"/>
            <a:ext cx="5265000" cy="344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Testing The Software: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Testing of the software is necessary to ensure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its smooth execution and to check for code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quality.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At this stage, all the probable flaws are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tracked, fixed, and retested. This ensures that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product confronts the quality requirements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of SRS.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0" name="" descr=""/>
          <p:cNvPicPr/>
          <p:nvPr/>
        </p:nvPicPr>
        <p:blipFill>
          <a:blip r:embed="rId1"/>
          <a:stretch/>
        </p:blipFill>
        <p:spPr>
          <a:xfrm>
            <a:off x="6238800" y="1558800"/>
            <a:ext cx="3481200" cy="34812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Phases of SDLC: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6192000" y="1621080"/>
            <a:ext cx="3561840" cy="3436200"/>
          </a:xfrm>
          <a:prstGeom prst="rect">
            <a:avLst/>
          </a:prstGeom>
          <a:ln w="0">
            <a:noFill/>
          </a:ln>
        </p:spPr>
      </p:pic>
      <p:sp>
        <p:nvSpPr>
          <p:cNvPr id="99" name=""/>
          <p:cNvSpPr txBox="1"/>
          <p:nvPr/>
        </p:nvSpPr>
        <p:spPr>
          <a:xfrm>
            <a:off x="1215000" y="1626840"/>
            <a:ext cx="5265000" cy="344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Deployment of The Software: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conclusive product is released in phases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as per the organization’s strategy.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Then it is tested in a real industrial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environment.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GB" sz="1000" spc="-1" strike="noStrike">
                <a:solidFill>
                  <a:srgbClr val="000000"/>
                </a:solidFill>
                <a:latin typeface="MS PGothic"/>
                <a:ea typeface="Microsoft YaHei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After retrieving beneficial feedback, the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company releases it as it is or with auxiliary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improvements to make it further helpful for the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clients.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"/>
          <p:cNvSpPr txBox="1"/>
          <p:nvPr/>
        </p:nvSpPr>
        <p:spPr>
          <a:xfrm>
            <a:off x="1080000" y="396000"/>
            <a:ext cx="270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Phases of SDLC: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7" name="" descr=""/>
          <p:cNvPicPr/>
          <p:nvPr/>
        </p:nvPicPr>
        <p:blipFill>
          <a:blip r:embed="rId1"/>
          <a:stretch/>
        </p:blipFill>
        <p:spPr>
          <a:xfrm>
            <a:off x="6031080" y="1955880"/>
            <a:ext cx="3688920" cy="2766600"/>
          </a:xfrm>
          <a:prstGeom prst="rect">
            <a:avLst/>
          </a:prstGeom>
          <a:ln w="0">
            <a:noFill/>
          </a:ln>
        </p:spPr>
      </p:pic>
      <p:sp>
        <p:nvSpPr>
          <p:cNvPr id="108" name=""/>
          <p:cNvSpPr txBox="1"/>
          <p:nvPr/>
        </p:nvSpPr>
        <p:spPr>
          <a:xfrm>
            <a:off x="1215000" y="1626840"/>
            <a:ext cx="5265000" cy="3449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Maintenance of The Software: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Essential component that ensures continued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software functionality, handles vital repairs and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updates, and ensures that the software remains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relevant and usable.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GB" sz="1000" spc="-1" strike="noStrike">
                <a:solidFill>
                  <a:srgbClr val="000000"/>
                </a:solidFill>
                <a:latin typeface="MS PGothic"/>
                <a:ea typeface="Microsoft YaHei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Maintenance phase ensures that our software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doesn't just reach completion, but it continues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to function effectively and evolve according to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user needs and technological advancements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over time.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2115000" y="2624400"/>
            <a:ext cx="5985000" cy="421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Various Models in SDLC.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Various Models in SDLC: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1215000" y="1626840"/>
            <a:ext cx="5265000" cy="3965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most prominently used models of SDLC are listed below: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Waterfall Model.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RAD Model.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Spiral Model.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V-Model.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Incremental Model.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Agile Model.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Iterative Model.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Big-Bang Model.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2" name="" descr=""/>
          <p:cNvPicPr/>
          <p:nvPr/>
        </p:nvPicPr>
        <p:blipFill>
          <a:blip r:embed="rId1"/>
          <a:stretch/>
        </p:blipFill>
        <p:spPr>
          <a:xfrm>
            <a:off x="5689080" y="1260000"/>
            <a:ext cx="4030920" cy="4030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Waterfall Model: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0" name="" descr=""/>
          <p:cNvPicPr/>
          <p:nvPr/>
        </p:nvPicPr>
        <p:blipFill>
          <a:blip r:embed="rId1"/>
          <a:stretch/>
        </p:blipFill>
        <p:spPr>
          <a:xfrm>
            <a:off x="5760000" y="1620000"/>
            <a:ext cx="4217760" cy="3243240"/>
          </a:xfrm>
          <a:prstGeom prst="rect">
            <a:avLst/>
          </a:prstGeom>
          <a:ln w="0">
            <a:noFill/>
          </a:ln>
        </p:spPr>
      </p:pic>
      <p:sp>
        <p:nvSpPr>
          <p:cNvPr id="131" name=""/>
          <p:cNvSpPr txBox="1"/>
          <p:nvPr/>
        </p:nvSpPr>
        <p:spPr>
          <a:xfrm>
            <a:off x="1215000" y="1855800"/>
            <a:ext cx="4905000" cy="267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It is the fundamental model of the software development life cycle. This is a very simple model.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Because of its simple structure, the waterfall model is easier to use and provides a tangible output.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Once a phase seems to be completed, it cannot be changed, and due to this less flexible nature, the waterfall model is not recommended for large scale projects.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RAD Model: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39" name="" descr=""/>
          <p:cNvPicPr/>
          <p:nvPr/>
        </p:nvPicPr>
        <p:blipFill>
          <a:blip r:embed="rId1"/>
          <a:stretch/>
        </p:blipFill>
        <p:spPr>
          <a:xfrm>
            <a:off x="5626080" y="2053440"/>
            <a:ext cx="4186080" cy="2283120"/>
          </a:xfrm>
          <a:prstGeom prst="rect">
            <a:avLst/>
          </a:prstGeom>
          <a:ln w="0">
            <a:noFill/>
          </a:ln>
        </p:spPr>
      </p:pic>
      <p:sp>
        <p:nvSpPr>
          <p:cNvPr id="140" name=""/>
          <p:cNvSpPr txBox="1"/>
          <p:nvPr/>
        </p:nvSpPr>
        <p:spPr>
          <a:xfrm>
            <a:off x="1215000" y="1495800"/>
            <a:ext cx="4411080" cy="3364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Rapid Application Development model is a type of software development methodology that emphasizes quick and iterative release cycles.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RAD is designed to be more flexible and responsive to user feedback and changing requirements throughout the development process.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 software project can be implemented using this model if the project can be broken down into small modules wherein each module can be assigned independently to separate teams.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Spiral Model: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8" name="" descr=""/>
          <p:cNvPicPr/>
          <p:nvPr/>
        </p:nvPicPr>
        <p:blipFill>
          <a:blip r:embed="rId1"/>
          <a:srcRect l="13149" t="0" r="0" b="0"/>
          <a:stretch/>
        </p:blipFill>
        <p:spPr>
          <a:xfrm>
            <a:off x="5940000" y="1767240"/>
            <a:ext cx="3780000" cy="2855520"/>
          </a:xfrm>
          <a:prstGeom prst="rect">
            <a:avLst/>
          </a:prstGeom>
          <a:ln w="0">
            <a:noFill/>
          </a:ln>
        </p:spPr>
      </p:pic>
      <p:sp>
        <p:nvSpPr>
          <p:cNvPr id="149" name=""/>
          <p:cNvSpPr txBox="1"/>
          <p:nvPr/>
        </p:nvSpPr>
        <p:spPr>
          <a:xfrm>
            <a:off x="1215000" y="2053080"/>
            <a:ext cx="4905000" cy="2284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spiral model in SDLC is one of the most crucial SDLC models that provides support for risk handling.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It has various spirals in its diagrammatic representation; the number of spirals depends upon the type of project.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Each loop in the spiral structure indicates the Phases of the Spiral model.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V-Model: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7" name="" descr=""/>
          <p:cNvPicPr/>
          <p:nvPr/>
        </p:nvPicPr>
        <p:blipFill>
          <a:blip r:embed="rId1"/>
          <a:stretch/>
        </p:blipFill>
        <p:spPr>
          <a:xfrm>
            <a:off x="5040000" y="1503000"/>
            <a:ext cx="4320000" cy="3456000"/>
          </a:xfrm>
          <a:prstGeom prst="rect">
            <a:avLst/>
          </a:prstGeom>
          <a:ln w="0">
            <a:noFill/>
          </a:ln>
        </p:spPr>
      </p:pic>
      <p:sp>
        <p:nvSpPr>
          <p:cNvPr id="158" name=""/>
          <p:cNvSpPr txBox="1"/>
          <p:nvPr/>
        </p:nvSpPr>
        <p:spPr>
          <a:xfrm>
            <a:off x="1215000" y="2241720"/>
            <a:ext cx="3645000" cy="199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V-shaped model in SDLC is executed in a sequential manner in V-shape.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Each stage or phase of this model is integrated with a testing phase.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It is also known as the verification or validation model.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Incremental Model: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"/>
          <p:cNvSpPr txBox="1"/>
          <p:nvPr/>
        </p:nvSpPr>
        <p:spPr>
          <a:xfrm>
            <a:off x="1215000" y="1735200"/>
            <a:ext cx="3825000" cy="3135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Incremental Process Model is also known as the Successive version model.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First, a simple working system implementing only a few basic features is built and then that is delivered to the customer.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Then thereafter many successive iterations/ versions are implemented and delivered to the customer until the desired system is released.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7" name="" descr=""/>
          <p:cNvPicPr/>
          <p:nvPr/>
        </p:nvPicPr>
        <p:blipFill>
          <a:blip r:embed="rId1"/>
          <a:srcRect l="0" t="17176" r="0" b="16099"/>
          <a:stretch/>
        </p:blipFill>
        <p:spPr>
          <a:xfrm>
            <a:off x="4699440" y="1822680"/>
            <a:ext cx="4975920" cy="27450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Agile Model: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5" name="" descr=""/>
          <p:cNvPicPr/>
          <p:nvPr/>
        </p:nvPicPr>
        <p:blipFill>
          <a:blip r:embed="rId1"/>
          <a:srcRect l="18113" t="0" r="20471" b="0"/>
          <a:stretch/>
        </p:blipFill>
        <p:spPr>
          <a:xfrm>
            <a:off x="5652000" y="1611000"/>
            <a:ext cx="3779640" cy="3168000"/>
          </a:xfrm>
          <a:prstGeom prst="rect">
            <a:avLst/>
          </a:prstGeom>
          <a:ln w="0">
            <a:noFill/>
          </a:ln>
        </p:spPr>
      </p:pic>
      <p:sp>
        <p:nvSpPr>
          <p:cNvPr id="176" name=""/>
          <p:cNvSpPr txBox="1"/>
          <p:nvPr/>
        </p:nvSpPr>
        <p:spPr>
          <a:xfrm>
            <a:off x="1215000" y="1969920"/>
            <a:ext cx="4365000" cy="245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Agile Model was primarily designed to help a project adapt quickly to change requests.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Agility is achieved by fitting the process to the project and removing activities that may not be essential for a specific project.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Provides constant support till the fulfilment of the client requirement.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Iterative Model: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4" name="" descr=""/>
          <p:cNvPicPr/>
          <p:nvPr/>
        </p:nvPicPr>
        <p:blipFill>
          <a:blip r:embed="rId1"/>
          <a:stretch/>
        </p:blipFill>
        <p:spPr>
          <a:xfrm>
            <a:off x="5348520" y="1618200"/>
            <a:ext cx="4515480" cy="3369960"/>
          </a:xfrm>
          <a:prstGeom prst="rect">
            <a:avLst/>
          </a:prstGeom>
          <a:ln w="0">
            <a:noFill/>
          </a:ln>
        </p:spPr>
      </p:pic>
      <p:sp>
        <p:nvSpPr>
          <p:cNvPr id="185" name=""/>
          <p:cNvSpPr txBox="1"/>
          <p:nvPr/>
        </p:nvSpPr>
        <p:spPr>
          <a:xfrm>
            <a:off x="1215000" y="1741320"/>
            <a:ext cx="4005000" cy="29073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Iterative development involves repeating the development cycle multiple times, with each iteration adding new features or refining existing ones.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Each iteration builds upon the previous one, incorporating feedback and changes to improve the software.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This approach allows for flexibility and adaptability, as requirements can evolve over time.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1080000" y="396000"/>
            <a:ext cx="2880000" cy="344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Big - Bang Model: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"/>
          <p:cNvSpPr/>
          <p:nvPr/>
        </p:nvSpPr>
        <p:spPr>
          <a:xfrm>
            <a:off x="900000" y="1044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"/>
          <p:cNvSpPr/>
          <p:nvPr/>
        </p:nvSpPr>
        <p:spPr>
          <a:xfrm>
            <a:off x="900000" y="972000"/>
            <a:ext cx="9180000" cy="0"/>
          </a:xfrm>
          <a:prstGeom prst="line">
            <a:avLst/>
          </a:prstGeom>
          <a:ln cap="rnd" w="36000">
            <a:solidFill>
              <a:srgbClr val="8c769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08000" rIns="108000" tIns="-63000" bIns="-63000" anchor="ctr">
            <a:noAutofit/>
          </a:bodyPr>
          <a:p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3" name="" descr=""/>
          <p:cNvPicPr/>
          <p:nvPr/>
        </p:nvPicPr>
        <p:blipFill>
          <a:blip r:embed="rId1"/>
          <a:stretch/>
        </p:blipFill>
        <p:spPr>
          <a:xfrm>
            <a:off x="4971960" y="2520000"/>
            <a:ext cx="4966920" cy="1305000"/>
          </a:xfrm>
          <a:prstGeom prst="rect">
            <a:avLst/>
          </a:prstGeom>
          <a:ln w="0">
            <a:noFill/>
          </a:ln>
        </p:spPr>
      </p:pic>
      <p:sp>
        <p:nvSpPr>
          <p:cNvPr id="194" name=""/>
          <p:cNvSpPr txBox="1"/>
          <p:nvPr/>
        </p:nvSpPr>
        <p:spPr>
          <a:xfrm>
            <a:off x="1215000" y="1855800"/>
            <a:ext cx="4005000" cy="2678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Big bang model is an SDLC model that starts from nothing. It is the simplest model in SDLC as it requires almost no planning.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This SDLC model combines time, efforts, and resources to build a product. 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The product is gradually built as the requirements from the customer come.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1260000" y="1512000"/>
            <a:ext cx="1980000" cy="46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References: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"/>
          <p:cNvSpPr txBox="1"/>
          <p:nvPr/>
        </p:nvSpPr>
        <p:spPr>
          <a:xfrm>
            <a:off x="2655000" y="2174400"/>
            <a:ext cx="7065000" cy="2373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1" lang="en-GB" sz="2000" spc="-1" strike="noStrike">
                <a:solidFill>
                  <a:srgbClr val="000000"/>
                </a:solidFill>
                <a:latin typeface="MS PGothic"/>
                <a:hlinkClick r:id="rId1"/>
              </a:rPr>
              <a:t>Software Development Life Cycle (SDLC)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1" lang="en-GB" sz="2000" spc="-1" strike="noStrike">
                <a:solidFill>
                  <a:srgbClr val="000000"/>
                </a:solidFill>
                <a:latin typeface="MS PGothic"/>
                <a:hlinkClick r:id="rId2"/>
              </a:rPr>
              <a:t>Iterative Incremental Model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1" lang="en-GB" sz="2000" spc="-1" strike="noStrike">
                <a:solidFill>
                  <a:srgbClr val="000000"/>
                </a:solidFill>
                <a:latin typeface="MS PGothic"/>
                <a:hlinkClick r:id="rId3"/>
              </a:rPr>
              <a:t>Agile Development Models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1" lang="en-GB" sz="2000" spc="-1" strike="noStrike">
                <a:solidFill>
                  <a:srgbClr val="000000"/>
                </a:solidFill>
                <a:latin typeface="MS PGothic"/>
                <a:hlinkClick r:id="rId4"/>
              </a:rPr>
              <a:t>Rapid Application Development Model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1" lang="en-GB" sz="2000" spc="-1" strike="noStrike">
                <a:solidFill>
                  <a:srgbClr val="000000"/>
                </a:solidFill>
                <a:latin typeface="MS PGothic"/>
                <a:hlinkClick r:id="rId5"/>
              </a:rPr>
              <a:t>Overview of Big Bang Model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  <a:p>
            <a:r>
              <a:rPr b="1" lang="en-GB" sz="2000" spc="-1" strike="noStrike">
                <a:solidFill>
                  <a:srgbClr val="000000"/>
                </a:solidFill>
                <a:latin typeface="MS PGothic"/>
              </a:rPr>
              <a:t>• </a:t>
            </a:r>
            <a:r>
              <a:rPr b="1" lang="en-GB" sz="2000" spc="-1" strike="noStrike">
                <a:solidFill>
                  <a:srgbClr val="000000"/>
                </a:solidFill>
                <a:latin typeface="MS PGothic"/>
                <a:hlinkClick r:id="rId6"/>
              </a:rPr>
              <a:t>Spiral Model</a:t>
            </a:r>
            <a:endParaRPr b="0" lang="en-GB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"/>
          <p:cNvSpPr/>
          <p:nvPr/>
        </p:nvSpPr>
        <p:spPr>
          <a:xfrm>
            <a:off x="540000" y="0"/>
            <a:ext cx="360000" cy="5670000"/>
          </a:xfrm>
          <a:prstGeom prst="rect">
            <a:avLst/>
          </a:prstGeom>
          <a:solidFill>
            <a:srgbClr val="8c76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"/>
          <p:cNvSpPr/>
          <p:nvPr/>
        </p:nvSpPr>
        <p:spPr>
          <a:xfrm>
            <a:off x="360000" y="0"/>
            <a:ext cx="360000" cy="5670000"/>
          </a:xfrm>
          <a:prstGeom prst="rect">
            <a:avLst/>
          </a:prstGeom>
          <a:solidFill>
            <a:srgbClr val="7c4f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"/>
          <p:cNvSpPr/>
          <p:nvPr/>
        </p:nvSpPr>
        <p:spPr>
          <a:xfrm>
            <a:off x="180000" y="0"/>
            <a:ext cx="360000" cy="5670000"/>
          </a:xfrm>
          <a:prstGeom prst="rect">
            <a:avLst/>
          </a:prstGeom>
          <a:solidFill>
            <a:srgbClr val="6b27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 baseline="-8000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"/>
          <p:cNvSpPr/>
          <p:nvPr/>
        </p:nvSpPr>
        <p:spPr>
          <a:xfrm>
            <a:off x="0" y="0"/>
            <a:ext cx="360000" cy="5670000"/>
          </a:xfrm>
          <a:prstGeom prst="rect">
            <a:avLst/>
          </a:prstGeom>
          <a:solidFill>
            <a:srgbClr val="5a009d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2115000" y="2293920"/>
            <a:ext cx="5985000" cy="752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Thank You!</a:t>
            </a:r>
            <a:endParaRPr b="0" lang="en-GB" sz="2600" spc="-1" strike="noStrike">
              <a:solidFill>
                <a:srgbClr val="000000"/>
              </a:solidFill>
              <a:latin typeface="Arial"/>
            </a:endParaRPr>
          </a:p>
          <a:p>
            <a:pPr algn="ctr"/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1" lang="en-GB" sz="2600" spc="-1" strike="noStrike">
                <a:solidFill>
                  <a:srgbClr val="000000"/>
                </a:solidFill>
                <a:latin typeface="MS PGothic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MS PGothic"/>
              </a:rPr>
              <a:t>- Nisanth Saravanan.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84</TotalTime>
  <Application>LibreOffice/24.2.7.2$Windows_X86_64 LibreOffice_project/ee3885777aa7032db5a9b65deec9457448a91162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2025-03-06T14:11:15Z</dcterms:created>
  <dc:creator/>
  <dc:description/>
  <dc:language>en-GB</dc:language>
  <cp:lastModifiedBy/>
  <dcterms:modified xsi:type="dcterms:W3CDTF">2025-03-06T16:09:25Z</dcterms:modified>
  <cp:revision>33</cp:revision>
  <dc:subject/>
  <dc:title/>
</cp:coreProperties>
</file>