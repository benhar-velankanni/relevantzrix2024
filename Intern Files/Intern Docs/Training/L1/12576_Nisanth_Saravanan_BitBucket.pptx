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_rels/slideLayout1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11.xml.rels" ContentType="application/vnd.openxmlformats-package.relationships+xml"/>
  <Override PartName="/ppt/slides/_rels/slide12.xml.rels" ContentType="application/vnd.openxmlformats-package.relationships+xml"/>
  <Override PartName="/ppt/slides/_rels/slide13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presProps.xml" ContentType="application/vnd.openxmlformats-officedocument.presentationml.presProps+xml"/>
  <Override PartName="/ppt/media/image1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</p:sldIdLst>
  <p:sldSz cx="10080625" cy="567055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GB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GB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52D39D6-3811-44E4-AED4-471FE12B36E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GB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GB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GB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GB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GB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GB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GB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GB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GB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GB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GB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GB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en-GB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GB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GB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GB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C9806513-FF97-40F7-8460-EDD61D7C6378}" type="slidenum">
              <a:rPr b="0" lang="en-GB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GB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"/>
          <p:cNvSpPr/>
          <p:nvPr/>
        </p:nvSpPr>
        <p:spPr>
          <a:xfrm>
            <a:off x="540000" y="0"/>
            <a:ext cx="360000" cy="5670000"/>
          </a:xfrm>
          <a:prstGeom prst="rect">
            <a:avLst/>
          </a:prstGeom>
          <a:solidFill>
            <a:srgbClr val="8c769d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GB" sz="1800" spc="-1" strike="noStrike" baseline="-8000">
              <a:solidFill>
                <a:srgbClr val="ffffff"/>
              </a:solidFill>
              <a:latin typeface="Arial"/>
            </a:endParaRPr>
          </a:p>
        </p:txBody>
      </p:sp>
      <p:sp>
        <p:nvSpPr>
          <p:cNvPr id="8" name=""/>
          <p:cNvSpPr/>
          <p:nvPr/>
        </p:nvSpPr>
        <p:spPr>
          <a:xfrm>
            <a:off x="360000" y="0"/>
            <a:ext cx="360000" cy="5670000"/>
          </a:xfrm>
          <a:prstGeom prst="rect">
            <a:avLst/>
          </a:prstGeom>
          <a:solidFill>
            <a:srgbClr val="7c4f9d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GB" sz="1800" spc="-1" strike="noStrike" baseline="-8000">
              <a:solidFill>
                <a:srgbClr val="ffffff"/>
              </a:solidFill>
              <a:latin typeface="Arial"/>
            </a:endParaRPr>
          </a:p>
        </p:txBody>
      </p:sp>
      <p:sp>
        <p:nvSpPr>
          <p:cNvPr id="9" name=""/>
          <p:cNvSpPr/>
          <p:nvPr/>
        </p:nvSpPr>
        <p:spPr>
          <a:xfrm>
            <a:off x="180000" y="0"/>
            <a:ext cx="360000" cy="5670000"/>
          </a:xfrm>
          <a:prstGeom prst="rect">
            <a:avLst/>
          </a:prstGeom>
          <a:solidFill>
            <a:srgbClr val="6b279d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GB" sz="1800" spc="-1" strike="noStrike" baseline="-800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" name=""/>
          <p:cNvSpPr/>
          <p:nvPr/>
        </p:nvSpPr>
        <p:spPr>
          <a:xfrm>
            <a:off x="0" y="0"/>
            <a:ext cx="360000" cy="5670000"/>
          </a:xfrm>
          <a:prstGeom prst="rect">
            <a:avLst/>
          </a:prstGeom>
          <a:solidFill>
            <a:srgbClr val="5a009d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GB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" name=""/>
          <p:cNvSpPr txBox="1"/>
          <p:nvPr/>
        </p:nvSpPr>
        <p:spPr>
          <a:xfrm>
            <a:off x="2115000" y="2624400"/>
            <a:ext cx="5985000" cy="421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/>
            <a:r>
              <a:rPr b="1" lang="en-GB" sz="2600" spc="-1" strike="noStrike">
                <a:solidFill>
                  <a:srgbClr val="000000"/>
                </a:solidFill>
                <a:latin typeface="MS PGothic"/>
              </a:rPr>
              <a:t>BitBucket</a:t>
            </a:r>
            <a:endParaRPr b="0" lang="en-GB" sz="2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"/>
          <p:cNvSpPr/>
          <p:nvPr/>
        </p:nvSpPr>
        <p:spPr>
          <a:xfrm>
            <a:off x="540000" y="0"/>
            <a:ext cx="360000" cy="5670000"/>
          </a:xfrm>
          <a:prstGeom prst="rect">
            <a:avLst/>
          </a:prstGeom>
          <a:solidFill>
            <a:srgbClr val="8c769d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GB" sz="1800" spc="-1" strike="noStrike" baseline="-800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" name=""/>
          <p:cNvSpPr/>
          <p:nvPr/>
        </p:nvSpPr>
        <p:spPr>
          <a:xfrm>
            <a:off x="360000" y="0"/>
            <a:ext cx="360000" cy="5670000"/>
          </a:xfrm>
          <a:prstGeom prst="rect">
            <a:avLst/>
          </a:prstGeom>
          <a:solidFill>
            <a:srgbClr val="7c4f9d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GB" sz="1800" spc="-1" strike="noStrike" baseline="-800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" name=""/>
          <p:cNvSpPr/>
          <p:nvPr/>
        </p:nvSpPr>
        <p:spPr>
          <a:xfrm>
            <a:off x="180000" y="0"/>
            <a:ext cx="360000" cy="5670000"/>
          </a:xfrm>
          <a:prstGeom prst="rect">
            <a:avLst/>
          </a:prstGeom>
          <a:solidFill>
            <a:srgbClr val="6b279d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GB" sz="1800" spc="-1" strike="noStrike" baseline="-800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" name=""/>
          <p:cNvSpPr/>
          <p:nvPr/>
        </p:nvSpPr>
        <p:spPr>
          <a:xfrm>
            <a:off x="0" y="0"/>
            <a:ext cx="360000" cy="5670000"/>
          </a:xfrm>
          <a:prstGeom prst="rect">
            <a:avLst/>
          </a:prstGeom>
          <a:solidFill>
            <a:srgbClr val="5a009d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GB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" name=""/>
          <p:cNvSpPr txBox="1"/>
          <p:nvPr/>
        </p:nvSpPr>
        <p:spPr>
          <a:xfrm>
            <a:off x="1260000" y="1512000"/>
            <a:ext cx="1305000" cy="421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/>
            <a:r>
              <a:rPr b="1" lang="en-GB" sz="2600" spc="-1" strike="noStrike">
                <a:solidFill>
                  <a:srgbClr val="000000"/>
                </a:solidFill>
                <a:latin typeface="MS PGothic"/>
              </a:rPr>
              <a:t>Agenda:</a:t>
            </a:r>
            <a:endParaRPr b="0" lang="en-GB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"/>
          <p:cNvSpPr txBox="1"/>
          <p:nvPr/>
        </p:nvSpPr>
        <p:spPr>
          <a:xfrm>
            <a:off x="2655000" y="2174400"/>
            <a:ext cx="7065000" cy="1562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n-GB" sz="2000" spc="-1" strike="noStrike">
                <a:solidFill>
                  <a:srgbClr val="000000"/>
                </a:solidFill>
                <a:latin typeface="MS PGothic"/>
                <a:ea typeface="Microsoft YaHei"/>
              </a:rPr>
              <a:t>Overview of </a:t>
            </a:r>
            <a:r>
              <a:rPr b="1" lang="en-GB" sz="2000" spc="-1" strike="noStrike">
                <a:solidFill>
                  <a:srgbClr val="000000"/>
                </a:solidFill>
                <a:latin typeface="MS PGothic"/>
              </a:rPr>
              <a:t>Bitbucket.</a:t>
            </a:r>
            <a:endParaRPr b="0" lang="en-GB" sz="2000" spc="-1" strike="noStrike">
              <a:solidFill>
                <a:srgbClr val="000000"/>
              </a:solidFill>
              <a:latin typeface="Arial"/>
            </a:endParaRPr>
          </a:p>
          <a:p>
            <a:r>
              <a:rPr b="1" lang="en-GB" sz="2000" spc="-1" strike="noStrike">
                <a:solidFill>
                  <a:srgbClr val="000000"/>
                </a:solidFill>
                <a:latin typeface="MS PGothic"/>
              </a:rPr>
              <a:t>Features.</a:t>
            </a:r>
            <a:endParaRPr b="0" lang="en-GB" sz="2000" spc="-1" strike="noStrike">
              <a:solidFill>
                <a:srgbClr val="000000"/>
              </a:solidFill>
              <a:latin typeface="Arial"/>
            </a:endParaRPr>
          </a:p>
          <a:p>
            <a:r>
              <a:rPr b="1" lang="en-GB" sz="2000" spc="-1" strike="noStrike">
                <a:solidFill>
                  <a:srgbClr val="000000"/>
                </a:solidFill>
                <a:latin typeface="MS PGothic"/>
              </a:rPr>
              <a:t>Benefits.</a:t>
            </a:r>
            <a:endParaRPr b="0" lang="en-GB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"/>
          <p:cNvSpPr/>
          <p:nvPr/>
        </p:nvSpPr>
        <p:spPr>
          <a:xfrm>
            <a:off x="540000" y="0"/>
            <a:ext cx="360000" cy="5670000"/>
          </a:xfrm>
          <a:prstGeom prst="rect">
            <a:avLst/>
          </a:prstGeom>
          <a:solidFill>
            <a:srgbClr val="8c769d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GB" sz="1800" spc="-1" strike="noStrike" baseline="-800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" name=""/>
          <p:cNvSpPr/>
          <p:nvPr/>
        </p:nvSpPr>
        <p:spPr>
          <a:xfrm>
            <a:off x="360000" y="0"/>
            <a:ext cx="360000" cy="5670000"/>
          </a:xfrm>
          <a:prstGeom prst="rect">
            <a:avLst/>
          </a:prstGeom>
          <a:solidFill>
            <a:srgbClr val="7c4f9d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GB" sz="1800" spc="-1" strike="noStrike" baseline="-8000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" name=""/>
          <p:cNvSpPr/>
          <p:nvPr/>
        </p:nvSpPr>
        <p:spPr>
          <a:xfrm>
            <a:off x="180000" y="0"/>
            <a:ext cx="360000" cy="5670000"/>
          </a:xfrm>
          <a:prstGeom prst="rect">
            <a:avLst/>
          </a:prstGeom>
          <a:solidFill>
            <a:srgbClr val="6b279d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GB" sz="1800" spc="-1" strike="noStrike" baseline="-8000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" name=""/>
          <p:cNvSpPr/>
          <p:nvPr/>
        </p:nvSpPr>
        <p:spPr>
          <a:xfrm>
            <a:off x="0" y="0"/>
            <a:ext cx="360000" cy="5670000"/>
          </a:xfrm>
          <a:prstGeom prst="rect">
            <a:avLst/>
          </a:prstGeom>
          <a:solidFill>
            <a:srgbClr val="5a009d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GB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" name=""/>
          <p:cNvSpPr txBox="1"/>
          <p:nvPr/>
        </p:nvSpPr>
        <p:spPr>
          <a:xfrm>
            <a:off x="2115000" y="2624400"/>
            <a:ext cx="5985000" cy="421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/>
            <a:r>
              <a:rPr b="1" lang="en-GB" sz="2600" spc="-1" strike="noStrike">
                <a:solidFill>
                  <a:srgbClr val="000000"/>
                </a:solidFill>
                <a:latin typeface="MS PGothic"/>
              </a:rPr>
              <a:t>Overview</a:t>
            </a:r>
            <a:endParaRPr b="0" lang="en-GB" sz="2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"/>
          <p:cNvSpPr/>
          <p:nvPr/>
        </p:nvSpPr>
        <p:spPr>
          <a:xfrm>
            <a:off x="540000" y="0"/>
            <a:ext cx="360000" cy="5670000"/>
          </a:xfrm>
          <a:prstGeom prst="rect">
            <a:avLst/>
          </a:prstGeom>
          <a:solidFill>
            <a:srgbClr val="8c769d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GB" sz="1800" spc="-1" strike="noStrike" baseline="-8000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" name=""/>
          <p:cNvSpPr/>
          <p:nvPr/>
        </p:nvSpPr>
        <p:spPr>
          <a:xfrm>
            <a:off x="360000" y="0"/>
            <a:ext cx="360000" cy="5670000"/>
          </a:xfrm>
          <a:prstGeom prst="rect">
            <a:avLst/>
          </a:prstGeom>
          <a:solidFill>
            <a:srgbClr val="7c4f9d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GB" sz="1800" spc="-1" strike="noStrike" baseline="-8000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" name=""/>
          <p:cNvSpPr/>
          <p:nvPr/>
        </p:nvSpPr>
        <p:spPr>
          <a:xfrm>
            <a:off x="180000" y="0"/>
            <a:ext cx="360000" cy="5670000"/>
          </a:xfrm>
          <a:prstGeom prst="rect">
            <a:avLst/>
          </a:prstGeom>
          <a:solidFill>
            <a:srgbClr val="6b279d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GB" sz="1800" spc="-1" strike="noStrike" baseline="-8000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" name=""/>
          <p:cNvSpPr/>
          <p:nvPr/>
        </p:nvSpPr>
        <p:spPr>
          <a:xfrm>
            <a:off x="0" y="0"/>
            <a:ext cx="360000" cy="5670000"/>
          </a:xfrm>
          <a:prstGeom prst="rect">
            <a:avLst/>
          </a:prstGeom>
          <a:solidFill>
            <a:srgbClr val="5a009d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GB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" name=""/>
          <p:cNvSpPr txBox="1"/>
          <p:nvPr/>
        </p:nvSpPr>
        <p:spPr>
          <a:xfrm>
            <a:off x="1080000" y="396000"/>
            <a:ext cx="3060000" cy="344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n-GB" sz="2000" spc="-1" strike="noStrike">
                <a:solidFill>
                  <a:srgbClr val="000000"/>
                </a:solidFill>
                <a:latin typeface="MS PGothic"/>
              </a:rPr>
              <a:t>Overview:</a:t>
            </a:r>
            <a:endParaRPr b="0" lang="en-GB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"/>
          <p:cNvSpPr/>
          <p:nvPr/>
        </p:nvSpPr>
        <p:spPr>
          <a:xfrm>
            <a:off x="900000" y="1044000"/>
            <a:ext cx="9180000" cy="0"/>
          </a:xfrm>
          <a:prstGeom prst="line">
            <a:avLst/>
          </a:prstGeom>
          <a:ln cap="rnd" w="36000">
            <a:solidFill>
              <a:srgbClr val="8c769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000" rIns="108000" tIns="-63000" bIns="-63000" anchor="ctr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"/>
          <p:cNvSpPr/>
          <p:nvPr/>
        </p:nvSpPr>
        <p:spPr>
          <a:xfrm>
            <a:off x="900000" y="972000"/>
            <a:ext cx="9180000" cy="0"/>
          </a:xfrm>
          <a:prstGeom prst="line">
            <a:avLst/>
          </a:prstGeom>
          <a:ln cap="rnd" w="36000">
            <a:solidFill>
              <a:srgbClr val="8c769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000" rIns="108000" tIns="-63000" bIns="-63000" anchor="ctr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0" name="" descr=""/>
          <p:cNvPicPr/>
          <p:nvPr/>
        </p:nvPicPr>
        <p:blipFill>
          <a:blip r:embed="rId1"/>
          <a:stretch/>
        </p:blipFill>
        <p:spPr>
          <a:xfrm>
            <a:off x="6713280" y="2105280"/>
            <a:ext cx="2466720" cy="1847520"/>
          </a:xfrm>
          <a:prstGeom prst="rect">
            <a:avLst/>
          </a:prstGeom>
          <a:ln w="0">
            <a:noFill/>
          </a:ln>
        </p:spPr>
      </p:pic>
      <p:sp>
        <p:nvSpPr>
          <p:cNvPr id="31" name=""/>
          <p:cNvSpPr txBox="1"/>
          <p:nvPr/>
        </p:nvSpPr>
        <p:spPr>
          <a:xfrm>
            <a:off x="1215000" y="1816200"/>
            <a:ext cx="4725000" cy="2829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What is Bitbucket?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Bitbucket is a web-based version control repository hosting service owned by Atlassian.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It supports both Git and Mercurial version control systems, making it a versatile choice for developers and teams.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Bitbucket enables teams to plan, collaborate on, test, and deploy software.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"/>
          <p:cNvSpPr/>
          <p:nvPr/>
        </p:nvSpPr>
        <p:spPr>
          <a:xfrm>
            <a:off x="540000" y="0"/>
            <a:ext cx="360000" cy="5670000"/>
          </a:xfrm>
          <a:prstGeom prst="rect">
            <a:avLst/>
          </a:prstGeom>
          <a:solidFill>
            <a:srgbClr val="8c769d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GB" sz="1800" spc="-1" strike="noStrike" baseline="-8000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" name=""/>
          <p:cNvSpPr/>
          <p:nvPr/>
        </p:nvSpPr>
        <p:spPr>
          <a:xfrm>
            <a:off x="360000" y="0"/>
            <a:ext cx="360000" cy="5670000"/>
          </a:xfrm>
          <a:prstGeom prst="rect">
            <a:avLst/>
          </a:prstGeom>
          <a:solidFill>
            <a:srgbClr val="7c4f9d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GB" sz="1800" spc="-1" strike="noStrike" baseline="-8000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" name=""/>
          <p:cNvSpPr/>
          <p:nvPr/>
        </p:nvSpPr>
        <p:spPr>
          <a:xfrm>
            <a:off x="180000" y="0"/>
            <a:ext cx="360000" cy="5670000"/>
          </a:xfrm>
          <a:prstGeom prst="rect">
            <a:avLst/>
          </a:prstGeom>
          <a:solidFill>
            <a:srgbClr val="6b279d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GB" sz="1800" spc="-1" strike="noStrike" baseline="-8000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" name=""/>
          <p:cNvSpPr/>
          <p:nvPr/>
        </p:nvSpPr>
        <p:spPr>
          <a:xfrm>
            <a:off x="0" y="0"/>
            <a:ext cx="360000" cy="5670000"/>
          </a:xfrm>
          <a:prstGeom prst="rect">
            <a:avLst/>
          </a:prstGeom>
          <a:solidFill>
            <a:srgbClr val="5a009d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GB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" name=""/>
          <p:cNvSpPr txBox="1"/>
          <p:nvPr/>
        </p:nvSpPr>
        <p:spPr>
          <a:xfrm>
            <a:off x="2115000" y="2624400"/>
            <a:ext cx="5985000" cy="421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/>
            <a:r>
              <a:rPr b="1" lang="en-GB" sz="2600" spc="-1" strike="noStrike">
                <a:solidFill>
                  <a:srgbClr val="000000"/>
                </a:solidFill>
                <a:latin typeface="MS PGothic"/>
              </a:rPr>
              <a:t>Features</a:t>
            </a:r>
            <a:endParaRPr b="0" lang="en-GB" sz="2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"/>
          <p:cNvSpPr/>
          <p:nvPr/>
        </p:nvSpPr>
        <p:spPr>
          <a:xfrm>
            <a:off x="540000" y="0"/>
            <a:ext cx="360000" cy="5670000"/>
          </a:xfrm>
          <a:prstGeom prst="rect">
            <a:avLst/>
          </a:prstGeom>
          <a:solidFill>
            <a:srgbClr val="8c769d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GB" sz="1800" spc="-1" strike="noStrike" baseline="-8000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" name=""/>
          <p:cNvSpPr/>
          <p:nvPr/>
        </p:nvSpPr>
        <p:spPr>
          <a:xfrm>
            <a:off x="360000" y="0"/>
            <a:ext cx="360000" cy="5670000"/>
          </a:xfrm>
          <a:prstGeom prst="rect">
            <a:avLst/>
          </a:prstGeom>
          <a:solidFill>
            <a:srgbClr val="7c4f9d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GB" sz="1800" spc="-1" strike="noStrike" baseline="-8000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" name=""/>
          <p:cNvSpPr/>
          <p:nvPr/>
        </p:nvSpPr>
        <p:spPr>
          <a:xfrm>
            <a:off x="180000" y="0"/>
            <a:ext cx="360000" cy="5670000"/>
          </a:xfrm>
          <a:prstGeom prst="rect">
            <a:avLst/>
          </a:prstGeom>
          <a:solidFill>
            <a:srgbClr val="6b279d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GB" sz="1800" spc="-1" strike="noStrike" baseline="-8000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" name=""/>
          <p:cNvSpPr/>
          <p:nvPr/>
        </p:nvSpPr>
        <p:spPr>
          <a:xfrm>
            <a:off x="0" y="0"/>
            <a:ext cx="360000" cy="5670000"/>
          </a:xfrm>
          <a:prstGeom prst="rect">
            <a:avLst/>
          </a:prstGeom>
          <a:solidFill>
            <a:srgbClr val="5a009d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GB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" name=""/>
          <p:cNvSpPr txBox="1"/>
          <p:nvPr/>
        </p:nvSpPr>
        <p:spPr>
          <a:xfrm>
            <a:off x="1080000" y="396000"/>
            <a:ext cx="2700000" cy="344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n-GB" sz="2000" spc="-1" strike="noStrike">
                <a:solidFill>
                  <a:srgbClr val="000000"/>
                </a:solidFill>
                <a:latin typeface="MS PGothic"/>
              </a:rPr>
              <a:t>Features:</a:t>
            </a:r>
            <a:endParaRPr b="0" lang="en-GB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"/>
          <p:cNvSpPr/>
          <p:nvPr/>
        </p:nvSpPr>
        <p:spPr>
          <a:xfrm>
            <a:off x="900000" y="1044000"/>
            <a:ext cx="9180000" cy="0"/>
          </a:xfrm>
          <a:prstGeom prst="line">
            <a:avLst/>
          </a:prstGeom>
          <a:ln cap="rnd" w="36000">
            <a:solidFill>
              <a:srgbClr val="8c769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000" rIns="108000" tIns="-63000" bIns="-63000" anchor="ctr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"/>
          <p:cNvSpPr/>
          <p:nvPr/>
        </p:nvSpPr>
        <p:spPr>
          <a:xfrm>
            <a:off x="900000" y="972000"/>
            <a:ext cx="9180000" cy="0"/>
          </a:xfrm>
          <a:prstGeom prst="line">
            <a:avLst/>
          </a:prstGeom>
          <a:ln cap="rnd" w="36000">
            <a:solidFill>
              <a:srgbClr val="8c769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000" rIns="108000" tIns="-63000" bIns="-63000" anchor="ctr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" name=""/>
          <p:cNvSpPr txBox="1"/>
          <p:nvPr/>
        </p:nvSpPr>
        <p:spPr>
          <a:xfrm>
            <a:off x="1215000" y="2295000"/>
            <a:ext cx="4725000" cy="1800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Unlimited Private Repositories: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Bitbucket allows users to create an unlimited number of private repositories, making it ideal for individuals and teams concerned with privacy and security.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"/>
          <p:cNvSpPr/>
          <p:nvPr/>
        </p:nvSpPr>
        <p:spPr>
          <a:xfrm>
            <a:off x="540000" y="0"/>
            <a:ext cx="360000" cy="5670000"/>
          </a:xfrm>
          <a:prstGeom prst="rect">
            <a:avLst/>
          </a:prstGeom>
          <a:solidFill>
            <a:srgbClr val="8c769d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GB" sz="1800" spc="-1" strike="noStrike" baseline="-8000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" name=""/>
          <p:cNvSpPr/>
          <p:nvPr/>
        </p:nvSpPr>
        <p:spPr>
          <a:xfrm>
            <a:off x="360000" y="0"/>
            <a:ext cx="360000" cy="5670000"/>
          </a:xfrm>
          <a:prstGeom prst="rect">
            <a:avLst/>
          </a:prstGeom>
          <a:solidFill>
            <a:srgbClr val="7c4f9d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GB" sz="1800" spc="-1" strike="noStrike" baseline="-8000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" name=""/>
          <p:cNvSpPr/>
          <p:nvPr/>
        </p:nvSpPr>
        <p:spPr>
          <a:xfrm>
            <a:off x="180000" y="0"/>
            <a:ext cx="360000" cy="5670000"/>
          </a:xfrm>
          <a:prstGeom prst="rect">
            <a:avLst/>
          </a:prstGeom>
          <a:solidFill>
            <a:srgbClr val="6b279d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GB" sz="1800" spc="-1" strike="noStrike" baseline="-8000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" name=""/>
          <p:cNvSpPr/>
          <p:nvPr/>
        </p:nvSpPr>
        <p:spPr>
          <a:xfrm>
            <a:off x="0" y="0"/>
            <a:ext cx="360000" cy="5670000"/>
          </a:xfrm>
          <a:prstGeom prst="rect">
            <a:avLst/>
          </a:prstGeom>
          <a:solidFill>
            <a:srgbClr val="5a009d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GB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" name=""/>
          <p:cNvSpPr txBox="1"/>
          <p:nvPr/>
        </p:nvSpPr>
        <p:spPr>
          <a:xfrm>
            <a:off x="1080000" y="396000"/>
            <a:ext cx="2700000" cy="344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n-GB" sz="2000" spc="-1" strike="noStrike">
                <a:solidFill>
                  <a:srgbClr val="000000"/>
                </a:solidFill>
                <a:latin typeface="MS PGothic"/>
              </a:rPr>
              <a:t>Features:</a:t>
            </a:r>
            <a:endParaRPr b="0" lang="en-GB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"/>
          <p:cNvSpPr/>
          <p:nvPr/>
        </p:nvSpPr>
        <p:spPr>
          <a:xfrm>
            <a:off x="900000" y="1044000"/>
            <a:ext cx="9180000" cy="0"/>
          </a:xfrm>
          <a:prstGeom prst="line">
            <a:avLst/>
          </a:prstGeom>
          <a:ln cap="rnd" w="36000">
            <a:solidFill>
              <a:srgbClr val="8c769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000" rIns="108000" tIns="-63000" bIns="-63000" anchor="ctr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" name=""/>
          <p:cNvSpPr/>
          <p:nvPr/>
        </p:nvSpPr>
        <p:spPr>
          <a:xfrm>
            <a:off x="900000" y="972000"/>
            <a:ext cx="9180000" cy="0"/>
          </a:xfrm>
          <a:prstGeom prst="line">
            <a:avLst/>
          </a:prstGeom>
          <a:ln cap="rnd" w="36000">
            <a:solidFill>
              <a:srgbClr val="8c769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000" rIns="108000" tIns="-63000" bIns="-63000" anchor="ctr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" name=""/>
          <p:cNvSpPr txBox="1"/>
          <p:nvPr/>
        </p:nvSpPr>
        <p:spPr>
          <a:xfrm>
            <a:off x="1215000" y="2295000"/>
            <a:ext cx="4725000" cy="1800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Pull Requests: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Bitbucket's pull request feature facilitates code review by allowing team members to discuss and review changes before merging them into the main codebase.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"/>
          <p:cNvSpPr/>
          <p:nvPr/>
        </p:nvSpPr>
        <p:spPr>
          <a:xfrm>
            <a:off x="540000" y="0"/>
            <a:ext cx="360000" cy="5670000"/>
          </a:xfrm>
          <a:prstGeom prst="rect">
            <a:avLst/>
          </a:prstGeom>
          <a:solidFill>
            <a:srgbClr val="8c769d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GB" sz="1800" spc="-1" strike="noStrike" baseline="-8000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" name=""/>
          <p:cNvSpPr/>
          <p:nvPr/>
        </p:nvSpPr>
        <p:spPr>
          <a:xfrm>
            <a:off x="360000" y="0"/>
            <a:ext cx="360000" cy="5670000"/>
          </a:xfrm>
          <a:prstGeom prst="rect">
            <a:avLst/>
          </a:prstGeom>
          <a:solidFill>
            <a:srgbClr val="7c4f9d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GB" sz="1800" spc="-1" strike="noStrike" baseline="-8000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" name=""/>
          <p:cNvSpPr/>
          <p:nvPr/>
        </p:nvSpPr>
        <p:spPr>
          <a:xfrm>
            <a:off x="180000" y="0"/>
            <a:ext cx="360000" cy="5670000"/>
          </a:xfrm>
          <a:prstGeom prst="rect">
            <a:avLst/>
          </a:prstGeom>
          <a:solidFill>
            <a:srgbClr val="6b279d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GB" sz="1800" spc="-1" strike="noStrike" baseline="-8000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" name=""/>
          <p:cNvSpPr/>
          <p:nvPr/>
        </p:nvSpPr>
        <p:spPr>
          <a:xfrm>
            <a:off x="0" y="0"/>
            <a:ext cx="360000" cy="5670000"/>
          </a:xfrm>
          <a:prstGeom prst="rect">
            <a:avLst/>
          </a:prstGeom>
          <a:solidFill>
            <a:srgbClr val="5a009d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GB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" name=""/>
          <p:cNvSpPr txBox="1"/>
          <p:nvPr/>
        </p:nvSpPr>
        <p:spPr>
          <a:xfrm>
            <a:off x="1080000" y="396000"/>
            <a:ext cx="2700000" cy="344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n-GB" sz="2000" spc="-1" strike="noStrike">
                <a:solidFill>
                  <a:srgbClr val="000000"/>
                </a:solidFill>
                <a:latin typeface="MS PGothic"/>
              </a:rPr>
              <a:t>Features:</a:t>
            </a:r>
            <a:endParaRPr b="0" lang="en-GB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"/>
          <p:cNvSpPr/>
          <p:nvPr/>
        </p:nvSpPr>
        <p:spPr>
          <a:xfrm>
            <a:off x="900000" y="1044000"/>
            <a:ext cx="9180000" cy="0"/>
          </a:xfrm>
          <a:prstGeom prst="line">
            <a:avLst/>
          </a:prstGeom>
          <a:ln cap="rnd" w="36000">
            <a:solidFill>
              <a:srgbClr val="8c769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000" rIns="108000" tIns="-63000" bIns="-63000" anchor="ctr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" name=""/>
          <p:cNvSpPr/>
          <p:nvPr/>
        </p:nvSpPr>
        <p:spPr>
          <a:xfrm>
            <a:off x="900000" y="972000"/>
            <a:ext cx="9180000" cy="0"/>
          </a:xfrm>
          <a:prstGeom prst="line">
            <a:avLst/>
          </a:prstGeom>
          <a:ln cap="rnd" w="36000">
            <a:solidFill>
              <a:srgbClr val="8c769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000" rIns="108000" tIns="-63000" bIns="-63000" anchor="ctr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"/>
          <p:cNvSpPr txBox="1"/>
          <p:nvPr/>
        </p:nvSpPr>
        <p:spPr>
          <a:xfrm>
            <a:off x="1215000" y="2295000"/>
            <a:ext cx="4725000" cy="1800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Branch Permissions: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Branch permissions in Bitbucket provide fine-grained access control to ensure that only authorized users can make changes to critical branches.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"/>
          <p:cNvSpPr/>
          <p:nvPr/>
        </p:nvSpPr>
        <p:spPr>
          <a:xfrm>
            <a:off x="540000" y="0"/>
            <a:ext cx="360000" cy="5670000"/>
          </a:xfrm>
          <a:prstGeom prst="rect">
            <a:avLst/>
          </a:prstGeom>
          <a:solidFill>
            <a:srgbClr val="8c769d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GB" sz="1800" spc="-1" strike="noStrike" baseline="-8000">
              <a:solidFill>
                <a:srgbClr val="ffffff"/>
              </a:solidFill>
              <a:latin typeface="Arial"/>
            </a:endParaRPr>
          </a:p>
        </p:txBody>
      </p:sp>
      <p:sp>
        <p:nvSpPr>
          <p:cNvPr id="62" name=""/>
          <p:cNvSpPr/>
          <p:nvPr/>
        </p:nvSpPr>
        <p:spPr>
          <a:xfrm>
            <a:off x="360000" y="0"/>
            <a:ext cx="360000" cy="5670000"/>
          </a:xfrm>
          <a:prstGeom prst="rect">
            <a:avLst/>
          </a:prstGeom>
          <a:solidFill>
            <a:srgbClr val="7c4f9d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GB" sz="1800" spc="-1" strike="noStrike" baseline="-8000">
              <a:solidFill>
                <a:srgbClr val="ffffff"/>
              </a:solidFill>
              <a:latin typeface="Arial"/>
            </a:endParaRPr>
          </a:p>
        </p:txBody>
      </p:sp>
      <p:sp>
        <p:nvSpPr>
          <p:cNvPr id="63" name=""/>
          <p:cNvSpPr/>
          <p:nvPr/>
        </p:nvSpPr>
        <p:spPr>
          <a:xfrm>
            <a:off x="180000" y="0"/>
            <a:ext cx="360000" cy="5670000"/>
          </a:xfrm>
          <a:prstGeom prst="rect">
            <a:avLst/>
          </a:prstGeom>
          <a:solidFill>
            <a:srgbClr val="6b279d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GB" sz="1800" spc="-1" strike="noStrike" baseline="-8000">
              <a:solidFill>
                <a:srgbClr val="ffffff"/>
              </a:solidFill>
              <a:latin typeface="Arial"/>
            </a:endParaRPr>
          </a:p>
        </p:txBody>
      </p:sp>
      <p:sp>
        <p:nvSpPr>
          <p:cNvPr id="64" name=""/>
          <p:cNvSpPr/>
          <p:nvPr/>
        </p:nvSpPr>
        <p:spPr>
          <a:xfrm>
            <a:off x="0" y="0"/>
            <a:ext cx="360000" cy="5670000"/>
          </a:xfrm>
          <a:prstGeom prst="rect">
            <a:avLst/>
          </a:prstGeom>
          <a:solidFill>
            <a:srgbClr val="5a009d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GB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5" name=""/>
          <p:cNvSpPr txBox="1"/>
          <p:nvPr/>
        </p:nvSpPr>
        <p:spPr>
          <a:xfrm>
            <a:off x="1080000" y="396000"/>
            <a:ext cx="2700000" cy="344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n-GB" sz="2000" spc="-1" strike="noStrike">
                <a:solidFill>
                  <a:srgbClr val="000000"/>
                </a:solidFill>
                <a:latin typeface="MS PGothic"/>
              </a:rPr>
              <a:t>Features:</a:t>
            </a:r>
            <a:endParaRPr b="0" lang="en-GB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"/>
          <p:cNvSpPr/>
          <p:nvPr/>
        </p:nvSpPr>
        <p:spPr>
          <a:xfrm>
            <a:off x="900000" y="1044000"/>
            <a:ext cx="9180000" cy="0"/>
          </a:xfrm>
          <a:prstGeom prst="line">
            <a:avLst/>
          </a:prstGeom>
          <a:ln cap="rnd" w="36000">
            <a:solidFill>
              <a:srgbClr val="8c769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000" rIns="108000" tIns="-63000" bIns="-63000" anchor="ctr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" name=""/>
          <p:cNvSpPr/>
          <p:nvPr/>
        </p:nvSpPr>
        <p:spPr>
          <a:xfrm>
            <a:off x="900000" y="972000"/>
            <a:ext cx="9180000" cy="0"/>
          </a:xfrm>
          <a:prstGeom prst="line">
            <a:avLst/>
          </a:prstGeom>
          <a:ln cap="rnd" w="36000">
            <a:solidFill>
              <a:srgbClr val="8c769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000" rIns="108000" tIns="-63000" bIns="-63000" anchor="ctr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"/>
          <p:cNvSpPr txBox="1"/>
          <p:nvPr/>
        </p:nvSpPr>
        <p:spPr>
          <a:xfrm>
            <a:off x="1215000" y="2295000"/>
            <a:ext cx="4725000" cy="1800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CI/CD Pipelines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Bitbucket Pipelines offers integrated continuous integration and continuous deployment (CI/CD) to automate the process of building, testing, and deploying code.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"/>
          <p:cNvSpPr/>
          <p:nvPr/>
        </p:nvSpPr>
        <p:spPr>
          <a:xfrm>
            <a:off x="540000" y="0"/>
            <a:ext cx="360000" cy="5670000"/>
          </a:xfrm>
          <a:prstGeom prst="rect">
            <a:avLst/>
          </a:prstGeom>
          <a:solidFill>
            <a:srgbClr val="8c769d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GB" sz="1800" spc="-1" strike="noStrike" baseline="-8000">
              <a:solidFill>
                <a:srgbClr val="ffffff"/>
              </a:solidFill>
              <a:latin typeface="Arial"/>
            </a:endParaRPr>
          </a:p>
        </p:txBody>
      </p:sp>
      <p:sp>
        <p:nvSpPr>
          <p:cNvPr id="70" name=""/>
          <p:cNvSpPr/>
          <p:nvPr/>
        </p:nvSpPr>
        <p:spPr>
          <a:xfrm>
            <a:off x="360000" y="0"/>
            <a:ext cx="360000" cy="5670000"/>
          </a:xfrm>
          <a:prstGeom prst="rect">
            <a:avLst/>
          </a:prstGeom>
          <a:solidFill>
            <a:srgbClr val="7c4f9d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GB" sz="1800" spc="-1" strike="noStrike" baseline="-8000">
              <a:solidFill>
                <a:srgbClr val="ffffff"/>
              </a:solidFill>
              <a:latin typeface="Arial"/>
            </a:endParaRPr>
          </a:p>
        </p:txBody>
      </p:sp>
      <p:sp>
        <p:nvSpPr>
          <p:cNvPr id="71" name=""/>
          <p:cNvSpPr/>
          <p:nvPr/>
        </p:nvSpPr>
        <p:spPr>
          <a:xfrm>
            <a:off x="180000" y="0"/>
            <a:ext cx="360000" cy="5670000"/>
          </a:xfrm>
          <a:prstGeom prst="rect">
            <a:avLst/>
          </a:prstGeom>
          <a:solidFill>
            <a:srgbClr val="6b279d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GB" sz="1800" spc="-1" strike="noStrike" baseline="-8000">
              <a:solidFill>
                <a:srgbClr val="ffffff"/>
              </a:solidFill>
              <a:latin typeface="Arial"/>
            </a:endParaRPr>
          </a:p>
        </p:txBody>
      </p:sp>
      <p:sp>
        <p:nvSpPr>
          <p:cNvPr id="72" name=""/>
          <p:cNvSpPr/>
          <p:nvPr/>
        </p:nvSpPr>
        <p:spPr>
          <a:xfrm>
            <a:off x="0" y="0"/>
            <a:ext cx="360000" cy="5670000"/>
          </a:xfrm>
          <a:prstGeom prst="rect">
            <a:avLst/>
          </a:prstGeom>
          <a:solidFill>
            <a:srgbClr val="5a009d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GB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3" name=""/>
          <p:cNvSpPr txBox="1"/>
          <p:nvPr/>
        </p:nvSpPr>
        <p:spPr>
          <a:xfrm>
            <a:off x="1080000" y="396000"/>
            <a:ext cx="2700000" cy="344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n-GB" sz="2000" spc="-1" strike="noStrike">
                <a:solidFill>
                  <a:srgbClr val="000000"/>
                </a:solidFill>
                <a:latin typeface="MS PGothic"/>
              </a:rPr>
              <a:t>Features:</a:t>
            </a:r>
            <a:endParaRPr b="0" lang="en-GB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"/>
          <p:cNvSpPr/>
          <p:nvPr/>
        </p:nvSpPr>
        <p:spPr>
          <a:xfrm>
            <a:off x="900000" y="1044000"/>
            <a:ext cx="9180000" cy="0"/>
          </a:xfrm>
          <a:prstGeom prst="line">
            <a:avLst/>
          </a:prstGeom>
          <a:ln cap="rnd" w="36000">
            <a:solidFill>
              <a:srgbClr val="8c769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000" rIns="108000" tIns="-63000" bIns="-63000" anchor="ctr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"/>
          <p:cNvSpPr/>
          <p:nvPr/>
        </p:nvSpPr>
        <p:spPr>
          <a:xfrm>
            <a:off x="900000" y="972000"/>
            <a:ext cx="9180000" cy="0"/>
          </a:xfrm>
          <a:prstGeom prst="line">
            <a:avLst/>
          </a:prstGeom>
          <a:ln cap="rnd" w="36000">
            <a:solidFill>
              <a:srgbClr val="8c769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000" rIns="108000" tIns="-63000" bIns="-63000" anchor="ctr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"/>
          <p:cNvSpPr txBox="1"/>
          <p:nvPr/>
        </p:nvSpPr>
        <p:spPr>
          <a:xfrm>
            <a:off x="1215000" y="2295000"/>
            <a:ext cx="4725000" cy="1800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JIRA Integration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Integration with JIRA allows seamless linking of issues and tasks with code changes, enhancing project management and collaboration.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"/>
          <p:cNvSpPr/>
          <p:nvPr/>
        </p:nvSpPr>
        <p:spPr>
          <a:xfrm>
            <a:off x="540000" y="0"/>
            <a:ext cx="360000" cy="5670000"/>
          </a:xfrm>
          <a:prstGeom prst="rect">
            <a:avLst/>
          </a:prstGeom>
          <a:solidFill>
            <a:srgbClr val="8c769d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GB" sz="1800" spc="-1" strike="noStrike" baseline="-8000">
              <a:solidFill>
                <a:srgbClr val="ffffff"/>
              </a:solidFill>
              <a:latin typeface="Arial"/>
            </a:endParaRPr>
          </a:p>
        </p:txBody>
      </p:sp>
      <p:sp>
        <p:nvSpPr>
          <p:cNvPr id="78" name=""/>
          <p:cNvSpPr/>
          <p:nvPr/>
        </p:nvSpPr>
        <p:spPr>
          <a:xfrm>
            <a:off x="360000" y="0"/>
            <a:ext cx="360000" cy="5670000"/>
          </a:xfrm>
          <a:prstGeom prst="rect">
            <a:avLst/>
          </a:prstGeom>
          <a:solidFill>
            <a:srgbClr val="7c4f9d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GB" sz="1800" spc="-1" strike="noStrike" baseline="-8000">
              <a:solidFill>
                <a:srgbClr val="ffffff"/>
              </a:solidFill>
              <a:latin typeface="Arial"/>
            </a:endParaRPr>
          </a:p>
        </p:txBody>
      </p:sp>
      <p:sp>
        <p:nvSpPr>
          <p:cNvPr id="79" name=""/>
          <p:cNvSpPr/>
          <p:nvPr/>
        </p:nvSpPr>
        <p:spPr>
          <a:xfrm>
            <a:off x="180000" y="0"/>
            <a:ext cx="360000" cy="5670000"/>
          </a:xfrm>
          <a:prstGeom prst="rect">
            <a:avLst/>
          </a:prstGeom>
          <a:solidFill>
            <a:srgbClr val="6b279d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GB" sz="1800" spc="-1" strike="noStrike" baseline="-8000">
              <a:solidFill>
                <a:srgbClr val="ffffff"/>
              </a:solidFill>
              <a:latin typeface="Arial"/>
            </a:endParaRPr>
          </a:p>
        </p:txBody>
      </p:sp>
      <p:sp>
        <p:nvSpPr>
          <p:cNvPr id="80" name=""/>
          <p:cNvSpPr/>
          <p:nvPr/>
        </p:nvSpPr>
        <p:spPr>
          <a:xfrm>
            <a:off x="0" y="0"/>
            <a:ext cx="360000" cy="5670000"/>
          </a:xfrm>
          <a:prstGeom prst="rect">
            <a:avLst/>
          </a:prstGeom>
          <a:solidFill>
            <a:srgbClr val="5a009d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GB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1" name=""/>
          <p:cNvSpPr txBox="1"/>
          <p:nvPr/>
        </p:nvSpPr>
        <p:spPr>
          <a:xfrm>
            <a:off x="2115000" y="2624400"/>
            <a:ext cx="5985000" cy="421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>
              <a:spcBef>
                <a:spcPts val="1191"/>
              </a:spcBef>
              <a:spcAft>
                <a:spcPts val="992"/>
              </a:spcAft>
            </a:pPr>
            <a:r>
              <a:rPr b="1" lang="en-GB" sz="2600" spc="-1" strike="noStrike">
                <a:solidFill>
                  <a:srgbClr val="000000"/>
                </a:solidFill>
                <a:latin typeface="MS PGothic"/>
              </a:rPr>
              <a:t>Benefits</a:t>
            </a:r>
            <a:endParaRPr b="0" lang="en-GB" sz="2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"/>
          <p:cNvSpPr/>
          <p:nvPr/>
        </p:nvSpPr>
        <p:spPr>
          <a:xfrm>
            <a:off x="540000" y="0"/>
            <a:ext cx="360000" cy="5670000"/>
          </a:xfrm>
          <a:prstGeom prst="rect">
            <a:avLst/>
          </a:prstGeom>
          <a:solidFill>
            <a:srgbClr val="8c769d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GB" sz="1800" spc="-1" strike="noStrike" baseline="-8000">
              <a:solidFill>
                <a:srgbClr val="ffffff"/>
              </a:solidFill>
              <a:latin typeface="Arial"/>
            </a:endParaRPr>
          </a:p>
        </p:txBody>
      </p:sp>
      <p:sp>
        <p:nvSpPr>
          <p:cNvPr id="83" name=""/>
          <p:cNvSpPr/>
          <p:nvPr/>
        </p:nvSpPr>
        <p:spPr>
          <a:xfrm>
            <a:off x="360000" y="0"/>
            <a:ext cx="360000" cy="5670000"/>
          </a:xfrm>
          <a:prstGeom prst="rect">
            <a:avLst/>
          </a:prstGeom>
          <a:solidFill>
            <a:srgbClr val="7c4f9d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GB" sz="1800" spc="-1" strike="noStrike" baseline="-8000">
              <a:solidFill>
                <a:srgbClr val="ffffff"/>
              </a:solidFill>
              <a:latin typeface="Arial"/>
            </a:endParaRPr>
          </a:p>
        </p:txBody>
      </p:sp>
      <p:sp>
        <p:nvSpPr>
          <p:cNvPr id="84" name=""/>
          <p:cNvSpPr/>
          <p:nvPr/>
        </p:nvSpPr>
        <p:spPr>
          <a:xfrm>
            <a:off x="180000" y="0"/>
            <a:ext cx="360000" cy="5670000"/>
          </a:xfrm>
          <a:prstGeom prst="rect">
            <a:avLst/>
          </a:prstGeom>
          <a:solidFill>
            <a:srgbClr val="6b279d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GB" sz="1800" spc="-1" strike="noStrike" baseline="-8000">
              <a:solidFill>
                <a:srgbClr val="ffffff"/>
              </a:solidFill>
              <a:latin typeface="Arial"/>
            </a:endParaRPr>
          </a:p>
        </p:txBody>
      </p:sp>
      <p:sp>
        <p:nvSpPr>
          <p:cNvPr id="85" name=""/>
          <p:cNvSpPr/>
          <p:nvPr/>
        </p:nvSpPr>
        <p:spPr>
          <a:xfrm>
            <a:off x="0" y="0"/>
            <a:ext cx="360000" cy="5670000"/>
          </a:xfrm>
          <a:prstGeom prst="rect">
            <a:avLst/>
          </a:prstGeom>
          <a:solidFill>
            <a:srgbClr val="5a009d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GB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6" name=""/>
          <p:cNvSpPr txBox="1"/>
          <p:nvPr/>
        </p:nvSpPr>
        <p:spPr>
          <a:xfrm>
            <a:off x="1080000" y="396000"/>
            <a:ext cx="2880000" cy="344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n-GB" sz="2000" spc="-1" strike="noStrike">
                <a:solidFill>
                  <a:srgbClr val="000000"/>
                </a:solidFill>
                <a:latin typeface="MS PGothic"/>
              </a:rPr>
              <a:t>Benefits:</a:t>
            </a:r>
            <a:endParaRPr b="0" lang="en-GB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" name=""/>
          <p:cNvSpPr/>
          <p:nvPr/>
        </p:nvSpPr>
        <p:spPr>
          <a:xfrm>
            <a:off x="900000" y="1044000"/>
            <a:ext cx="9180000" cy="0"/>
          </a:xfrm>
          <a:prstGeom prst="line">
            <a:avLst/>
          </a:prstGeom>
          <a:ln cap="rnd" w="36000">
            <a:solidFill>
              <a:srgbClr val="8c769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000" rIns="108000" tIns="-63000" bIns="-63000" anchor="ctr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" name=""/>
          <p:cNvSpPr/>
          <p:nvPr/>
        </p:nvSpPr>
        <p:spPr>
          <a:xfrm>
            <a:off x="900000" y="972000"/>
            <a:ext cx="9180000" cy="0"/>
          </a:xfrm>
          <a:prstGeom prst="line">
            <a:avLst/>
          </a:prstGeom>
          <a:ln cap="rnd" w="36000">
            <a:solidFill>
              <a:srgbClr val="8c769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000" rIns="108000" tIns="-63000" bIns="-63000" anchor="ctr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" name=""/>
          <p:cNvSpPr txBox="1"/>
          <p:nvPr/>
        </p:nvSpPr>
        <p:spPr>
          <a:xfrm>
            <a:off x="1215000" y="2295000"/>
            <a:ext cx="5265000" cy="1800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Collaboration: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Bitbucket enhances collaboration by providing tools like pull requests, code reviews, and inline comments, making it easier for teams to work together on code.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"/>
          <p:cNvSpPr/>
          <p:nvPr/>
        </p:nvSpPr>
        <p:spPr>
          <a:xfrm>
            <a:off x="540000" y="0"/>
            <a:ext cx="360000" cy="5670000"/>
          </a:xfrm>
          <a:prstGeom prst="rect">
            <a:avLst/>
          </a:prstGeom>
          <a:solidFill>
            <a:srgbClr val="8c769d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GB" sz="1800" spc="-1" strike="noStrike" baseline="-8000">
              <a:solidFill>
                <a:srgbClr val="ffffff"/>
              </a:solidFill>
              <a:latin typeface="Arial"/>
            </a:endParaRPr>
          </a:p>
        </p:txBody>
      </p:sp>
      <p:sp>
        <p:nvSpPr>
          <p:cNvPr id="91" name=""/>
          <p:cNvSpPr/>
          <p:nvPr/>
        </p:nvSpPr>
        <p:spPr>
          <a:xfrm>
            <a:off x="360000" y="0"/>
            <a:ext cx="360000" cy="5670000"/>
          </a:xfrm>
          <a:prstGeom prst="rect">
            <a:avLst/>
          </a:prstGeom>
          <a:solidFill>
            <a:srgbClr val="7c4f9d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GB" sz="1800" spc="-1" strike="noStrike" baseline="-8000">
              <a:solidFill>
                <a:srgbClr val="ffffff"/>
              </a:solidFill>
              <a:latin typeface="Arial"/>
            </a:endParaRPr>
          </a:p>
        </p:txBody>
      </p:sp>
      <p:sp>
        <p:nvSpPr>
          <p:cNvPr id="92" name=""/>
          <p:cNvSpPr/>
          <p:nvPr/>
        </p:nvSpPr>
        <p:spPr>
          <a:xfrm>
            <a:off x="180000" y="0"/>
            <a:ext cx="360000" cy="5670000"/>
          </a:xfrm>
          <a:prstGeom prst="rect">
            <a:avLst/>
          </a:prstGeom>
          <a:solidFill>
            <a:srgbClr val="6b279d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GB" sz="1800" spc="-1" strike="noStrike" baseline="-8000">
              <a:solidFill>
                <a:srgbClr val="ffffff"/>
              </a:solidFill>
              <a:latin typeface="Arial"/>
            </a:endParaRPr>
          </a:p>
        </p:txBody>
      </p:sp>
      <p:sp>
        <p:nvSpPr>
          <p:cNvPr id="93" name=""/>
          <p:cNvSpPr/>
          <p:nvPr/>
        </p:nvSpPr>
        <p:spPr>
          <a:xfrm>
            <a:off x="0" y="0"/>
            <a:ext cx="360000" cy="5670000"/>
          </a:xfrm>
          <a:prstGeom prst="rect">
            <a:avLst/>
          </a:prstGeom>
          <a:solidFill>
            <a:srgbClr val="5a009d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GB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4" name=""/>
          <p:cNvSpPr txBox="1"/>
          <p:nvPr/>
        </p:nvSpPr>
        <p:spPr>
          <a:xfrm>
            <a:off x="1080000" y="396000"/>
            <a:ext cx="2880000" cy="344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n-GB" sz="2000" spc="-1" strike="noStrike">
                <a:solidFill>
                  <a:srgbClr val="000000"/>
                </a:solidFill>
                <a:latin typeface="MS PGothic"/>
              </a:rPr>
              <a:t>Benefits:</a:t>
            </a:r>
            <a:endParaRPr b="0" lang="en-GB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" name=""/>
          <p:cNvSpPr/>
          <p:nvPr/>
        </p:nvSpPr>
        <p:spPr>
          <a:xfrm>
            <a:off x="900000" y="1044000"/>
            <a:ext cx="9180000" cy="0"/>
          </a:xfrm>
          <a:prstGeom prst="line">
            <a:avLst/>
          </a:prstGeom>
          <a:ln cap="rnd" w="36000">
            <a:solidFill>
              <a:srgbClr val="8c769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000" rIns="108000" tIns="-63000" bIns="-63000" anchor="ctr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" name=""/>
          <p:cNvSpPr/>
          <p:nvPr/>
        </p:nvSpPr>
        <p:spPr>
          <a:xfrm>
            <a:off x="900000" y="972000"/>
            <a:ext cx="9180000" cy="0"/>
          </a:xfrm>
          <a:prstGeom prst="line">
            <a:avLst/>
          </a:prstGeom>
          <a:ln cap="rnd" w="36000">
            <a:solidFill>
              <a:srgbClr val="8c769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000" rIns="108000" tIns="-63000" bIns="-63000" anchor="ctr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" name=""/>
          <p:cNvSpPr txBox="1"/>
          <p:nvPr/>
        </p:nvSpPr>
        <p:spPr>
          <a:xfrm>
            <a:off x="1215000" y="2295000"/>
            <a:ext cx="5265000" cy="1800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Security: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Bitbucket ensures the security of your code with features like branch permissions, IP whitelisting, and two-factor authentication.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"/>
          <p:cNvSpPr/>
          <p:nvPr/>
        </p:nvSpPr>
        <p:spPr>
          <a:xfrm>
            <a:off x="540000" y="0"/>
            <a:ext cx="360000" cy="5670000"/>
          </a:xfrm>
          <a:prstGeom prst="rect">
            <a:avLst/>
          </a:prstGeom>
          <a:solidFill>
            <a:srgbClr val="8c769d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GB" sz="1800" spc="-1" strike="noStrike" baseline="-8000">
              <a:solidFill>
                <a:srgbClr val="ffffff"/>
              </a:solidFill>
              <a:latin typeface="Arial"/>
            </a:endParaRPr>
          </a:p>
        </p:txBody>
      </p:sp>
      <p:sp>
        <p:nvSpPr>
          <p:cNvPr id="99" name=""/>
          <p:cNvSpPr/>
          <p:nvPr/>
        </p:nvSpPr>
        <p:spPr>
          <a:xfrm>
            <a:off x="360000" y="0"/>
            <a:ext cx="360000" cy="5670000"/>
          </a:xfrm>
          <a:prstGeom prst="rect">
            <a:avLst/>
          </a:prstGeom>
          <a:solidFill>
            <a:srgbClr val="7c4f9d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GB" sz="1800" spc="-1" strike="noStrike" baseline="-800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0" name=""/>
          <p:cNvSpPr/>
          <p:nvPr/>
        </p:nvSpPr>
        <p:spPr>
          <a:xfrm>
            <a:off x="180000" y="0"/>
            <a:ext cx="360000" cy="5670000"/>
          </a:xfrm>
          <a:prstGeom prst="rect">
            <a:avLst/>
          </a:prstGeom>
          <a:solidFill>
            <a:srgbClr val="6b279d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GB" sz="1800" spc="-1" strike="noStrike" baseline="-800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1" name=""/>
          <p:cNvSpPr/>
          <p:nvPr/>
        </p:nvSpPr>
        <p:spPr>
          <a:xfrm>
            <a:off x="0" y="0"/>
            <a:ext cx="360000" cy="5670000"/>
          </a:xfrm>
          <a:prstGeom prst="rect">
            <a:avLst/>
          </a:prstGeom>
          <a:solidFill>
            <a:srgbClr val="5a009d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GB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2" name=""/>
          <p:cNvSpPr txBox="1"/>
          <p:nvPr/>
        </p:nvSpPr>
        <p:spPr>
          <a:xfrm>
            <a:off x="1080000" y="396000"/>
            <a:ext cx="2880000" cy="344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n-GB" sz="2000" spc="-1" strike="noStrike">
                <a:solidFill>
                  <a:srgbClr val="000000"/>
                </a:solidFill>
                <a:latin typeface="MS PGothic"/>
              </a:rPr>
              <a:t>Benefits:</a:t>
            </a:r>
            <a:endParaRPr b="0" lang="en-GB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" name=""/>
          <p:cNvSpPr/>
          <p:nvPr/>
        </p:nvSpPr>
        <p:spPr>
          <a:xfrm>
            <a:off x="900000" y="1044000"/>
            <a:ext cx="9180000" cy="0"/>
          </a:xfrm>
          <a:prstGeom prst="line">
            <a:avLst/>
          </a:prstGeom>
          <a:ln cap="rnd" w="36000">
            <a:solidFill>
              <a:srgbClr val="8c769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000" rIns="108000" tIns="-63000" bIns="-63000" anchor="ctr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" name=""/>
          <p:cNvSpPr/>
          <p:nvPr/>
        </p:nvSpPr>
        <p:spPr>
          <a:xfrm>
            <a:off x="900000" y="972000"/>
            <a:ext cx="9180000" cy="0"/>
          </a:xfrm>
          <a:prstGeom prst="line">
            <a:avLst/>
          </a:prstGeom>
          <a:ln cap="rnd" w="36000">
            <a:solidFill>
              <a:srgbClr val="8c769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000" rIns="108000" tIns="-63000" bIns="-63000" anchor="ctr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" name=""/>
          <p:cNvSpPr txBox="1"/>
          <p:nvPr/>
        </p:nvSpPr>
        <p:spPr>
          <a:xfrm>
            <a:off x="1215000" y="2295000"/>
            <a:ext cx="5265000" cy="1800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Flexibility: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Bitbucket supports both Git and Mercurial, allowing teams to choose the version control system that best fits their workflow.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"/>
          <p:cNvSpPr/>
          <p:nvPr/>
        </p:nvSpPr>
        <p:spPr>
          <a:xfrm>
            <a:off x="540000" y="0"/>
            <a:ext cx="360000" cy="5670000"/>
          </a:xfrm>
          <a:prstGeom prst="rect">
            <a:avLst/>
          </a:prstGeom>
          <a:solidFill>
            <a:srgbClr val="8c769d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GB" sz="1800" spc="-1" strike="noStrike" baseline="-800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7" name=""/>
          <p:cNvSpPr/>
          <p:nvPr/>
        </p:nvSpPr>
        <p:spPr>
          <a:xfrm>
            <a:off x="360000" y="0"/>
            <a:ext cx="360000" cy="5670000"/>
          </a:xfrm>
          <a:prstGeom prst="rect">
            <a:avLst/>
          </a:prstGeom>
          <a:solidFill>
            <a:srgbClr val="7c4f9d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GB" sz="1800" spc="-1" strike="noStrike" baseline="-800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8" name=""/>
          <p:cNvSpPr/>
          <p:nvPr/>
        </p:nvSpPr>
        <p:spPr>
          <a:xfrm>
            <a:off x="180000" y="0"/>
            <a:ext cx="360000" cy="5670000"/>
          </a:xfrm>
          <a:prstGeom prst="rect">
            <a:avLst/>
          </a:prstGeom>
          <a:solidFill>
            <a:srgbClr val="6b279d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GB" sz="1800" spc="-1" strike="noStrike" baseline="-800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9" name=""/>
          <p:cNvSpPr/>
          <p:nvPr/>
        </p:nvSpPr>
        <p:spPr>
          <a:xfrm>
            <a:off x="0" y="0"/>
            <a:ext cx="360000" cy="5670000"/>
          </a:xfrm>
          <a:prstGeom prst="rect">
            <a:avLst/>
          </a:prstGeom>
          <a:solidFill>
            <a:srgbClr val="5a009d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GB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0" name=""/>
          <p:cNvSpPr txBox="1"/>
          <p:nvPr/>
        </p:nvSpPr>
        <p:spPr>
          <a:xfrm>
            <a:off x="2115000" y="2293920"/>
            <a:ext cx="5985000" cy="752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/>
            <a:r>
              <a:rPr b="1" lang="en-GB" sz="2600" spc="-1" strike="noStrike">
                <a:solidFill>
                  <a:srgbClr val="000000"/>
                </a:solidFill>
                <a:latin typeface="MS PGothic"/>
              </a:rPr>
              <a:t>Thank You!</a:t>
            </a:r>
            <a:endParaRPr b="0" lang="en-GB" sz="2600" spc="-1" strike="noStrike">
              <a:solidFill>
                <a:srgbClr val="000000"/>
              </a:solidFill>
              <a:latin typeface="Arial"/>
            </a:endParaRPr>
          </a:p>
          <a:p>
            <a:pPr algn="ctr"/>
            <a:r>
              <a:rPr b="1" lang="en-GB" sz="2600" spc="-1" strike="noStrike">
                <a:solidFill>
                  <a:srgbClr val="000000"/>
                </a:solidFill>
                <a:latin typeface="MS PGothic"/>
              </a:rPr>
              <a:t>	</a:t>
            </a:r>
            <a:r>
              <a:rPr b="1" lang="en-GB" sz="2600" spc="-1" strike="noStrike">
                <a:solidFill>
                  <a:srgbClr val="000000"/>
                </a:solidFill>
                <a:latin typeface="MS PGothic"/>
              </a:rPr>
              <a:t>	</a:t>
            </a:r>
            <a:r>
              <a:rPr b="1" lang="en-GB" sz="2600" spc="-1" strike="noStrike">
                <a:solidFill>
                  <a:srgbClr val="000000"/>
                </a:solidFill>
                <a:latin typeface="MS PGothic"/>
              </a:rPr>
              <a:t>	</a:t>
            </a:r>
            <a:r>
              <a:rPr b="1" lang="en-GB" sz="2600" spc="-1" strike="noStrike">
                <a:solidFill>
                  <a:srgbClr val="000000"/>
                </a:solidFill>
                <a:latin typeface="MS PGothic"/>
              </a:rPr>
              <a:t>	</a:t>
            </a:r>
            <a:r>
              <a:rPr b="1" lang="en-GB" sz="2600" spc="-1" strike="noStrike">
                <a:solidFill>
                  <a:srgbClr val="000000"/>
                </a:solidFill>
                <a:latin typeface="MS PGothic"/>
              </a:rPr>
              <a:t>	</a:t>
            </a:r>
            <a:r>
              <a:rPr b="1" lang="en-GB" sz="2600" spc="-1" strike="noStrike">
                <a:solidFill>
                  <a:srgbClr val="000000"/>
                </a:solidFill>
                <a:latin typeface="MS PGothic"/>
              </a:rPr>
              <a:t>	</a:t>
            </a:r>
            <a:r>
              <a:rPr b="1" lang="en-GB" sz="2600" spc="-1" strike="noStrike">
                <a:solidFill>
                  <a:srgbClr val="000000"/>
                </a:solidFill>
                <a:latin typeface="MS PGothic"/>
              </a:rPr>
              <a:t>	</a:t>
            </a:r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- Nisanth Saravanan.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235</TotalTime>
  <Application>LibreOffice/24.2.7.2$Windows_X86_64 LibreOffice_project/ee3885777aa7032db5a9b65deec9457448a91162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2025-03-06T14:11:15Z</dcterms:created>
  <dc:creator/>
  <dc:description/>
  <dc:language>en-GB</dc:language>
  <cp:lastModifiedBy/>
  <dcterms:modified xsi:type="dcterms:W3CDTF">2025-03-13T14:19:55Z</dcterms:modified>
  <cp:revision>55</cp:revision>
  <dc:subject/>
  <dc:title/>
</cp:coreProperties>
</file>