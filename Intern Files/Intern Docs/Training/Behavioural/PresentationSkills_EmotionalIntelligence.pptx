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svg" ContentType="image/svg"/>
  <Override PartName="/ppt/media/image10.png" ContentType="image/png"/>
  <Override PartName="/ppt/media/image11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3" r:id="rId5"/>
    <p:sldMasterId id="2147483654" r:id="rId6"/>
    <p:sldMasterId id="2147483655" r:id="rId7"/>
    <p:sldMasterId id="2147483656" r:id="rId8"/>
    <p:sldMasterId id="2147483658" r:id="rId9"/>
    <p:sldMasterId id="2147483660" r:id="rId10"/>
    <p:sldMasterId id="2147483662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9144000" cy="5145088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ngle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1982B0E-8AF5-4E76-A709-BDB4547B0E57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ngle column text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6633CC2-EA5F-4C65-B574-B2901619FAF8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 and image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EF1C7D-0B19-4EA2-AB8B-95B7B90D6D3F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lumn text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66F6B8E-EE47-4575-9371-34AA39C9375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5.png"/><Relationship Id="rId3" Type="http://schemas.openxmlformats.org/officeDocument/2006/relationships/hyperlink" Target="https://www.relevantz.com/" TargetMode="External"/><Relationship Id="rId4" Type="http://schemas.openxmlformats.org/officeDocument/2006/relationships/hyperlink" Target="https://www.linkedin.com/company/relevantz" TargetMode="External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3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5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8;p2" descr=""/>
          <p:cNvPicPr/>
          <p:nvPr/>
        </p:nvPicPr>
        <p:blipFill>
          <a:blip r:embed="rId2"/>
          <a:stretch/>
        </p:blipFill>
        <p:spPr>
          <a:xfrm>
            <a:off x="456840" y="494640"/>
            <a:ext cx="1773720" cy="412920"/>
          </a:xfrm>
          <a:prstGeom prst="rect">
            <a:avLst/>
          </a:prstGeom>
          <a:ln w="0">
            <a:noFill/>
          </a:ln>
        </p:spPr>
      </p:pic>
      <p:sp>
        <p:nvSpPr>
          <p:cNvPr id="1" name="Google Shape;10;p2"/>
          <p:cNvSpPr/>
          <p:nvPr/>
        </p:nvSpPr>
        <p:spPr>
          <a:xfrm>
            <a:off x="4288320" y="4549680"/>
            <a:ext cx="44272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15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chemeClr val="accent1"/>
                </a:solidFill>
                <a:latin typeface="Calibri"/>
                <a:ea typeface="Proxima Nova"/>
              </a:rPr>
              <a:t>© 2025 Relevantz Technology Services, Inc. All rights reserved.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Google Shape;11;p2" descr=""/>
          <p:cNvPicPr/>
          <p:nvPr/>
        </p:nvPicPr>
        <p:blipFill>
          <a:blip r:embed="rId3"/>
          <a:stretch/>
        </p:blipFill>
        <p:spPr>
          <a:xfrm>
            <a:off x="0" y="1440360"/>
            <a:ext cx="3183120" cy="3701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;p3" descr=""/>
          <p:cNvPicPr/>
          <p:nvPr/>
        </p:nvPicPr>
        <p:blipFill>
          <a:blip r:embed="rId2"/>
          <a:stretch/>
        </p:blipFill>
        <p:spPr>
          <a:xfrm>
            <a:off x="664560" y="4769640"/>
            <a:ext cx="857880" cy="163440"/>
          </a:xfrm>
          <a:prstGeom prst="rect">
            <a:avLst/>
          </a:prstGeom>
          <a:ln w="0">
            <a:noFill/>
          </a:ln>
        </p:spPr>
      </p:pic>
      <p:pic>
        <p:nvPicPr>
          <p:cNvPr id="8" name="Google Shape;19;p3" descr=""/>
          <p:cNvPicPr/>
          <p:nvPr/>
        </p:nvPicPr>
        <p:blipFill>
          <a:blip r:embed="rId3"/>
          <a:stretch/>
        </p:blipFill>
        <p:spPr>
          <a:xfrm>
            <a:off x="0" y="4689000"/>
            <a:ext cx="613440" cy="456120"/>
          </a:xfrm>
          <a:prstGeom prst="rect">
            <a:avLst/>
          </a:prstGeom>
          <a:ln w="0">
            <a:noFill/>
          </a:ln>
        </p:spPr>
      </p:pic>
      <p:sp>
        <p:nvSpPr>
          <p:cNvPr id="9" name="Google Shape;33;p5"/>
          <p:cNvSpPr/>
          <p:nvPr/>
        </p:nvSpPr>
        <p:spPr>
          <a:xfrm>
            <a:off x="3781080" y="4731480"/>
            <a:ext cx="160272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sldNum" idx="1"/>
          </p:nvPr>
        </p:nvSpPr>
        <p:spPr>
          <a:xfrm>
            <a:off x="8533440" y="4731480"/>
            <a:ext cx="463320" cy="238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E49301-9A23-4C57-A0F4-13F567843D49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5;p4" descr=""/>
          <p:cNvPicPr/>
          <p:nvPr/>
        </p:nvPicPr>
        <p:blipFill>
          <a:blip r:embed="rId2"/>
          <a:stretch/>
        </p:blipFill>
        <p:spPr>
          <a:xfrm>
            <a:off x="664560" y="4769640"/>
            <a:ext cx="857880" cy="163440"/>
          </a:xfrm>
          <a:prstGeom prst="rect">
            <a:avLst/>
          </a:prstGeom>
          <a:ln w="0">
            <a:noFill/>
          </a:ln>
        </p:spPr>
      </p:pic>
      <p:pic>
        <p:nvPicPr>
          <p:cNvPr id="14" name="Google Shape;28;p4" descr=""/>
          <p:cNvPicPr/>
          <p:nvPr/>
        </p:nvPicPr>
        <p:blipFill>
          <a:blip r:embed="rId3"/>
          <a:stretch/>
        </p:blipFill>
        <p:spPr>
          <a:xfrm>
            <a:off x="0" y="4689000"/>
            <a:ext cx="613440" cy="456120"/>
          </a:xfrm>
          <a:prstGeom prst="rect">
            <a:avLst/>
          </a:prstGeom>
          <a:ln w="0">
            <a:noFill/>
          </a:ln>
        </p:spPr>
      </p:pic>
      <p:sp>
        <p:nvSpPr>
          <p:cNvPr id="15" name="Google Shape;33;p5"/>
          <p:cNvSpPr/>
          <p:nvPr/>
        </p:nvSpPr>
        <p:spPr>
          <a:xfrm>
            <a:off x="3781080" y="4731480"/>
            <a:ext cx="160272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Google Shape;29;p5"/>
          <p:cNvSpPr/>
          <p:nvPr/>
        </p:nvSpPr>
        <p:spPr>
          <a:xfrm>
            <a:off x="4670640" y="959040"/>
            <a:ext cx="40222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sldNum" idx="2"/>
          </p:nvPr>
        </p:nvSpPr>
        <p:spPr>
          <a:xfrm>
            <a:off x="8533440" y="4731480"/>
            <a:ext cx="463320" cy="238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70B76B-9075-4F3F-969D-455CADFFC4F2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35;p5" descr=""/>
          <p:cNvPicPr/>
          <p:nvPr/>
        </p:nvPicPr>
        <p:blipFill>
          <a:blip r:embed="rId2"/>
          <a:stretch/>
        </p:blipFill>
        <p:spPr>
          <a:xfrm>
            <a:off x="664560" y="4769640"/>
            <a:ext cx="857880" cy="163440"/>
          </a:xfrm>
          <a:prstGeom prst="rect">
            <a:avLst/>
          </a:prstGeom>
          <a:ln w="0">
            <a:noFill/>
          </a:ln>
        </p:spPr>
      </p:pic>
      <p:pic>
        <p:nvPicPr>
          <p:cNvPr id="21" name="Google Shape;37;p5" descr=""/>
          <p:cNvPicPr/>
          <p:nvPr/>
        </p:nvPicPr>
        <p:blipFill>
          <a:blip r:embed="rId3"/>
          <a:stretch/>
        </p:blipFill>
        <p:spPr>
          <a:xfrm>
            <a:off x="0" y="4689000"/>
            <a:ext cx="613440" cy="456120"/>
          </a:xfrm>
          <a:prstGeom prst="rect">
            <a:avLst/>
          </a:prstGeom>
          <a:ln w="0">
            <a:noFill/>
          </a:ln>
        </p:spPr>
      </p:pic>
      <p:sp>
        <p:nvSpPr>
          <p:cNvPr id="22" name="Google Shape;33;p5"/>
          <p:cNvSpPr/>
          <p:nvPr/>
        </p:nvSpPr>
        <p:spPr>
          <a:xfrm>
            <a:off x="3337560" y="4731480"/>
            <a:ext cx="160272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sldNum" idx="3"/>
          </p:nvPr>
        </p:nvSpPr>
        <p:spPr>
          <a:xfrm>
            <a:off x="8515800" y="4731480"/>
            <a:ext cx="463320" cy="238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A33C07-859B-4D00-B14A-36A975B97BFA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41;p6"/>
          <p:cNvSpPr/>
          <p:nvPr/>
        </p:nvSpPr>
        <p:spPr>
          <a:xfrm>
            <a:off x="895680" y="1427400"/>
            <a:ext cx="1436760" cy="1437120"/>
          </a:xfrm>
          <a:prstGeom prst="donut">
            <a:avLst>
              <a:gd name="adj" fmla="val 5329"/>
            </a:avLst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Calibri"/>
              <a:ea typeface="Arial"/>
            </a:endParaRPr>
          </a:p>
        </p:txBody>
      </p:sp>
      <p:sp>
        <p:nvSpPr>
          <p:cNvPr id="27" name="Google Shape;44;p6"/>
          <p:cNvSpPr/>
          <p:nvPr/>
        </p:nvSpPr>
        <p:spPr>
          <a:xfrm>
            <a:off x="3858840" y="1427400"/>
            <a:ext cx="1436760" cy="1437120"/>
          </a:xfrm>
          <a:prstGeom prst="donut">
            <a:avLst>
              <a:gd name="adj" fmla="val 5329"/>
            </a:avLst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Calibri"/>
              <a:ea typeface="Arial"/>
            </a:endParaRPr>
          </a:p>
        </p:txBody>
      </p:sp>
      <p:sp>
        <p:nvSpPr>
          <p:cNvPr id="28" name="Google Shape;47;p6"/>
          <p:cNvSpPr/>
          <p:nvPr/>
        </p:nvSpPr>
        <p:spPr>
          <a:xfrm>
            <a:off x="6793560" y="1427400"/>
            <a:ext cx="1436760" cy="1437120"/>
          </a:xfrm>
          <a:prstGeom prst="donut">
            <a:avLst>
              <a:gd name="adj" fmla="val 5329"/>
            </a:avLst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Calibri"/>
              <a:ea typeface="Arial"/>
            </a:endParaRPr>
          </a:p>
        </p:txBody>
      </p:sp>
      <p:pic>
        <p:nvPicPr>
          <p:cNvPr id="29" name="Google Shape;50;p6" descr=""/>
          <p:cNvPicPr/>
          <p:nvPr/>
        </p:nvPicPr>
        <p:blipFill>
          <a:blip r:embed="rId2"/>
          <a:stretch/>
        </p:blipFill>
        <p:spPr>
          <a:xfrm>
            <a:off x="664560" y="4769640"/>
            <a:ext cx="857880" cy="163440"/>
          </a:xfrm>
          <a:prstGeom prst="rect">
            <a:avLst/>
          </a:prstGeom>
          <a:ln w="0">
            <a:noFill/>
          </a:ln>
        </p:spPr>
      </p:pic>
      <p:pic>
        <p:nvPicPr>
          <p:cNvPr id="30" name="Google Shape;53;p6" descr=""/>
          <p:cNvPicPr/>
          <p:nvPr/>
        </p:nvPicPr>
        <p:blipFill>
          <a:blip r:embed="rId3"/>
          <a:stretch/>
        </p:blipFill>
        <p:spPr>
          <a:xfrm>
            <a:off x="0" y="4689000"/>
            <a:ext cx="613440" cy="456120"/>
          </a:xfrm>
          <a:prstGeom prst="rect">
            <a:avLst/>
          </a:prstGeom>
          <a:ln w="0">
            <a:noFill/>
          </a:ln>
        </p:spPr>
      </p:pic>
      <p:sp>
        <p:nvSpPr>
          <p:cNvPr id="31" name="Google Shape;33;p5"/>
          <p:cNvSpPr/>
          <p:nvPr/>
        </p:nvSpPr>
        <p:spPr>
          <a:xfrm>
            <a:off x="3781080" y="4731480"/>
            <a:ext cx="160272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sldNum" idx="4"/>
          </p:nvPr>
        </p:nvSpPr>
        <p:spPr>
          <a:xfrm>
            <a:off x="8515800" y="4731480"/>
            <a:ext cx="463320" cy="238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500D83-7106-4766-916E-25FF7B009CA8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57;p7"/>
          <p:cNvSpPr/>
          <p:nvPr/>
        </p:nvSpPr>
        <p:spPr>
          <a:xfrm flipH="1" rot="10800000">
            <a:off x="456120" y="915120"/>
            <a:ext cx="4768200" cy="26280"/>
          </a:xfrm>
          <a:prstGeom prst="rect">
            <a:avLst/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Calibri"/>
              <a:ea typeface="Proxima Nova"/>
            </a:endParaRPr>
          </a:p>
        </p:txBody>
      </p:sp>
      <p:pic>
        <p:nvPicPr>
          <p:cNvPr id="36" name="Google Shape;59;p7" descr=""/>
          <p:cNvPicPr/>
          <p:nvPr/>
        </p:nvPicPr>
        <p:blipFill>
          <a:blip r:embed="rId2"/>
          <a:stretch/>
        </p:blipFill>
        <p:spPr>
          <a:xfrm>
            <a:off x="664560" y="4769640"/>
            <a:ext cx="857880" cy="163440"/>
          </a:xfrm>
          <a:prstGeom prst="rect">
            <a:avLst/>
          </a:prstGeom>
          <a:ln w="0">
            <a:noFill/>
          </a:ln>
        </p:spPr>
      </p:pic>
      <p:pic>
        <p:nvPicPr>
          <p:cNvPr id="37" name="Google Shape;60;p7" descr=""/>
          <p:cNvPicPr/>
          <p:nvPr/>
        </p:nvPicPr>
        <p:blipFill>
          <a:blip r:embed="rId3"/>
          <a:stretch/>
        </p:blipFill>
        <p:spPr>
          <a:xfrm>
            <a:off x="0" y="4689000"/>
            <a:ext cx="613440" cy="456120"/>
          </a:xfrm>
          <a:prstGeom prst="rect">
            <a:avLst/>
          </a:prstGeom>
          <a:ln w="0">
            <a:noFill/>
          </a:ln>
        </p:spPr>
      </p:pic>
      <p:grpSp>
        <p:nvGrpSpPr>
          <p:cNvPr id="38" name="Google Shape;61;p7"/>
          <p:cNvGrpSpPr/>
          <p:nvPr/>
        </p:nvGrpSpPr>
        <p:grpSpPr>
          <a:xfrm>
            <a:off x="6506280" y="720"/>
            <a:ext cx="2718360" cy="5019480"/>
            <a:chOff x="6506280" y="720"/>
            <a:chExt cx="2718360" cy="5019480"/>
          </a:xfrm>
        </p:grpSpPr>
        <p:sp>
          <p:nvSpPr>
            <p:cNvPr id="39" name="Google Shape;62;p7"/>
            <p:cNvSpPr/>
            <p:nvPr/>
          </p:nvSpPr>
          <p:spPr>
            <a:xfrm rot="10800000">
              <a:off x="7688880" y="720"/>
              <a:ext cx="1454400" cy="2336400"/>
            </a:xfrm>
            <a:prstGeom prst="rtTriangle">
              <a:avLst/>
            </a:prstGeom>
            <a:gradFill rotWithShape="0"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GB" sz="1400" spc="-1" strike="noStrike">
                <a:solidFill>
                  <a:srgbClr val="000000"/>
                </a:solidFill>
                <a:latin typeface="Calibri"/>
                <a:ea typeface="Arial"/>
              </a:endParaRPr>
            </a:p>
          </p:txBody>
        </p:sp>
        <p:sp>
          <p:nvSpPr>
            <p:cNvPr id="40" name="Google Shape;63;p7"/>
            <p:cNvSpPr/>
            <p:nvPr/>
          </p:nvSpPr>
          <p:spPr>
            <a:xfrm rot="16200000">
              <a:off x="5940000" y="1735560"/>
              <a:ext cx="3850920" cy="271836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GB" sz="1400" spc="-1" strike="noStrike">
                <a:solidFill>
                  <a:srgbClr val="000000"/>
                </a:solidFill>
                <a:latin typeface="Calibri"/>
                <a:ea typeface="Arial"/>
              </a:endParaRPr>
            </a:p>
          </p:txBody>
        </p:sp>
      </p:grp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65;p8"/>
          <p:cNvSpPr/>
          <p:nvPr/>
        </p:nvSpPr>
        <p:spPr>
          <a:xfrm>
            <a:off x="2171880" y="1456560"/>
            <a:ext cx="526104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4400" spc="-1" strike="noStrike">
                <a:solidFill>
                  <a:schemeClr val="accent1"/>
                </a:solidFill>
                <a:latin typeface="Calibri"/>
                <a:ea typeface="Proxima Nova"/>
              </a:rPr>
              <a:t>THANK YOU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Google Shape;67;p8" descr=""/>
          <p:cNvPicPr/>
          <p:nvPr/>
        </p:nvPicPr>
        <p:blipFill>
          <a:blip r:embed="rId2"/>
          <a:srcRect l="75945" t="0" r="0" b="53046"/>
          <a:stretch/>
        </p:blipFill>
        <p:spPr>
          <a:xfrm>
            <a:off x="0" y="3412080"/>
            <a:ext cx="2048040" cy="1730520"/>
          </a:xfrm>
          <a:prstGeom prst="rect">
            <a:avLst/>
          </a:prstGeom>
          <a:ln w="0">
            <a:noFill/>
          </a:ln>
        </p:spPr>
      </p:pic>
      <p:sp>
        <p:nvSpPr>
          <p:cNvPr id="45" name="Google Shape;68;p8"/>
          <p:cNvSpPr/>
          <p:nvPr/>
        </p:nvSpPr>
        <p:spPr>
          <a:xfrm>
            <a:off x="2165400" y="3363120"/>
            <a:ext cx="6487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1"/>
                </a:solidFill>
                <a:latin typeface="Calibri"/>
                <a:ea typeface="Proxima Nova Semibold"/>
              </a:rPr>
              <a:t>About Relevantz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Arial"/>
              </a:rPr>
              <a:t>Relevantz Technology Services Inc. has been delivering relevant technology solutions for leading enterprises and ISVs for over 25+ years. Our team of 1200+ software engineers across 4 global offices serves customers across the finance, healthcare, insurance, media, telecom, retail, and technology sectors. Learn more at </a:t>
            </a:r>
            <a:r>
              <a:rPr b="0" lang="en-US" sz="1000" spc="-1" strike="noStrike" u="sng">
                <a:solidFill>
                  <a:schemeClr val="accent1"/>
                </a:solidFill>
                <a:uFillTx/>
                <a:latin typeface="Calibri"/>
                <a:ea typeface="Arial"/>
                <a:hlinkClick r:id="rId3"/>
              </a:rPr>
              <a:t>www.relevantz.com</a:t>
            </a:r>
            <a:r>
              <a:rPr b="0" lang="en-US" sz="1000" spc="-1" strike="noStrike">
                <a:solidFill>
                  <a:schemeClr val="accent1"/>
                </a:solidFill>
                <a:latin typeface="Calibri"/>
                <a:ea typeface="Arial"/>
              </a:rPr>
              <a:t> </a:t>
            </a: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Arial"/>
              </a:rPr>
              <a:t>or </a:t>
            </a:r>
            <a:r>
              <a:rPr b="0" lang="en-US" sz="1000" spc="-1" strike="noStrike" u="sng">
                <a:solidFill>
                  <a:schemeClr val="accent1"/>
                </a:solidFill>
                <a:uFillTx/>
                <a:latin typeface="Calibri"/>
                <a:ea typeface="Arial"/>
                <a:hlinkClick r:id="rId4"/>
              </a:rPr>
              <a:t>@relevantztech</a:t>
            </a: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Arial"/>
              </a:rPr>
              <a:t>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tabLst>
                <a:tab algn="l" pos="0"/>
              </a:tabLst>
            </a:pPr>
            <a:r>
              <a:rPr b="0" lang="en" sz="1000" spc="-1" strike="noStrike">
                <a:solidFill>
                  <a:srgbClr val="000000"/>
                </a:solidFill>
                <a:latin typeface="Calibri"/>
                <a:ea typeface="Proxima Nova"/>
              </a:rPr>
              <a:t>© 2025 Relevantz Technology Services, Inc. All rights reserved.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Google Shape;69;p8"/>
          <p:cNvSpPr/>
          <p:nvPr/>
        </p:nvSpPr>
        <p:spPr>
          <a:xfrm>
            <a:off x="2165760" y="3057480"/>
            <a:ext cx="6491160" cy="27000"/>
          </a:xfrm>
          <a:prstGeom prst="rect">
            <a:avLst/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680" bIns="1368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Calibri"/>
              <a:ea typeface="Proxima Nova"/>
            </a:endParaRPr>
          </a:p>
        </p:txBody>
      </p:sp>
      <p:pic>
        <p:nvPicPr>
          <p:cNvPr id="47" name="Google Shape;70;p8" descr=""/>
          <p:cNvPicPr/>
          <p:nvPr/>
        </p:nvPicPr>
        <p:blipFill>
          <a:blip r:embed="rId5"/>
          <a:stretch/>
        </p:blipFill>
        <p:spPr>
          <a:xfrm>
            <a:off x="6869160" y="422640"/>
            <a:ext cx="1784520" cy="414720"/>
          </a:xfrm>
          <a:prstGeom prst="rect">
            <a:avLst/>
          </a:prstGeom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6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16;p3" descr=""/>
          <p:cNvPicPr/>
          <p:nvPr/>
        </p:nvPicPr>
        <p:blipFill>
          <a:blip r:embed="rId2"/>
          <a:stretch/>
        </p:blipFill>
        <p:spPr>
          <a:xfrm>
            <a:off x="664560" y="4769640"/>
            <a:ext cx="857880" cy="163440"/>
          </a:xfrm>
          <a:prstGeom prst="rect">
            <a:avLst/>
          </a:prstGeom>
          <a:ln w="0">
            <a:noFill/>
          </a:ln>
        </p:spPr>
      </p:pic>
      <p:pic>
        <p:nvPicPr>
          <p:cNvPr id="51" name="Google Shape;19;p3" descr=""/>
          <p:cNvPicPr/>
          <p:nvPr/>
        </p:nvPicPr>
        <p:blipFill>
          <a:blip r:embed="rId3"/>
          <a:stretch/>
        </p:blipFill>
        <p:spPr>
          <a:xfrm>
            <a:off x="0" y="4689000"/>
            <a:ext cx="613440" cy="456120"/>
          </a:xfrm>
          <a:prstGeom prst="rect">
            <a:avLst/>
          </a:prstGeom>
          <a:ln w="0">
            <a:noFill/>
          </a:ln>
        </p:spPr>
      </p:pic>
      <p:sp>
        <p:nvSpPr>
          <p:cNvPr id="52" name="Google Shape;33;p5"/>
          <p:cNvSpPr/>
          <p:nvPr/>
        </p:nvSpPr>
        <p:spPr>
          <a:xfrm>
            <a:off x="3781080" y="4731480"/>
            <a:ext cx="160272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sldNum" idx="5"/>
          </p:nvPr>
        </p:nvSpPr>
        <p:spPr>
          <a:xfrm>
            <a:off x="8533440" y="4731480"/>
            <a:ext cx="463320" cy="238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C3E10B-354E-42A4-B178-2D80543CC499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35;p5" descr=""/>
          <p:cNvPicPr/>
          <p:nvPr/>
        </p:nvPicPr>
        <p:blipFill>
          <a:blip r:embed="rId2"/>
          <a:stretch/>
        </p:blipFill>
        <p:spPr>
          <a:xfrm>
            <a:off x="664560" y="4769640"/>
            <a:ext cx="857880" cy="163440"/>
          </a:xfrm>
          <a:prstGeom prst="rect">
            <a:avLst/>
          </a:prstGeom>
          <a:ln w="0">
            <a:noFill/>
          </a:ln>
        </p:spPr>
      </p:pic>
      <p:pic>
        <p:nvPicPr>
          <p:cNvPr id="57" name="Google Shape;37;p5" descr=""/>
          <p:cNvPicPr/>
          <p:nvPr/>
        </p:nvPicPr>
        <p:blipFill>
          <a:blip r:embed="rId3"/>
          <a:stretch/>
        </p:blipFill>
        <p:spPr>
          <a:xfrm>
            <a:off x="0" y="4689000"/>
            <a:ext cx="613440" cy="456120"/>
          </a:xfrm>
          <a:prstGeom prst="rect">
            <a:avLst/>
          </a:prstGeom>
          <a:ln w="0">
            <a:noFill/>
          </a:ln>
        </p:spPr>
      </p:pic>
      <p:sp>
        <p:nvSpPr>
          <p:cNvPr id="58" name="Google Shape;33;p5"/>
          <p:cNvSpPr/>
          <p:nvPr/>
        </p:nvSpPr>
        <p:spPr>
          <a:xfrm>
            <a:off x="3337560" y="4731480"/>
            <a:ext cx="160272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sldNum" idx="6"/>
          </p:nvPr>
        </p:nvSpPr>
        <p:spPr>
          <a:xfrm>
            <a:off x="8515800" y="4731480"/>
            <a:ext cx="463320" cy="238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02635B-4E19-4DDD-9126-F12B3AF37754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25;p4" descr=""/>
          <p:cNvPicPr/>
          <p:nvPr/>
        </p:nvPicPr>
        <p:blipFill>
          <a:blip r:embed="rId2"/>
          <a:stretch/>
        </p:blipFill>
        <p:spPr>
          <a:xfrm>
            <a:off x="664560" y="4769640"/>
            <a:ext cx="857520" cy="163080"/>
          </a:xfrm>
          <a:prstGeom prst="rect">
            <a:avLst/>
          </a:prstGeom>
          <a:ln w="0">
            <a:noFill/>
          </a:ln>
        </p:spPr>
      </p:pic>
      <p:pic>
        <p:nvPicPr>
          <p:cNvPr id="63" name="Google Shape;28;p4" descr=""/>
          <p:cNvPicPr/>
          <p:nvPr/>
        </p:nvPicPr>
        <p:blipFill>
          <a:blip r:embed="rId3"/>
          <a:stretch/>
        </p:blipFill>
        <p:spPr>
          <a:xfrm>
            <a:off x="0" y="4689000"/>
            <a:ext cx="613080" cy="455760"/>
          </a:xfrm>
          <a:prstGeom prst="rect">
            <a:avLst/>
          </a:prstGeom>
          <a:ln w="0">
            <a:noFill/>
          </a:ln>
        </p:spPr>
      </p:pic>
      <p:sp>
        <p:nvSpPr>
          <p:cNvPr id="64" name="Google Shape;33;p5"/>
          <p:cNvSpPr/>
          <p:nvPr/>
        </p:nvSpPr>
        <p:spPr>
          <a:xfrm>
            <a:off x="3781080" y="4731480"/>
            <a:ext cx="1602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Google Shape;29;p5"/>
          <p:cNvSpPr/>
          <p:nvPr/>
        </p:nvSpPr>
        <p:spPr>
          <a:xfrm>
            <a:off x="4670640" y="959040"/>
            <a:ext cx="402192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sldNum" idx="7"/>
          </p:nvPr>
        </p:nvSpPr>
        <p:spPr>
          <a:xfrm>
            <a:off x="8533440" y="4731480"/>
            <a:ext cx="462960" cy="2383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FA0A66-3E38-41A4-AD2B-0A4665EA2EA0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svg"/><Relationship Id="rId3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www.youtube.com/watch?v=tbKr0EuiVjc" TargetMode="External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612960" y="1713960"/>
            <a:ext cx="5072400" cy="137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800" spc="-1" strike="noStrike">
                <a:solidFill>
                  <a:schemeClr val="accent1"/>
                </a:solidFill>
                <a:latin typeface="Calibri"/>
                <a:ea typeface="Calibri"/>
              </a:rPr>
              <a:t>Emotional Intelligence &amp; Emotional Control: Keys to Workplace Success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3651480" y="3111120"/>
            <a:ext cx="5033880" cy="32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000000"/>
                </a:solidFill>
                <a:latin typeface="Calibri"/>
                <a:ea typeface="Calibri"/>
              </a:rPr>
              <a:t>Enhancing Employee Performance Through Emotional Awareness &amp; Self-Regulation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69440" y="287280"/>
            <a:ext cx="8216280" cy="6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accent1"/>
                </a:solidFill>
                <a:latin typeface="Calibri"/>
                <a:ea typeface="Calibri"/>
              </a:rPr>
              <a:t>Objectives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Google Shape;131;p15"/>
          <p:cNvSpPr/>
          <p:nvPr/>
        </p:nvSpPr>
        <p:spPr>
          <a:xfrm>
            <a:off x="449640" y="933480"/>
            <a:ext cx="8216280" cy="30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Arial"/>
              </a:rPr>
              <a:t>1. Understanding Emotional Intelligence (EI) &amp; Emotional Control (EC):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Arial"/>
              </a:rPr>
              <a:t>	</a:t>
            </a:r>
            <a:r>
              <a:rPr b="0" lang="en-US" sz="14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Arial"/>
              </a:rPr>
              <a:t>Defining both concepts and explore their significance.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Arial"/>
              </a:rPr>
              <a:t>2. Highlighting Their Importance in the Workplace: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Arial"/>
              </a:rPr>
              <a:t>	</a:t>
            </a:r>
            <a:r>
              <a:rPr b="0" lang="en-US" sz="14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Arial"/>
              </a:rPr>
              <a:t>Explaining how EI and EC contribute to professional success.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Arial"/>
              </a:rPr>
              <a:t>3. Enhancing Employee Relationships: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Arial"/>
              </a:rPr>
              <a:t>	</a:t>
            </a:r>
            <a:r>
              <a:rPr b="0" lang="en-US" sz="14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Arial"/>
              </a:rPr>
              <a:t>Emphasis how EI and EC foster better teamwork, communication, and collaboration.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8"/>
          </p:nvPr>
        </p:nvSpPr>
        <p:spPr>
          <a:xfrm>
            <a:off x="8472240" y="4712760"/>
            <a:ext cx="547920" cy="27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CECD1E-1B74-4B8A-B1BF-78761A218DB9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69440" y="287280"/>
            <a:ext cx="8216280" cy="6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accent1"/>
                </a:solidFill>
                <a:latin typeface="Calibri"/>
                <a:ea typeface="Calibri"/>
              </a:rPr>
              <a:t>Emotional Intelligence (EI) &amp; Emotional Control (EC)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Google Shape;130;p 3"/>
          <p:cNvSpPr/>
          <p:nvPr/>
        </p:nvSpPr>
        <p:spPr>
          <a:xfrm>
            <a:off x="459360" y="929520"/>
            <a:ext cx="82162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Arial"/>
              </a:rPr>
              <a:t>The Five Components of Emotional Intelligence: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131;p 3"/>
          <p:cNvSpPr/>
          <p:nvPr/>
        </p:nvSpPr>
        <p:spPr>
          <a:xfrm>
            <a:off x="449640" y="1293480"/>
            <a:ext cx="8216280" cy="30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9"/>
          </p:nvPr>
        </p:nvSpPr>
        <p:spPr>
          <a:xfrm>
            <a:off x="8472240" y="4712760"/>
            <a:ext cx="547920" cy="27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EF12BA-CD71-47D6-A08E-63DED4DE58BF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468000" y="1440000"/>
            <a:ext cx="2998800" cy="2998800"/>
          </a:xfrm>
          <a:prstGeom prst="rect">
            <a:avLst/>
          </a:prstGeom>
          <a:ln w="0">
            <a:noFill/>
          </a:ln>
        </p:spPr>
      </p:pic>
      <p:sp>
        <p:nvSpPr>
          <p:cNvPr id="79" name="Google Shape;141;p 3"/>
          <p:cNvSpPr/>
          <p:nvPr/>
        </p:nvSpPr>
        <p:spPr>
          <a:xfrm>
            <a:off x="5040000" y="1921320"/>
            <a:ext cx="1800000" cy="13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Motivation</a:t>
            </a:r>
            <a:endParaRPr b="1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Social Skills</a:t>
            </a:r>
            <a:endParaRPr b="1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Empathy</a:t>
            </a:r>
            <a:endParaRPr b="1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Self-Awareness</a:t>
            </a:r>
            <a:endParaRPr b="1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Self Regulation</a:t>
            </a:r>
            <a:endParaRPr b="1" lang="en-GB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69440" y="287280"/>
            <a:ext cx="8216280" cy="6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accent1"/>
                </a:solidFill>
                <a:latin typeface="Calibri"/>
                <a:ea typeface="Calibri"/>
              </a:rPr>
              <a:t>Emotional Intelligence (EI) &amp; Emotional Control (EC)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Google Shape;130;p 2"/>
          <p:cNvSpPr/>
          <p:nvPr/>
        </p:nvSpPr>
        <p:spPr>
          <a:xfrm>
            <a:off x="459360" y="929520"/>
            <a:ext cx="82162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Arial"/>
              </a:rPr>
              <a:t>The Five Components of Emotional Intelligence: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31;p 2"/>
          <p:cNvSpPr/>
          <p:nvPr/>
        </p:nvSpPr>
        <p:spPr>
          <a:xfrm>
            <a:off x="449640" y="1293480"/>
            <a:ext cx="8216280" cy="30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10"/>
          </p:nvPr>
        </p:nvSpPr>
        <p:spPr>
          <a:xfrm>
            <a:off x="8472240" y="4712760"/>
            <a:ext cx="547920" cy="27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EF6CC0-21A7-4D33-887E-5E78630F6552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468000" y="1440000"/>
            <a:ext cx="2998800" cy="2998800"/>
          </a:xfrm>
          <a:prstGeom prst="rect">
            <a:avLst/>
          </a:prstGeom>
          <a:ln w="0">
            <a:noFill/>
          </a:ln>
        </p:spPr>
      </p:pic>
      <p:sp>
        <p:nvSpPr>
          <p:cNvPr id="85" name="Google Shape;141;p 1"/>
          <p:cNvSpPr/>
          <p:nvPr/>
        </p:nvSpPr>
        <p:spPr>
          <a:xfrm>
            <a:off x="3600000" y="1849320"/>
            <a:ext cx="5006160" cy="14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283"/>
              </a:spcAft>
              <a:tabLst>
                <a:tab algn="l" pos="40824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Why the Light Bulb Symbol: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83"/>
              </a:spcAft>
              <a:tabLst>
                <a:tab algn="l" pos="40824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The central light bulb represents how these five components work together to create emotional "intelligence" - just like a light bulb illuminates a room, emotional intelligence illuminates our understanding of human interactions and helps us navigate workplace relationships more effectively.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283"/>
              </a:spcAft>
              <a:tabLst>
                <a:tab algn="l" pos="408240"/>
              </a:tabLst>
            </a:pP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rcRect l="20988" t="0" r="25831" b="0"/>
          <a:stretch/>
        </p:blipFill>
        <p:spPr>
          <a:xfrm>
            <a:off x="5040000" y="360"/>
            <a:ext cx="4103640" cy="5144760"/>
          </a:xfrm>
          <a:prstGeom prst="rect">
            <a:avLst/>
          </a:prstGeom>
          <a:ln w="0">
            <a:noFill/>
          </a:ln>
        </p:spPr>
      </p:pic>
      <p:sp>
        <p:nvSpPr>
          <p:cNvPr id="87" name="PlaceHolder 1"/>
          <p:cNvSpPr>
            <a:spLocks noGrp="1"/>
          </p:cNvSpPr>
          <p:nvPr>
            <p:ph type="sldNum" idx="11"/>
          </p:nvPr>
        </p:nvSpPr>
        <p:spPr>
          <a:xfrm>
            <a:off x="8472240" y="4712760"/>
            <a:ext cx="547920" cy="27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8A2F85-3094-4852-9D41-C4DEFAE0AA6B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title"/>
          </p:nvPr>
        </p:nvSpPr>
        <p:spPr>
          <a:xfrm>
            <a:off x="469440" y="287280"/>
            <a:ext cx="4283640" cy="6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accent1"/>
                </a:solidFill>
                <a:latin typeface="Calibri"/>
                <a:ea typeface="Calibri"/>
              </a:rPr>
              <a:t>Emotional Intelligence (EI) &amp; Emotional Control (EC)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158;p 2"/>
          <p:cNvSpPr/>
          <p:nvPr/>
        </p:nvSpPr>
        <p:spPr>
          <a:xfrm>
            <a:off x="459720" y="1189800"/>
            <a:ext cx="37562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Emotional Control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Google Shape;159;p 2"/>
          <p:cNvSpPr/>
          <p:nvPr/>
        </p:nvSpPr>
        <p:spPr>
          <a:xfrm>
            <a:off x="461520" y="1708200"/>
            <a:ext cx="3851640" cy="280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Arial"/>
              </a:rPr>
              <a:t>The ability to manage, regulate, and direct your emotional responses in appropriate ways, especially during challenging or stressful situations. It's about choosing how to respond rather than reacting impulsively.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Num" idx="12"/>
          </p:nvPr>
        </p:nvSpPr>
        <p:spPr>
          <a:xfrm>
            <a:off x="8472240" y="4712760"/>
            <a:ext cx="547920" cy="27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5202B1-BD39-4602-9C86-D1D6475897F8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title"/>
          </p:nvPr>
        </p:nvSpPr>
        <p:spPr>
          <a:xfrm>
            <a:off x="469440" y="287280"/>
            <a:ext cx="4283640" cy="6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accent1"/>
                </a:solidFill>
                <a:latin typeface="Calibri"/>
                <a:ea typeface="Calibri"/>
              </a:rPr>
              <a:t>Emotional Intelligence (EI) &amp; Emotional Control (EC)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Google Shape;158;p 3"/>
          <p:cNvSpPr/>
          <p:nvPr/>
        </p:nvSpPr>
        <p:spPr>
          <a:xfrm>
            <a:off x="459720" y="1189800"/>
            <a:ext cx="37562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Arial"/>
              </a:rPr>
              <a:t>Key Differences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59;p 3"/>
          <p:cNvSpPr/>
          <p:nvPr/>
        </p:nvSpPr>
        <p:spPr>
          <a:xfrm>
            <a:off x="461520" y="1708200"/>
            <a:ext cx="3851640" cy="280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Emotional intelligence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 is about understanding emotions (yours and others').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Emotional control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 is specifically about managing and directing your emotional responses. 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318" t="0" r="30062" b="0"/>
          <a:stretch/>
        </p:blipFill>
        <p:spPr>
          <a:xfrm>
            <a:off x="4320000" y="342360"/>
            <a:ext cx="4824000" cy="4802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69440" y="287280"/>
            <a:ext cx="8216280" cy="6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accent1"/>
                </a:solidFill>
                <a:latin typeface="Calibri"/>
                <a:ea typeface="Calibri"/>
              </a:rPr>
              <a:t>Emotional Intelligence (EI) &amp; Emotional Control (EC)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Google Shape;131;p 4"/>
          <p:cNvSpPr/>
          <p:nvPr/>
        </p:nvSpPr>
        <p:spPr>
          <a:xfrm>
            <a:off x="449640" y="1293480"/>
            <a:ext cx="8216280" cy="30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ldNum" idx="13"/>
          </p:nvPr>
        </p:nvSpPr>
        <p:spPr>
          <a:xfrm>
            <a:off x="8472240" y="4712760"/>
            <a:ext cx="547920" cy="27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9D39B4-92D4-4050-84D5-D6DA76FA0CA9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145880" y="2344680"/>
            <a:ext cx="6852240" cy="456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2400" spc="-1" strike="noStrike">
                <a:solidFill>
                  <a:srgbClr val="000000"/>
                </a:solidFill>
                <a:latin typeface="Times New Roman"/>
                <a:hlinkClick r:id="rId1"/>
              </a:rPr>
              <a:t>What Is Emotional Intelligence? | Business: Explained</a:t>
            </a:r>
            <a:endParaRPr b="0" lang="en-GB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"/>
          <p:cNvPicPr/>
          <p:nvPr/>
        </p:nvPicPr>
        <p:blipFill>
          <a:blip r:embed="rId1"/>
          <a:srcRect l="36185" t="0" r="22245" b="0"/>
          <a:stretch/>
        </p:blipFill>
        <p:spPr>
          <a:xfrm>
            <a:off x="5040000" y="-37800"/>
            <a:ext cx="4103640" cy="5182920"/>
          </a:xfrm>
          <a:prstGeom prst="rect">
            <a:avLst/>
          </a:prstGeom>
          <a:ln w="0">
            <a:noFill/>
          </a:ln>
        </p:spPr>
      </p:pic>
      <p:sp>
        <p:nvSpPr>
          <p:cNvPr id="101" name="PlaceHolder 1"/>
          <p:cNvSpPr>
            <a:spLocks noGrp="1"/>
          </p:cNvSpPr>
          <p:nvPr>
            <p:ph type="sldNum" idx="14"/>
          </p:nvPr>
        </p:nvSpPr>
        <p:spPr>
          <a:xfrm>
            <a:off x="8472240" y="4712760"/>
            <a:ext cx="547560" cy="27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FC1BE5-5C38-46E7-9EAE-CF273A411941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title"/>
          </p:nvPr>
        </p:nvSpPr>
        <p:spPr>
          <a:xfrm>
            <a:off x="469440" y="287280"/>
            <a:ext cx="428328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accent1"/>
                </a:solidFill>
                <a:latin typeface="Calibri"/>
                <a:ea typeface="Calibri"/>
              </a:rPr>
              <a:t>How EI &amp; EC Drive Professional Success?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Google Shape;158;p 4"/>
          <p:cNvSpPr/>
          <p:nvPr/>
        </p:nvSpPr>
        <p:spPr>
          <a:xfrm>
            <a:off x="459720" y="1081800"/>
            <a:ext cx="375588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  <a:ea typeface="Arial"/>
              </a:rPr>
              <a:t>Key advantages: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Google Shape;159;p 4"/>
          <p:cNvSpPr/>
          <p:nvPr/>
        </p:nvSpPr>
        <p:spPr>
          <a:xfrm>
            <a:off x="461520" y="1636200"/>
            <a:ext cx="3851280" cy="28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Enhanced Decision-Making &amp; Problem-Solving.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Accelerated Career Advancement.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Stronger Workplace Relationships &amp; Communication.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Improved Performance &amp; Adaptability.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Measurable Impact on Success.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Competitive Professional Edge.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" descr=""/>
          <p:cNvPicPr/>
          <p:nvPr/>
        </p:nvPicPr>
        <p:blipFill>
          <a:blip r:embed="rId1"/>
          <a:srcRect l="27839" t="0" r="27756" b="0"/>
          <a:stretch/>
        </p:blipFill>
        <p:spPr>
          <a:xfrm>
            <a:off x="5400000" y="1217520"/>
            <a:ext cx="3239640" cy="409284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sldNum" idx="15"/>
          </p:nvPr>
        </p:nvSpPr>
        <p:spPr>
          <a:xfrm>
            <a:off x="8472240" y="4712760"/>
            <a:ext cx="547560" cy="27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D961E7-E256-4826-9735-96738EEA1170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title"/>
          </p:nvPr>
        </p:nvSpPr>
        <p:spPr>
          <a:xfrm>
            <a:off x="469440" y="287280"/>
            <a:ext cx="428328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accent1"/>
                </a:solidFill>
                <a:latin typeface="Calibri"/>
                <a:ea typeface="Calibri"/>
              </a:rPr>
              <a:t>How EI &amp; EC Transform Employee Relationships?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158;p 5"/>
          <p:cNvSpPr/>
          <p:nvPr/>
        </p:nvSpPr>
        <p:spPr>
          <a:xfrm>
            <a:off x="459720" y="1081800"/>
            <a:ext cx="375588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  <a:ea typeface="Arial"/>
              </a:rPr>
              <a:t>Key advantages: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159;p 5"/>
          <p:cNvSpPr/>
          <p:nvPr/>
        </p:nvSpPr>
        <p:spPr>
          <a:xfrm>
            <a:off x="461520" y="1636200"/>
            <a:ext cx="3851280" cy="28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Building Trust Through Emotional Awareness.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Effective Conflict Resolution.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Enhanced Team Communication.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Collaborative Problem-Solving.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Creating Inclusive Work Environment.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Improved Feedback Culture.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Stronger Cross-Functional Partnerships.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Positive Workplace Atmosphere.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69440" y="287280"/>
            <a:ext cx="8216280" cy="6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accent1"/>
                </a:solidFill>
                <a:latin typeface="Calibri"/>
                <a:ea typeface="Calibri"/>
              </a:rPr>
              <a:t>Conclusion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Google Shape;131;p 5"/>
          <p:cNvSpPr/>
          <p:nvPr/>
        </p:nvSpPr>
        <p:spPr>
          <a:xfrm>
            <a:off x="449640" y="933480"/>
            <a:ext cx="8216280" cy="30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Arial"/>
              </a:rPr>
              <a:t>1. EI and EC are essential career skills that will set you apart as interns and future professionals, helping you navigate workplace challenges, build stronger relationships, and accelerate your career growth.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Arial"/>
              </a:rPr>
              <a:t>2. Every workplace interaction is a chance to practice these skills - from handling feedback to collaborating on projects, you're building emotional competencies that will define your long-term professional success.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Arial"/>
              </a:rPr>
              <a:t>3. These skills improve with practice and reflection, so stay self-aware, learn from challenging situations, and remember that your ability to understand and connect with others will become increasingly valuable throughout your career.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ldNum" idx="16"/>
          </p:nvPr>
        </p:nvSpPr>
        <p:spPr>
          <a:xfrm>
            <a:off x="8472240" y="4712760"/>
            <a:ext cx="547920" cy="27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C2B96F-E921-4C6F-831E-61E313CB43D3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ubTitle"/>
          </p:nvPr>
        </p:nvSpPr>
        <p:spPr>
          <a:xfrm>
            <a:off x="2165400" y="2305440"/>
            <a:ext cx="5270760" cy="319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Nisanth Saravanan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LibreOffice/24.2.7.2$Windows_X86_64 LibreOffice_project/ee3885777aa7032db5a9b65deec9457448a91162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2025-06-11T19:29:08Z</dcterms:created>
  <dc:creator/>
  <dc:description/>
  <dc:language>en-GB</dc:language>
  <cp:lastModifiedBy/>
  <dcterms:modified xsi:type="dcterms:W3CDTF">2025-06-11T21:19:29Z</dcterms:modified>
  <cp:revision>12</cp:revision>
  <dc:subject/>
  <dc:title>Relevantz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ContentTypeId">
    <vt:lpwstr>0x010100D48551353E320A478239C7923DF17815</vt:lpwstr>
  </property>
  <property fmtid="{D5CDD505-2E9C-101B-9397-08002B2CF9AE}" pid="4" name="MSIP_Label_defa4170-0d19-0005-0004-bc88714345d2_ActionId">
    <vt:lpwstr>c66ad8e2-d129-43bd-a8ec-5b6df568f088</vt:lpwstr>
  </property>
  <property fmtid="{D5CDD505-2E9C-101B-9397-08002B2CF9AE}" pid="5" name="MSIP_Label_defa4170-0d19-0005-0004-bc88714345d2_ContentBits">
    <vt:lpwstr>0</vt:lpwstr>
  </property>
  <property fmtid="{D5CDD505-2E9C-101B-9397-08002B2CF9AE}" pid="6" name="MSIP_Label_defa4170-0d19-0005-0004-bc88714345d2_Enabled">
    <vt:lpwstr>true</vt:lpwstr>
  </property>
  <property fmtid="{D5CDD505-2E9C-101B-9397-08002B2CF9AE}" pid="7" name="MSIP_Label_defa4170-0d19-0005-0004-bc88714345d2_Method">
    <vt:lpwstr>Standard</vt:lpwstr>
  </property>
  <property fmtid="{D5CDD505-2E9C-101B-9397-08002B2CF9AE}" pid="8" name="MSIP_Label_defa4170-0d19-0005-0004-bc88714345d2_Name">
    <vt:lpwstr>defa4170-0d19-0005-0004-bc88714345d2</vt:lpwstr>
  </property>
  <property fmtid="{D5CDD505-2E9C-101B-9397-08002B2CF9AE}" pid="9" name="MSIP_Label_defa4170-0d19-0005-0004-bc88714345d2_SetDate">
    <vt:lpwstr>2024-04-16T09:14:58Z</vt:lpwstr>
  </property>
  <property fmtid="{D5CDD505-2E9C-101B-9397-08002B2CF9AE}" pid="10" name="MSIP_Label_defa4170-0d19-0005-0004-bc88714345d2_SiteId">
    <vt:lpwstr>fe66d7b1-c17e-4ba8-a08d-2e146117dc7e</vt:lpwstr>
  </property>
  <property fmtid="{D5CDD505-2E9C-101B-9397-08002B2CF9AE}" pid="11" name="Notes">
    <vt:r8>24</vt:r8>
  </property>
  <property fmtid="{D5CDD505-2E9C-101B-9397-08002B2CF9AE}" pid="12" name="Order">
    <vt:r8>12300</vt:r8>
  </property>
  <property fmtid="{D5CDD505-2E9C-101B-9397-08002B2CF9AE}" pid="13" name="PresentationFormat">
    <vt:lpwstr>On-screen Show (16:9)</vt:lpwstr>
  </property>
  <property fmtid="{D5CDD505-2E9C-101B-9397-08002B2CF9AE}" pid="14" name="Slides">
    <vt:r8>24</vt:r8>
  </property>
  <property fmtid="{D5CDD505-2E9C-101B-9397-08002B2CF9AE}" pid="15" name="TriggerFlowInfo">
    <vt:lpwstr/>
  </property>
  <property fmtid="{D5CDD505-2E9C-101B-9397-08002B2CF9AE}" pid="16" name="_ExtendedDescription">
    <vt:lpwstr/>
  </property>
</Properties>
</file>