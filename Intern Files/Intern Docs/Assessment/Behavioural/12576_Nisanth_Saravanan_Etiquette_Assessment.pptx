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Lst>
  <p:sldIdLst>
    <p:sldId id="256" r:id="rId11"/>
    <p:sldId id="257" r:id="rId12"/>
    <p:sldId id="258" r:id="rId13"/>
    <p:sldId id="259" r:id="rId14"/>
    <p:sldId id="260" r:id="rId15"/>
    <p:sldId id="261" r:id="rId16"/>
    <p:sldId id="262" r:id="rId17"/>
    <p:sldId id="263" r:id="rId18"/>
  </p:sldIdLst>
  <p:sldSz cx="9144000" cy="5145088"/>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457200" y="1203840"/>
            <a:ext cx="8229240" cy="29836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C5C7AFA5-1332-4C66-B69B-B31E02239402}"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3738ABF2-4677-4F98-A772-EBDEDBA0BAF5}"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45758928-94EA-4D51-BAFE-D32EB9C87AAE}"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ography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541C8CAA-3A05-46CE-A97F-59A27B8A377B}"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_">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F3F91D6C-3569-494A-8836-5D4C0208A90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456840" y="494640"/>
            <a:ext cx="1773720" cy="412920"/>
          </a:xfrm>
          <a:prstGeom prst="rect">
            <a:avLst/>
          </a:prstGeom>
          <a:ln w="0">
            <a:noFill/>
          </a:ln>
        </p:spPr>
      </p:pic>
      <p:sp>
        <p:nvSpPr>
          <p:cNvPr id="1" name="Google Shape;10;p2"/>
          <p:cNvSpPr/>
          <p:nvPr/>
        </p:nvSpPr>
        <p:spPr>
          <a:xfrm>
            <a:off x="4288320" y="4549680"/>
            <a:ext cx="4427280" cy="30708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440360"/>
            <a:ext cx="3183120" cy="3701880"/>
          </a:xfrm>
          <a:prstGeom prst="rect">
            <a:avLst/>
          </a:prstGeom>
          <a:ln w="0">
            <a:noFill/>
          </a:ln>
        </p:spPr>
      </p:pic>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664560" y="4769640"/>
            <a:ext cx="857880" cy="163440"/>
          </a:xfrm>
          <a:prstGeom prst="rect">
            <a:avLst/>
          </a:prstGeom>
          <a:ln w="0">
            <a:noFill/>
          </a:ln>
        </p:spPr>
      </p:pic>
      <p:pic>
        <p:nvPicPr>
          <p:cNvPr id="8" name="Google Shape;19;p3" descr=""/>
          <p:cNvPicPr/>
          <p:nvPr/>
        </p:nvPicPr>
        <p:blipFill>
          <a:blip r:embed="rId3"/>
          <a:stretch/>
        </p:blipFill>
        <p:spPr>
          <a:xfrm>
            <a:off x="0" y="4689000"/>
            <a:ext cx="613440" cy="456120"/>
          </a:xfrm>
          <a:prstGeom prst="rect">
            <a:avLst/>
          </a:prstGeom>
          <a:ln w="0">
            <a:noFill/>
          </a:ln>
        </p:spPr>
      </p:pic>
      <p:sp>
        <p:nvSpPr>
          <p:cNvPr id="9"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E0492C4-110E-45DD-80C3-16B839C1F85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25;p4" descr=""/>
          <p:cNvPicPr/>
          <p:nvPr/>
        </p:nvPicPr>
        <p:blipFill>
          <a:blip r:embed="rId2"/>
          <a:stretch/>
        </p:blipFill>
        <p:spPr>
          <a:xfrm>
            <a:off x="664560" y="4769640"/>
            <a:ext cx="857880" cy="163440"/>
          </a:xfrm>
          <a:prstGeom prst="rect">
            <a:avLst/>
          </a:prstGeom>
          <a:ln w="0">
            <a:noFill/>
          </a:ln>
        </p:spPr>
      </p:pic>
      <p:pic>
        <p:nvPicPr>
          <p:cNvPr id="14" name="Google Shape;28;p4" descr=""/>
          <p:cNvPicPr/>
          <p:nvPr/>
        </p:nvPicPr>
        <p:blipFill>
          <a:blip r:embed="rId3"/>
          <a:stretch/>
        </p:blipFill>
        <p:spPr>
          <a:xfrm>
            <a:off x="0" y="4689000"/>
            <a:ext cx="613440" cy="456120"/>
          </a:xfrm>
          <a:prstGeom prst="rect">
            <a:avLst/>
          </a:prstGeom>
          <a:ln w="0">
            <a:noFill/>
          </a:ln>
        </p:spPr>
      </p:pic>
      <p:sp>
        <p:nvSpPr>
          <p:cNvPr id="15"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17" name="PlaceHolder 1"/>
          <p:cNvSpPr>
            <a:spLocks noGrp="1"/>
          </p:cNvSpPr>
          <p:nvPr>
            <p:ph type="sldNum" idx="2"/>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81A1E94-EDC3-4660-8584-5D13B0A48A4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9"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oogle Shape;35;p5" descr=""/>
          <p:cNvPicPr/>
          <p:nvPr/>
        </p:nvPicPr>
        <p:blipFill>
          <a:blip r:embed="rId2"/>
          <a:stretch/>
        </p:blipFill>
        <p:spPr>
          <a:xfrm>
            <a:off x="664560" y="4769640"/>
            <a:ext cx="857880" cy="163440"/>
          </a:xfrm>
          <a:prstGeom prst="rect">
            <a:avLst/>
          </a:prstGeom>
          <a:ln w="0">
            <a:noFill/>
          </a:ln>
        </p:spPr>
      </p:pic>
      <p:pic>
        <p:nvPicPr>
          <p:cNvPr id="21" name="Google Shape;37;p5" descr=""/>
          <p:cNvPicPr/>
          <p:nvPr/>
        </p:nvPicPr>
        <p:blipFill>
          <a:blip r:embed="rId3"/>
          <a:stretch/>
        </p:blipFill>
        <p:spPr>
          <a:xfrm>
            <a:off x="0" y="4689000"/>
            <a:ext cx="613440" cy="456120"/>
          </a:xfrm>
          <a:prstGeom prst="rect">
            <a:avLst/>
          </a:prstGeom>
          <a:ln w="0">
            <a:noFill/>
          </a:ln>
        </p:spPr>
      </p:pic>
      <p:sp>
        <p:nvSpPr>
          <p:cNvPr id="22" name="Google Shape;33;p5"/>
          <p:cNvSpPr/>
          <p:nvPr/>
        </p:nvSpPr>
        <p:spPr>
          <a:xfrm>
            <a:off x="333756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23" name="PlaceHolder 1"/>
          <p:cNvSpPr>
            <a:spLocks noGrp="1"/>
          </p:cNvSpPr>
          <p:nvPr>
            <p:ph type="sldNum" idx="3"/>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7F7ABB4-D418-474C-89BE-6C23D087833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41;p6"/>
          <p:cNvSpPr/>
          <p:nvPr/>
        </p:nvSpPr>
        <p:spPr>
          <a:xfrm>
            <a:off x="89568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7" name="Google Shape;44;p6"/>
          <p:cNvSpPr/>
          <p:nvPr/>
        </p:nvSpPr>
        <p:spPr>
          <a:xfrm>
            <a:off x="385884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8" name="Google Shape;47;p6"/>
          <p:cNvSpPr/>
          <p:nvPr/>
        </p:nvSpPr>
        <p:spPr>
          <a:xfrm>
            <a:off x="679356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pic>
        <p:nvPicPr>
          <p:cNvPr id="29" name="Google Shape;50;p6" descr=""/>
          <p:cNvPicPr/>
          <p:nvPr/>
        </p:nvPicPr>
        <p:blipFill>
          <a:blip r:embed="rId2"/>
          <a:stretch/>
        </p:blipFill>
        <p:spPr>
          <a:xfrm>
            <a:off x="664560" y="4769640"/>
            <a:ext cx="857880" cy="163440"/>
          </a:xfrm>
          <a:prstGeom prst="rect">
            <a:avLst/>
          </a:prstGeom>
          <a:ln w="0">
            <a:noFill/>
          </a:ln>
        </p:spPr>
      </p:pic>
      <p:pic>
        <p:nvPicPr>
          <p:cNvPr id="30" name="Google Shape;53;p6" descr=""/>
          <p:cNvPicPr/>
          <p:nvPr/>
        </p:nvPicPr>
        <p:blipFill>
          <a:blip r:embed="rId3"/>
          <a:stretch/>
        </p:blipFill>
        <p:spPr>
          <a:xfrm>
            <a:off x="0" y="4689000"/>
            <a:ext cx="613440" cy="456120"/>
          </a:xfrm>
          <a:prstGeom prst="rect">
            <a:avLst/>
          </a:prstGeom>
          <a:ln w="0">
            <a:noFill/>
          </a:ln>
        </p:spPr>
      </p:pic>
      <p:sp>
        <p:nvSpPr>
          <p:cNvPr id="31"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2" name="PlaceHolder 1"/>
          <p:cNvSpPr>
            <a:spLocks noGrp="1"/>
          </p:cNvSpPr>
          <p:nvPr>
            <p:ph type="sldNum" idx="4"/>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9CD844AB-7C13-4339-8DF3-EF4F2E714FC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4"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36" name="Google Shape;59;p7" descr=""/>
          <p:cNvPicPr/>
          <p:nvPr/>
        </p:nvPicPr>
        <p:blipFill>
          <a:blip r:embed="rId2"/>
          <a:stretch/>
        </p:blipFill>
        <p:spPr>
          <a:xfrm>
            <a:off x="664560" y="4769640"/>
            <a:ext cx="857880" cy="163440"/>
          </a:xfrm>
          <a:prstGeom prst="rect">
            <a:avLst/>
          </a:prstGeom>
          <a:ln w="0">
            <a:noFill/>
          </a:ln>
        </p:spPr>
      </p:pic>
      <p:pic>
        <p:nvPicPr>
          <p:cNvPr id="37" name="Google Shape;60;p7" descr=""/>
          <p:cNvPicPr/>
          <p:nvPr/>
        </p:nvPicPr>
        <p:blipFill>
          <a:blip r:embed="rId3"/>
          <a:stretch/>
        </p:blipFill>
        <p:spPr>
          <a:xfrm>
            <a:off x="0" y="4689000"/>
            <a:ext cx="613440" cy="456120"/>
          </a:xfrm>
          <a:prstGeom prst="rect">
            <a:avLst/>
          </a:prstGeom>
          <a:ln w="0">
            <a:noFill/>
          </a:ln>
        </p:spPr>
      </p:pic>
      <p:grpSp>
        <p:nvGrpSpPr>
          <p:cNvPr id="38" name="Google Shape;61;p7"/>
          <p:cNvGrpSpPr/>
          <p:nvPr/>
        </p:nvGrpSpPr>
        <p:grpSpPr>
          <a:xfrm>
            <a:off x="6506280" y="720"/>
            <a:ext cx="2718360" cy="5019480"/>
            <a:chOff x="6506280" y="720"/>
            <a:chExt cx="2718360" cy="5019480"/>
          </a:xfrm>
        </p:grpSpPr>
        <p:sp>
          <p:nvSpPr>
            <p:cNvPr id="3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4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Google Shape;65;p8"/>
          <p:cNvSpPr/>
          <p:nvPr/>
        </p:nvSpPr>
        <p:spPr>
          <a:xfrm>
            <a:off x="2171880" y="1456560"/>
            <a:ext cx="5261040" cy="799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4" name="Google Shape;67;p8" descr=""/>
          <p:cNvPicPr/>
          <p:nvPr/>
        </p:nvPicPr>
        <p:blipFill>
          <a:blip r:embed="rId2"/>
          <a:srcRect l="75945" t="0" r="0" b="53046"/>
          <a:stretch/>
        </p:blipFill>
        <p:spPr>
          <a:xfrm>
            <a:off x="0" y="3412080"/>
            <a:ext cx="2048040" cy="1730520"/>
          </a:xfrm>
          <a:prstGeom prst="rect">
            <a:avLst/>
          </a:prstGeom>
          <a:ln w="0">
            <a:noFill/>
          </a:ln>
        </p:spPr>
      </p:pic>
      <p:sp>
        <p:nvSpPr>
          <p:cNvPr id="45" name="Google Shape;68;p8"/>
          <p:cNvSpPr/>
          <p:nvPr/>
        </p:nvSpPr>
        <p:spPr>
          <a:xfrm>
            <a:off x="2165400" y="3363120"/>
            <a:ext cx="6487920" cy="1188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6" name="Google Shape;69;p8"/>
          <p:cNvSpPr/>
          <p:nvPr/>
        </p:nvSpPr>
        <p:spPr>
          <a:xfrm>
            <a:off x="2165760" y="3057480"/>
            <a:ext cx="6491160" cy="2700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680" bIns="13680" anchor="ctr">
            <a:noAutofit/>
          </a:bodyPr>
          <a:p>
            <a:endParaRPr b="0" lang="en-GB" sz="1400" spc="-1" strike="noStrike">
              <a:solidFill>
                <a:srgbClr val="000000"/>
              </a:solidFill>
              <a:latin typeface="Calibri"/>
              <a:ea typeface="Proxima Nova"/>
            </a:endParaRPr>
          </a:p>
        </p:txBody>
      </p:sp>
      <p:pic>
        <p:nvPicPr>
          <p:cNvPr id="47" name="Google Shape;70;p8" descr=""/>
          <p:cNvPicPr/>
          <p:nvPr/>
        </p:nvPicPr>
        <p:blipFill>
          <a:blip r:embed="rId5"/>
          <a:stretch/>
        </p:blipFill>
        <p:spPr>
          <a:xfrm>
            <a:off x="6869160" y="422640"/>
            <a:ext cx="1784520" cy="414720"/>
          </a:xfrm>
          <a:prstGeom prst="rect">
            <a:avLst/>
          </a:prstGeom>
          <a:ln w="0">
            <a:noFill/>
          </a:ln>
        </p:spPr>
      </p:pic>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9"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51" name="Google Shape;59;p7" descr=""/>
          <p:cNvPicPr/>
          <p:nvPr/>
        </p:nvPicPr>
        <p:blipFill>
          <a:blip r:embed="rId2"/>
          <a:stretch/>
        </p:blipFill>
        <p:spPr>
          <a:xfrm>
            <a:off x="664560" y="4769640"/>
            <a:ext cx="857880" cy="163440"/>
          </a:xfrm>
          <a:prstGeom prst="rect">
            <a:avLst/>
          </a:prstGeom>
          <a:ln w="0">
            <a:noFill/>
          </a:ln>
        </p:spPr>
      </p:pic>
      <p:pic>
        <p:nvPicPr>
          <p:cNvPr id="52" name="Google Shape;60;p7" descr=""/>
          <p:cNvPicPr/>
          <p:nvPr/>
        </p:nvPicPr>
        <p:blipFill>
          <a:blip r:embed="rId3"/>
          <a:stretch/>
        </p:blipFill>
        <p:spPr>
          <a:xfrm>
            <a:off x="0" y="4689000"/>
            <a:ext cx="613440" cy="456120"/>
          </a:xfrm>
          <a:prstGeom prst="rect">
            <a:avLst/>
          </a:prstGeom>
          <a:ln w="0">
            <a:noFill/>
          </a:ln>
        </p:spPr>
      </p:pic>
      <p:grpSp>
        <p:nvGrpSpPr>
          <p:cNvPr id="53" name="Google Shape;61;p7"/>
          <p:cNvGrpSpPr/>
          <p:nvPr/>
        </p:nvGrpSpPr>
        <p:grpSpPr>
          <a:xfrm>
            <a:off x="6506280" y="720"/>
            <a:ext cx="2718360" cy="5019480"/>
            <a:chOff x="6506280" y="720"/>
            <a:chExt cx="2718360" cy="5019480"/>
          </a:xfrm>
        </p:grpSpPr>
        <p:sp>
          <p:nvSpPr>
            <p:cNvPr id="54"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55"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7"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8" name="Google Shape;16;p3" descr=""/>
          <p:cNvPicPr/>
          <p:nvPr/>
        </p:nvPicPr>
        <p:blipFill>
          <a:blip r:embed="rId2"/>
          <a:stretch/>
        </p:blipFill>
        <p:spPr>
          <a:xfrm>
            <a:off x="664560" y="4769640"/>
            <a:ext cx="857880" cy="163440"/>
          </a:xfrm>
          <a:prstGeom prst="rect">
            <a:avLst/>
          </a:prstGeom>
          <a:ln w="0">
            <a:noFill/>
          </a:ln>
        </p:spPr>
      </p:pic>
      <p:pic>
        <p:nvPicPr>
          <p:cNvPr id="59" name="Google Shape;19;p3" descr=""/>
          <p:cNvPicPr/>
          <p:nvPr/>
        </p:nvPicPr>
        <p:blipFill>
          <a:blip r:embed="rId3"/>
          <a:stretch/>
        </p:blipFill>
        <p:spPr>
          <a:xfrm>
            <a:off x="0" y="4689000"/>
            <a:ext cx="613440" cy="456120"/>
          </a:xfrm>
          <a:prstGeom prst="rect">
            <a:avLst/>
          </a:prstGeom>
          <a:ln w="0">
            <a:noFill/>
          </a:ln>
        </p:spPr>
      </p:pic>
      <p:sp>
        <p:nvSpPr>
          <p:cNvPr id="60"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1" name="PlaceHolder 1"/>
          <p:cNvSpPr>
            <a:spLocks noGrp="1"/>
          </p:cNvSpPr>
          <p:nvPr>
            <p:ph type="sldNum" idx="5"/>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C657352-1AF3-4A4C-9A4A-7A14DC482BF0}"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2"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3"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3567600" y="2340000"/>
            <a:ext cx="5072400" cy="137016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The Dress Code</a:t>
            </a:r>
            <a:endParaRPr b="0" lang="en-GB" sz="4400" spc="-1" strike="noStrike">
              <a:solidFill>
                <a:srgbClr val="000000"/>
              </a:solidFill>
              <a:latin typeface="Arial"/>
            </a:endParaRPr>
          </a:p>
        </p:txBody>
      </p:sp>
      <p:sp>
        <p:nvSpPr>
          <p:cNvPr id="65" name="PlaceHolder 2"/>
          <p:cNvSpPr>
            <a:spLocks noGrp="1"/>
          </p:cNvSpPr>
          <p:nvPr>
            <p:ph type="subTitle"/>
          </p:nvPr>
        </p:nvSpPr>
        <p:spPr>
          <a:xfrm>
            <a:off x="3651480" y="3111120"/>
            <a:ext cx="5033880" cy="324720"/>
          </a:xfrm>
          <a:prstGeom prst="rect">
            <a:avLst/>
          </a:prstGeom>
          <a:noFill/>
          <a:ln w="0">
            <a:noFill/>
          </a:ln>
        </p:spPr>
        <p:txBody>
          <a:bodyPr lIns="0" rIns="0" tIns="0" bIns="0" anchor="t">
            <a:noAutofit/>
          </a:bodyPr>
          <a:p>
            <a:pPr indent="0">
              <a:lnSpc>
                <a:spcPct val="100000"/>
              </a:lnSpc>
              <a:buNone/>
              <a:tabLst>
                <a:tab algn="l" pos="0"/>
              </a:tabLst>
            </a:pPr>
            <a:r>
              <a:rPr b="0" lang="en" sz="1800" spc="-1" strike="noStrike">
                <a:solidFill>
                  <a:srgbClr val="000000"/>
                </a:solidFill>
                <a:latin typeface="Calibri"/>
                <a:ea typeface="Calibri"/>
              </a:rPr>
              <a:t>A Scenario to Reflect Upon. </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Summary</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Summary</a:t>
            </a:r>
            <a:endParaRPr b="0" lang="en-GB" sz="2400" spc="-1" strike="noStrike">
              <a:solidFill>
                <a:srgbClr val="000000"/>
              </a:solidFill>
              <a:latin typeface="Arial"/>
            </a:endParaRPr>
          </a:p>
        </p:txBody>
      </p:sp>
      <p:sp>
        <p:nvSpPr>
          <p:cNvPr id="68" name="Google Shape;130;p 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The given scenario talks about...</a:t>
            </a:r>
            <a:endParaRPr b="0" lang="en-GB" sz="1800" spc="-1" strike="noStrike">
              <a:solidFill>
                <a:srgbClr val="000000"/>
              </a:solidFill>
              <a:latin typeface="Arial"/>
            </a:endParaRPr>
          </a:p>
        </p:txBody>
      </p:sp>
      <p:sp>
        <p:nvSpPr>
          <p:cNvPr id="69" name="Google Shape;131;p 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A company is well known for their relaxed culture, that also encourages the employees to be more creative and innovative in their work. The company’s CEO values this casual environment of the company.</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But there is one employee in particular who seems to be pushing the boundaries of what can be acceptable as casual yet suited for a professional setting. The employee in question has an extremely casual styling of choice.</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Some find this more comforting while the others find this choice of styling has been damaging the company’s reputation in the client meetings.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While the employees seem to be divided by their opinion towards this, we are asked to take up the role of HR manager to answer a few key questions.</a:t>
            </a:r>
            <a:endParaRPr b="0" lang="en-GB" sz="1400" spc="-1" strike="noStrike">
              <a:solidFill>
                <a:srgbClr val="000000"/>
              </a:solidFill>
              <a:latin typeface="Arial"/>
            </a:endParaRPr>
          </a:p>
        </p:txBody>
      </p:sp>
      <p:sp>
        <p:nvSpPr>
          <p:cNvPr id="70" name="PlaceHolder 2"/>
          <p:cNvSpPr>
            <a:spLocks noGrp="1"/>
          </p:cNvSpPr>
          <p:nvPr>
            <p:ph type="sldNum" idx="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2F59A56-C99D-4CBD-B60C-7D472B2FAD4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456840" y="1069920"/>
            <a:ext cx="4767840" cy="2554560"/>
          </a:xfrm>
          <a:prstGeom prst="rect">
            <a:avLst/>
          </a:prstGeom>
          <a:noFill/>
          <a:ln w="0">
            <a:noFill/>
          </a:ln>
        </p:spPr>
        <p:txBody>
          <a:bodyPr lIns="0" rIns="0" tIns="0" bIns="0" anchor="t">
            <a:noAutofit/>
          </a:bodyPr>
          <a:p>
            <a:pPr indent="0">
              <a:lnSpc>
                <a:spcPct val="100000"/>
              </a:lnSpc>
              <a:buNone/>
              <a:tabLst>
                <a:tab algn="l" pos="0"/>
              </a:tabLst>
            </a:pPr>
            <a:r>
              <a:rPr b="0" lang="en" sz="4000" spc="-1" strike="noStrike">
                <a:solidFill>
                  <a:schemeClr val="accent1"/>
                </a:solidFill>
                <a:latin typeface="Calibri"/>
                <a:ea typeface="Calibri"/>
              </a:rPr>
              <a:t>Q&amp;A</a:t>
            </a:r>
            <a:endParaRPr b="0" lang="en-GB"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Q&amp;A</a:t>
            </a:r>
            <a:endParaRPr b="0" lang="en-GB" sz="2400" spc="-1" strike="noStrike">
              <a:solidFill>
                <a:srgbClr val="000000"/>
              </a:solidFill>
              <a:latin typeface="Arial"/>
            </a:endParaRPr>
          </a:p>
        </p:txBody>
      </p:sp>
      <p:sp>
        <p:nvSpPr>
          <p:cNvPr id="73" name="Google Shape;130;p1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would you say is the actual issue here? </a:t>
            </a:r>
            <a:endParaRPr b="0" lang="en-GB" sz="1800" spc="-1" strike="noStrike">
              <a:solidFill>
                <a:srgbClr val="000000"/>
              </a:solidFill>
              <a:latin typeface="Arial"/>
            </a:endParaRPr>
          </a:p>
        </p:txBody>
      </p:sp>
      <p:sp>
        <p:nvSpPr>
          <p:cNvPr id="74" name="Google Shape;131;p1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The issue here is that the employee in question, Ram, has been pushing the freedom and privileges, that has been granted by the company. </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Ram’s actions has caused confusion among his peers. The confusion is mainly is about whether such decorum is accepted in the company and if so, can they also adapt to such bold styling.</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On the other end of this issue, some employees feel the attire of choice has caused a significant damage to the company’s reputation, and want no such styling to be worn in a professional meeting.</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 core cause of the issue is Ram’s choice of overstepping his privileges </a:t>
            </a:r>
            <a:endParaRPr b="0" lang="en-GB" sz="1400" spc="-1" strike="noStrike">
              <a:solidFill>
                <a:srgbClr val="000000"/>
              </a:solidFill>
              <a:latin typeface="Arial"/>
            </a:endParaRPr>
          </a:p>
        </p:txBody>
      </p:sp>
      <p:sp>
        <p:nvSpPr>
          <p:cNvPr id="75" name="PlaceHolder 2"/>
          <p:cNvSpPr>
            <a:spLocks noGrp="1"/>
          </p:cNvSpPr>
          <p:nvPr>
            <p:ph type="sldNum" idx="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2CBE927-226D-4366-B48D-E0BA3052AD6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Q&amp;A</a:t>
            </a:r>
            <a:endParaRPr b="0" lang="en-GB" sz="2400" spc="-1" strike="noStrike">
              <a:solidFill>
                <a:srgbClr val="000000"/>
              </a:solidFill>
              <a:latin typeface="Arial"/>
            </a:endParaRPr>
          </a:p>
        </p:txBody>
      </p:sp>
      <p:sp>
        <p:nvSpPr>
          <p:cNvPr id="77" name="Google Shape;130;p 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Do you think this is an issue that needs to be addressed? If yes, why? </a:t>
            </a:r>
            <a:endParaRPr b="0" lang="en-GB" sz="1800" spc="-1" strike="noStrike">
              <a:solidFill>
                <a:srgbClr val="000000"/>
              </a:solidFill>
              <a:latin typeface="Arial"/>
            </a:endParaRPr>
          </a:p>
        </p:txBody>
      </p:sp>
      <p:sp>
        <p:nvSpPr>
          <p:cNvPr id="78" name="Google Shape;131;p 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Yes, this is an issue that has to be addressed as it involves the culture and the reputation of the company as a whole and not any individual in particular.</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 issue has to addressed to the employee in question, Ram, who is to be made aware of the effects of his bold styling choice.</a:t>
            </a:r>
            <a:endParaRPr b="0" lang="en-GB" sz="1400" spc="-1" strike="noStrike">
              <a:solidFill>
                <a:srgbClr val="000000"/>
              </a:solidFill>
              <a:latin typeface="Arial"/>
            </a:endParaRPr>
          </a:p>
        </p:txBody>
      </p:sp>
      <p:sp>
        <p:nvSpPr>
          <p:cNvPr id="79" name="PlaceHolder 2"/>
          <p:cNvSpPr>
            <a:spLocks noGrp="1"/>
          </p:cNvSpPr>
          <p:nvPr>
            <p:ph type="sldNum" idx="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9BFF060-74E7-4994-BF36-FCEC4195883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Q&amp;A</a:t>
            </a:r>
            <a:endParaRPr b="0" lang="en-GB" sz="2400" spc="-1" strike="noStrike">
              <a:solidFill>
                <a:srgbClr val="000000"/>
              </a:solidFill>
              <a:latin typeface="Arial"/>
            </a:endParaRPr>
          </a:p>
        </p:txBody>
      </p:sp>
      <p:sp>
        <p:nvSpPr>
          <p:cNvPr id="81" name="Google Shape;130;p 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What is the action plan you would propose? </a:t>
            </a:r>
            <a:endParaRPr b="0" lang="en-GB" sz="1800" spc="-1" strike="noStrike">
              <a:solidFill>
                <a:srgbClr val="000000"/>
              </a:solidFill>
              <a:latin typeface="Arial"/>
            </a:endParaRPr>
          </a:p>
        </p:txBody>
      </p:sp>
      <p:sp>
        <p:nvSpPr>
          <p:cNvPr id="82" name="Google Shape;131;p 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The main action plan is for Ram to be notified privately, that his choice of outfits are pushing the boundaries of the company’s freedom, given to the employees.</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By this way, Ram will not be publicly pointed out, and allows Ram to freely respond to the concerns of his peers. This is one such way to have an effective communication among peers, and helps build a good rapport between the HR team and the employee. </a:t>
            </a:r>
            <a:endParaRPr b="0" lang="en-GB" sz="1400" spc="-1" strike="noStrike">
              <a:solidFill>
                <a:srgbClr val="000000"/>
              </a:solidFill>
              <a:latin typeface="Arial"/>
            </a:endParaRPr>
          </a:p>
        </p:txBody>
      </p:sp>
      <p:sp>
        <p:nvSpPr>
          <p:cNvPr id="83" name="PlaceHolder 2"/>
          <p:cNvSpPr>
            <a:spLocks noGrp="1"/>
          </p:cNvSpPr>
          <p:nvPr>
            <p:ph type="sldNum" idx="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01174AFF-BA89-48E4-AB17-E0F66E4682C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ubTitle"/>
          </p:nvPr>
        </p:nvSpPr>
        <p:spPr>
          <a:xfrm>
            <a:off x="2165400" y="2305440"/>
            <a:ext cx="5270760" cy="31968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2025-04-11T13:48:57Z</dcterms:created>
  <dc:creator/>
  <dc:description/>
  <dc:language>en-GB</dc:language>
  <cp:lastModifiedBy/>
  <dcterms:modified xsi:type="dcterms:W3CDTF">2025-04-11T14:15:21Z</dcterms:modified>
  <cp:revision>7</cp:revision>
  <dc:subject/>
  <dc:title>Relevantz</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